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9"/>
  </p:normalViewPr>
  <p:slideViewPr>
    <p:cSldViewPr snapToGrid="0" snapToObjects="1">
      <p:cViewPr varScale="1">
        <p:scale>
          <a:sx n="149" d="100"/>
          <a:sy n="149" d="100"/>
        </p:scale>
        <p:origin x="4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67665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00" b="1" i="0">
                <a:solidFill>
                  <a:srgbClr val="FFFFFF"/>
                </a:solidFill>
                <a:latin typeface="Calibri"/>
              </a:rPr>
              <a:t>МОСКОВСКИЙ АВИАЦИОННЫЙ ИНСТИТУТ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CFE3E1"/>
                </a:solidFill>
                <a:latin typeface="Calibri"/>
              </a:rPr>
              <a:t>(национальный исследовательский университет)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CFE3E1"/>
                </a:solidFill>
                <a:latin typeface="Calibri"/>
              </a:rPr>
              <a:t>Институт № 8 «Информационные технологии и прикладная математика»  ·  Кафедра 806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00" b="1" i="0">
                <a:solidFill>
                  <a:srgbClr val="F08A24"/>
                </a:solidFill>
                <a:latin typeface="Calibri"/>
              </a:rPr>
              <a:t>ВЫПУСКНАЯ КВАЛИФИКАЦИОННАЯ РАБОТА МАГИСТРА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505456"/>
            <a:ext cx="9079992" cy="1627632"/>
          </a:xfrm>
          <a:prstGeom prst="roundRect">
            <a:avLst>
              <a:gd name="adj" fmla="val 6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54480" y="2505456"/>
            <a:ext cx="109728" cy="1627632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2615184"/>
            <a:ext cx="8321040" cy="1426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800" b="1" i="0">
                <a:solidFill>
                  <a:srgbClr val="FFFFFF"/>
                </a:solidFill>
                <a:latin typeface="Trebuchet MS"/>
              </a:rPr>
              <a:t>Система автоматизированного обогащения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800" b="1" i="0">
                <a:solidFill>
                  <a:srgbClr val="FFFFFF"/>
                </a:solidFill>
                <a:latin typeface="Trebuchet MS"/>
              </a:rPr>
              <a:t>товарных данных для интернет-магазина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15968"/>
            <a:ext cx="8531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00" b="0" i="0">
                <a:solidFill>
                  <a:srgbClr val="CFE3E1"/>
                </a:solidFill>
                <a:latin typeface="Calibri"/>
              </a:rPr>
              <a:t>Гибридный каскад  </a:t>
            </a:r>
            <a:r>
              <a:rPr lang="ru-RU" sz="1300" b="1" i="0">
                <a:solidFill>
                  <a:srgbClr val="1FA39A"/>
                </a:solidFill>
                <a:latin typeface="Calibri"/>
              </a:rPr>
              <a:t>Regex → ML → Байес-валидатор → LLM-fallback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882896"/>
            <a:ext cx="3611880" cy="1243584"/>
          </a:xfrm>
          <a:prstGeom prst="roundRect">
            <a:avLst>
              <a:gd name="adj" fmla="val 9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42032" y="5029200"/>
            <a:ext cx="3200400" cy="673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50" b="1" i="0" dirty="0">
                <a:solidFill>
                  <a:srgbClr val="1FA39A"/>
                </a:solidFill>
                <a:latin typeface="Calibri"/>
              </a:rPr>
              <a:t>СТУДЕНТ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</a:pPr>
            <a:r>
              <a:rPr lang="ru-RU" sz="1300" b="1" i="0" dirty="0">
                <a:solidFill>
                  <a:srgbClr val="FFFFFF"/>
                </a:solidFill>
                <a:latin typeface="Calibri"/>
              </a:rPr>
              <a:t>Фролов Михаил Александрович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 dirty="0">
                <a:solidFill>
                  <a:srgbClr val="CFE3E1"/>
                </a:solidFill>
                <a:latin typeface="Calibri"/>
              </a:rPr>
              <a:t>Группа М8О-206СВ-24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882896"/>
            <a:ext cx="3611880" cy="1243584"/>
          </a:xfrm>
          <a:prstGeom prst="roundRect">
            <a:avLst>
              <a:gd name="adj" fmla="val 9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5029200"/>
            <a:ext cx="3200400" cy="673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50" b="1" i="0" dirty="0">
                <a:solidFill>
                  <a:srgbClr val="1FA39A"/>
                </a:solidFill>
                <a:latin typeface="Calibri"/>
              </a:rPr>
              <a:t>НАУЧНЫЙ РУКОВОДИТЕЛЬ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</a:pPr>
            <a:r>
              <a:rPr lang="ru-RU" sz="1300" b="1" i="0" dirty="0">
                <a:solidFill>
                  <a:srgbClr val="FFFFFF"/>
                </a:solidFill>
                <a:latin typeface="Calibri"/>
              </a:rPr>
              <a:t>Судаков Владимир Анатольевич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>
                <a:solidFill>
                  <a:srgbClr val="CFE3E1"/>
                </a:solidFill>
                <a:latin typeface="Calibri"/>
              </a:rPr>
              <a:t>д</a:t>
            </a:r>
            <a:r>
              <a:rPr lang="ru-RU" sz="1100" b="0" i="0">
                <a:solidFill>
                  <a:srgbClr val="CFE3E1"/>
                </a:solidFill>
                <a:latin typeface="Calibri"/>
              </a:rPr>
              <a:t>.м</a:t>
            </a:r>
            <a:r>
              <a:rPr lang="ru-RU" sz="1100" b="0" i="0" dirty="0">
                <a:solidFill>
                  <a:srgbClr val="CFE3E1"/>
                </a:solidFill>
                <a:latin typeface="Calibri"/>
              </a:rPr>
              <a:t>.н., доцент кафедры 806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72784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00" b="1" i="0">
                <a:solidFill>
                  <a:srgbClr val="CFE3E1"/>
                </a:solidFill>
                <a:latin typeface="Calibri"/>
              </a:rPr>
              <a:t>Москва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КОНТЕКСТ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Актуальность 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50" b="0" i="0">
                <a:solidFill>
                  <a:srgbClr val="1B2A41"/>
                </a:solidFill>
                <a:latin typeface="Calibri"/>
              </a:rPr>
              <a:t>Карточка товара — центр цифровой витрины: от её полноты зависят поиск,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50" b="0" i="0">
                <a:solidFill>
                  <a:srgbClr val="1B2A41"/>
                </a:solidFill>
                <a:latin typeface="Calibri"/>
              </a:rPr>
              <a:t>ранжирование и конверсия. Партнёрский ввод неоднороден, пробелы исторически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50" b="0" i="0">
                <a:solidFill>
                  <a:srgbClr val="1B2A41"/>
                </a:solidFill>
                <a:latin typeface="Calibri"/>
              </a:rPr>
              <a:t>закрывают контент-менеджеры вручную — и этот подход не масштабируется.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91440" cy="1371600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7632" y="2432304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600" b="1" i="0">
                <a:solidFill>
                  <a:srgbClr val="1FA39A"/>
                </a:solidFill>
                <a:latin typeface="Trebuchet MS"/>
              </a:rPr>
              <a:t>11+ трлн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926080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5C6B7A"/>
                </a:solidFill>
                <a:latin typeface="Calibri"/>
              </a:rPr>
              <a:t>годовой объём e-commerce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5C6B7A"/>
                </a:solidFill>
                <a:latin typeface="Calibri"/>
              </a:rPr>
              <a:t>в России (2024–2025)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73752" y="2286000"/>
            <a:ext cx="91440" cy="13716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9784" y="2432304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600" b="1" i="0">
                <a:solidFill>
                  <a:srgbClr val="F08A24"/>
                </a:solidFill>
                <a:latin typeface="Trebuchet MS"/>
              </a:rPr>
              <a:t>3–7 мин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926080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5C6B7A"/>
                </a:solidFill>
                <a:latin typeface="Calibri"/>
              </a:rPr>
              <a:t>ручной труд оператора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5C6B7A"/>
                </a:solidFill>
                <a:latin typeface="Calibri"/>
              </a:rPr>
              <a:t>на одну карточку товара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2860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75904" y="2286000"/>
            <a:ext cx="91440" cy="13716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1936" y="2432304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600" b="1" i="0">
                <a:solidFill>
                  <a:srgbClr val="3A6EA5"/>
                </a:solidFill>
                <a:latin typeface="Trebuchet MS"/>
              </a:rPr>
              <a:t>10⁷ позиций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926080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5C6B7A"/>
                </a:solidFill>
                <a:latin typeface="Calibri"/>
              </a:rPr>
              <a:t>каталоги крупных магазинов;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5C6B7A"/>
                </a:solidFill>
                <a:latin typeface="Calibri"/>
              </a:rPr>
              <a:t>тысячи новинок ежедневно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95344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91640" y="4041648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00" b="1" i="0">
                <a:solidFill>
                  <a:srgbClr val="1FA39A"/>
                </a:solidFill>
                <a:latin typeface="Calibri"/>
              </a:rPr>
              <a:t>Почему существующие PIM-системы не решают задачу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43984"/>
            <a:ext cx="8869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300" b="1" i="0">
                <a:solidFill>
                  <a:srgbClr val="F08A24"/>
                </a:solidFill>
                <a:latin typeface="Calibri"/>
              </a:rPr>
              <a:t>•  </a:t>
            </a:r>
            <a:r>
              <a:rPr lang="ru-RU" sz="1300" b="1" i="0">
                <a:solidFill>
                  <a:srgbClr val="FFFFFF"/>
                </a:solidFill>
                <a:latin typeface="Calibri"/>
              </a:rPr>
              <a:t>Akeneo, Pimcore, Salsify </a:t>
            </a:r>
            <a:r>
              <a:rPr lang="ru-RU" sz="1300" b="0" i="0">
                <a:solidFill>
                  <a:srgbClr val="CFE3E1"/>
                </a:solidFill>
                <a:latin typeface="Calibri"/>
              </a:rPr>
              <a:t>спроектированы хранить уже готовую товарную информацию,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lang="ru-RU" sz="1300" b="0" i="0">
                <a:solidFill>
                  <a:srgbClr val="CFE3E1"/>
                </a:solidFill>
                <a:latin typeface="Calibri"/>
              </a:rPr>
              <a:t>    но не извлекать её из неструктурированного партнёрского ввода;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300" b="1" i="0">
                <a:solidFill>
                  <a:srgbClr val="F08A24"/>
                </a:solidFill>
                <a:latin typeface="Calibri"/>
              </a:rPr>
              <a:t>•  </a:t>
            </a:r>
            <a:r>
              <a:rPr lang="ru-RU" sz="1300" b="1" i="0">
                <a:solidFill>
                  <a:srgbClr val="FFFFFF"/>
                </a:solidFill>
                <a:latin typeface="Calibri"/>
              </a:rPr>
              <a:t>модули автообогащения </a:t>
            </a:r>
            <a:r>
              <a:rPr lang="ru-RU" sz="1300" b="0" i="0">
                <a:solidFill>
                  <a:srgbClr val="CFE3E1"/>
                </a:solidFill>
                <a:latin typeface="Calibri"/>
              </a:rPr>
              <a:t>— обёртка над одной LLM на каждый товар: дорого и без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00" b="0" i="0">
                <a:solidFill>
                  <a:srgbClr val="CFE3E1"/>
                </a:solidFill>
                <a:latin typeface="Calibri"/>
              </a:rPr>
              <a:t>    гарантий фактической корректности, особенно на числовых полях.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ПРОТИВОРЕЧИЕ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Научная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50" b="0" i="0">
                <a:solidFill>
                  <a:srgbClr val="1B2A41"/>
                </a:solidFill>
                <a:latin typeface="Calibri"/>
              </a:rPr>
              <a:t>Ни одна </a:t>
            </a:r>
            <a:r>
              <a:rPr lang="ru-RU" sz="1450" b="1" i="0">
                <a:solidFill>
                  <a:srgbClr val="1B2A41"/>
                </a:solidFill>
                <a:latin typeface="Calibri"/>
              </a:rPr>
              <a:t>изолированная технология</a:t>
            </a:r>
            <a:r>
              <a:rPr lang="ru-RU" sz="1450" b="0" i="0">
                <a:solidFill>
                  <a:srgbClr val="1B2A41"/>
                </a:solidFill>
                <a:latin typeface="Calibri"/>
              </a:rPr>
              <a:t> не покрывает все типы атрибутов с приемлемой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50" b="0" i="0">
                <a:solidFill>
                  <a:srgbClr val="1B2A41"/>
                </a:solidFill>
                <a:latin typeface="Calibri"/>
              </a:rPr>
              <a:t>точностью и стоимостью одновременно: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66543"/>
            <a:ext cx="3246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71600" y="2066543"/>
            <a:ext cx="3246120" cy="457200"/>
          </a:xfrm>
          <a:prstGeom prst="roundRect">
            <a:avLst>
              <a:gd name="adj" fmla="val 13000"/>
            </a:avLst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2286000"/>
            <a:ext cx="3246120" cy="237744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1" i="0">
                <a:solidFill>
                  <a:srgbClr val="FFFFFF"/>
                </a:solidFill>
                <a:latin typeface="Trebuchet MS"/>
              </a:rPr>
              <a:t>Правила (Regex)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670048"/>
            <a:ext cx="2770632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70" b="0" i="0">
                <a:solidFill>
                  <a:srgbClr val="5C6B7A"/>
                </a:solidFill>
                <a:latin typeface="Calibri"/>
              </a:rPr>
              <a:t>Надёжны и бесплатны на числовых и словарных полях, но почти не покрывают семантически нагруженные атрибуты.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3752" y="2066543"/>
            <a:ext cx="3246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73752" y="2066543"/>
            <a:ext cx="3246120" cy="457200"/>
          </a:xfrm>
          <a:prstGeom prst="roundRect">
            <a:avLst>
              <a:gd name="adj" fmla="val 13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73752" y="2286000"/>
            <a:ext cx="3246120" cy="237744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3752" y="2103120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1" i="0">
                <a:solidFill>
                  <a:srgbClr val="FFFFFF"/>
                </a:solidFill>
                <a:latin typeface="Trebuchet MS"/>
              </a:rPr>
              <a:t>Классическое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670048"/>
            <a:ext cx="2770632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70" b="0" i="0">
                <a:solidFill>
                  <a:srgbClr val="5C6B7A"/>
                </a:solidFill>
                <a:latin typeface="Calibri"/>
              </a:rPr>
              <a:t>Высокая предсказательная сила, но требует значительной размеченной обучающей выборки по каждому атрибуту.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2066543"/>
            <a:ext cx="3246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75904" y="2066543"/>
            <a:ext cx="3246120" cy="457200"/>
          </a:xfrm>
          <a:prstGeom prst="roundRect">
            <a:avLst>
              <a:gd name="adj" fmla="val 13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75904" y="2286000"/>
            <a:ext cx="3246120" cy="23774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75904" y="2103120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1" i="0">
                <a:solidFill>
                  <a:srgbClr val="FFFFFF"/>
                </a:solidFill>
                <a:latin typeface="Trebuchet MS"/>
              </a:rPr>
              <a:t>Большие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670048"/>
            <a:ext cx="2770632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70" b="0" i="0">
                <a:solidFill>
                  <a:srgbClr val="5C6B7A"/>
                </a:solidFill>
                <a:latin typeface="Calibri"/>
              </a:rPr>
              <a:t>Универсальны, но дороги при вызове на каждое поле и подвержены фактическим ошибкам — особенно на числах.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443984"/>
            <a:ext cx="9445752" cy="1298448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91640" y="4590288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500" b="1" i="0">
                <a:solidFill>
                  <a:srgbClr val="1FA39A"/>
                </a:solidFill>
                <a:latin typeface="Trebuchet MS"/>
              </a:rPr>
              <a:t>Решение — гибридная каскадная архитектура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992624"/>
            <a:ext cx="9006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0" i="0">
                <a:solidFill>
                  <a:srgbClr val="CFE3E1"/>
                </a:solidFill>
                <a:latin typeface="Calibri"/>
              </a:rPr>
              <a:t>Композиция последовательных слоёв, где каждый следующий слой подключается только к остатку, 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0" i="0">
                <a:solidFill>
                  <a:srgbClr val="CFE3E1"/>
                </a:solidFill>
                <a:latin typeface="Calibri"/>
              </a:rPr>
              <a:t>не закрытому предыдущими с заданной уверенностью — семантика LLM при стоимости классических методов.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Цель и задачи работы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35024"/>
            <a:ext cx="9445752" cy="1078992"/>
          </a:xfrm>
          <a:prstGeom prst="roundRect">
            <a:avLst>
              <a:gd name="adj" fmla="val 7000"/>
            </a:avLst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1444752"/>
            <a:ext cx="9006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1" i="0">
                <a:solidFill>
                  <a:srgbClr val="FFFFFF"/>
                </a:solidFill>
                <a:latin typeface="Calibri"/>
              </a:rPr>
              <a:t>ЦЕЛЬ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55648"/>
            <a:ext cx="90068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80" b="0" i="0">
                <a:solidFill>
                  <a:srgbClr val="FFFFFF"/>
                </a:solidFill>
                <a:latin typeface="Calibri"/>
              </a:rPr>
              <a:t>Разработать гибридную каскадную систему обогащения товарных данных с высокой точностью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80" b="0" i="0">
                <a:solidFill>
                  <a:srgbClr val="FFFFFF"/>
                </a:solidFill>
                <a:latin typeface="Calibri"/>
              </a:rPr>
              <a:t>извлечения атрибутов, сокращённой стоимостью обращения к LLM и поддержкой открытых моделей.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615184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17904" y="2734056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FA39A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2679191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70" b="1" i="0">
                <a:solidFill>
                  <a:srgbClr val="1B2A41"/>
                </a:solidFill>
                <a:latin typeface="Calibri"/>
              </a:rPr>
              <a:t>Спроектировать архитектуру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79191"/>
            <a:ext cx="565099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20" b="0" i="0">
                <a:solidFill>
                  <a:srgbClr val="5C6B7A"/>
                </a:solidFill>
                <a:latin typeface="Calibri"/>
              </a:rPr>
              <a:t>Гибридный каскад с многоуровневой фильтрацией по уверенности и явным разделением слоёв.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328415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17904" y="3447287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FA39A"/>
                </a:solidFill>
                <a:latin typeface="Trebuchet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3392423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70" b="1" i="0">
                <a:solidFill>
                  <a:srgbClr val="1B2A41"/>
                </a:solidFill>
                <a:latin typeface="Calibri"/>
              </a:rPr>
              <a:t>Реализовать слои каскада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92423"/>
            <a:ext cx="565099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20" b="0" i="0">
                <a:solidFill>
                  <a:srgbClr val="5C6B7A"/>
                </a:solidFill>
                <a:latin typeface="Calibri"/>
              </a:rPr>
              <a:t>Regex-экстрактор, ML-классификатор на эмбеддингах, байесовский валидатор, LLM-fallback.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041648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17904" y="4160520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FA39A"/>
                </a:solidFill>
                <a:latin typeface="Trebuchet M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4105656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70" b="1" i="0">
                <a:solidFill>
                  <a:srgbClr val="1B2A41"/>
                </a:solidFill>
                <a:latin typeface="Calibri"/>
              </a:rPr>
              <a:t>Построить эталонную выборку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05656"/>
            <a:ext cx="565099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20" b="0" i="0">
                <a:solidFill>
                  <a:srgbClr val="5C6B7A"/>
                </a:solidFill>
                <a:latin typeface="Calibri"/>
              </a:rPr>
              <a:t>Brand-disjoint разметка 3 категорий: слабый надзор OFF, согласие LLM, слепая ре-разметка.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754880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517904" y="4873752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FA39A"/>
                </a:solidFill>
                <a:latin typeface="Trebuchet M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9696" y="4818888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70" b="1" i="0">
                <a:solidFill>
                  <a:srgbClr val="1B2A41"/>
                </a:solidFill>
                <a:latin typeface="Calibri"/>
              </a:rPr>
              <a:t>Провести оценку качества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818888"/>
            <a:ext cx="565099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20" b="0" i="0">
                <a:solidFill>
                  <a:srgbClr val="5C6B7A"/>
                </a:solidFill>
                <a:latin typeface="Calibri"/>
              </a:rPr>
              <a:t>Точность, покрытие и стоимость; сравнение с прямым вызовом LLM; вклад каждого слоя.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468112"/>
            <a:ext cx="9445752" cy="640080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 w="9525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517904" y="5586984"/>
            <a:ext cx="402336" cy="402336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FA39A"/>
                </a:solidFill>
                <a:latin typeface="Trebuchet M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9696" y="5532120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70" b="1" i="0">
                <a:solidFill>
                  <a:srgbClr val="1B2A41"/>
                </a:solidFill>
                <a:latin typeface="Calibri"/>
              </a:rPr>
              <a:t>Создать демонстрационный комплекс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532120"/>
            <a:ext cx="565099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20" b="0" i="0">
                <a:solidFill>
                  <a:srgbClr val="5C6B7A"/>
                </a:solidFill>
                <a:latin typeface="Calibri"/>
              </a:rPr>
              <a:t>Веб-интерфейс оператора и API; три сценария развёртывания Layer 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АНАЛОГИ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Анализ существующих решений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Существующие подходы либо не извлекают атрибуты, либо делают это дорого и без контроля качества.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65376"/>
            <a:ext cx="2331720" cy="47548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9616" y="1865376"/>
            <a:ext cx="207568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FA39A"/>
                </a:solidFill>
                <a:latin typeface="Calibri"/>
              </a:rPr>
              <a:t>РЕШЕНИЕ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865376"/>
            <a:ext cx="3611880" cy="47548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31335" y="1865376"/>
            <a:ext cx="335584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FA39A"/>
                </a:solidFill>
                <a:latin typeface="Calibri"/>
              </a:rPr>
              <a:t>ПОДХОД К ОБОГАЩЕНИЮ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65376"/>
            <a:ext cx="3520440" cy="47548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43216" y="1865376"/>
            <a:ext cx="326440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FA39A"/>
                </a:solidFill>
                <a:latin typeface="Calibri"/>
              </a:rPr>
              <a:t>ОГРАНИЧЕНИЕ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340864"/>
            <a:ext cx="23317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0" y="2340864"/>
            <a:ext cx="73152" cy="76809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768" y="2340864"/>
            <a:ext cx="202082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30" b="1" i="0">
                <a:solidFill>
                  <a:srgbClr val="1B2A41"/>
                </a:solidFill>
                <a:latin typeface="Calibri"/>
              </a:rPr>
              <a:t>Akeneo / Pimcore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340864"/>
            <a:ext cx="36118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9624" y="2340864"/>
            <a:ext cx="333756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0" i="0">
                <a:solidFill>
                  <a:srgbClr val="5C6B7A"/>
                </a:solidFill>
                <a:latin typeface="Calibri"/>
              </a:rPr>
              <a:t>Хранилище и редактор готовой товарной информации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340864"/>
            <a:ext cx="352044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1504" y="2340864"/>
            <a:ext cx="32461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0" i="0">
                <a:solidFill>
                  <a:srgbClr val="5C6B7A"/>
                </a:solidFill>
                <a:latin typeface="Calibri"/>
              </a:rPr>
              <a:t>Извлечение атрибутов из сырого ввода не решается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108960"/>
            <a:ext cx="233172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71600" y="3108960"/>
            <a:ext cx="73152" cy="76809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72768" y="3108960"/>
            <a:ext cx="202082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30" b="1" i="0">
                <a:solidFill>
                  <a:srgbClr val="1B2A41"/>
                </a:solidFill>
                <a:latin typeface="Calibri"/>
              </a:rPr>
              <a:t>Salsify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3108960"/>
            <a:ext cx="361188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9624" y="3108960"/>
            <a:ext cx="333756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0" i="0">
                <a:solidFill>
                  <a:srgbClr val="5C6B7A"/>
                </a:solidFill>
                <a:latin typeface="Calibri"/>
              </a:rPr>
              <a:t>PIM с синдикацией и обменом данными с партнёрами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108960"/>
            <a:ext cx="352044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1504" y="3108960"/>
            <a:ext cx="32461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0" i="0">
                <a:solidFill>
                  <a:srgbClr val="5C6B7A"/>
                </a:solidFill>
                <a:latin typeface="Calibri"/>
              </a:rPr>
              <a:t>Автообогащение — внешний модуль поверх одной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877056"/>
            <a:ext cx="233172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71600" y="3877056"/>
            <a:ext cx="73152" cy="768096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72768" y="3877056"/>
            <a:ext cx="202082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30" b="1" i="0">
                <a:solidFill>
                  <a:srgbClr val="1B2A41"/>
                </a:solidFill>
                <a:latin typeface="Calibri"/>
              </a:rPr>
              <a:t>Прямой вызов LLM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3877056"/>
            <a:ext cx="36118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9624" y="3877056"/>
            <a:ext cx="333756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0" i="0">
                <a:solidFill>
                  <a:srgbClr val="5C6B7A"/>
                </a:solidFill>
                <a:latin typeface="Calibri"/>
              </a:rPr>
              <a:t>Одна публичная LLM вызывается на каждое поле товара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877056"/>
            <a:ext cx="352044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61504" y="3877056"/>
            <a:ext cx="32461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0" i="0">
                <a:solidFill>
                  <a:srgbClr val="5C6B7A"/>
                </a:solidFill>
                <a:latin typeface="Calibri"/>
              </a:rPr>
              <a:t>Дорого на больших каталогах; ошибки на числах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645152"/>
            <a:ext cx="233172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371600" y="4645152"/>
            <a:ext cx="73152" cy="768096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72768" y="4645152"/>
            <a:ext cx="2020824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30" b="1" i="0">
                <a:solidFill>
                  <a:srgbClr val="1B2A41"/>
                </a:solidFill>
                <a:latin typeface="Calibri"/>
              </a:rPr>
              <a:t>Каскад (работа)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4645152"/>
            <a:ext cx="361188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9624" y="4645152"/>
            <a:ext cx="333756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1B2A41"/>
                </a:solidFill>
                <a:latin typeface="Calibri"/>
              </a:rPr>
              <a:t>Regex → ML → Байес-валидатор → LLM только на остаток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645152"/>
            <a:ext cx="3520440" cy="76809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61504" y="4645152"/>
            <a:ext cx="32461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1B2A41"/>
                </a:solidFill>
                <a:latin typeface="Calibri"/>
              </a:rPr>
              <a:t>Точность 91.5 % при доле LLM-вызовов 8.6 %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РЕШЕНИЕ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Архитектура гибридного каскада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00" b="0" i="0">
                <a:solidFill>
                  <a:srgbClr val="1B2A41"/>
                </a:solidFill>
                <a:latin typeface="Calibri"/>
              </a:rPr>
              <a:t>Товар проходит слои в порядке возрастания стоимости; следующий слой получает только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00" b="0" i="0">
                <a:solidFill>
                  <a:srgbClr val="1B2A41"/>
                </a:solidFill>
                <a:latin typeface="Calibri"/>
              </a:rPr>
              <a:t>те ячейки, которые предыдущий не закрыл с уверенностью выше калиброванного порога.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71600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2450591"/>
            <a:ext cx="1852574" cy="347472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157984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700" b="1" i="0">
                <a:solidFill>
                  <a:srgbClr val="FFFFFF"/>
                </a:solidFill>
                <a:latin typeface="Trebuchet MS"/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79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FFFFFF"/>
                </a:solidFill>
                <a:latin typeface="Calibri"/>
              </a:rPr>
              <a:t>Категорайзер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926079"/>
            <a:ext cx="163311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XGBoost на SBERT-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эмбеддингах + OOD-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детектор</a:t>
            </a:r>
          </a:p>
        </p:txBody>
      </p:sp>
      <p:sp>
        <p:nvSpPr>
          <p:cNvPr id="13" name="Chevron 12"/>
          <p:cNvSpPr/>
          <p:nvPr/>
        </p:nvSpPr>
        <p:spPr>
          <a:xfrm>
            <a:off x="3187598" y="3104387"/>
            <a:ext cx="256032" cy="292608"/>
          </a:xfrm>
          <a:prstGeom prst="chevron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07054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07054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07054" y="2450591"/>
            <a:ext cx="1852574" cy="347472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07054" y="2157984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700" b="1" i="0">
                <a:solidFill>
                  <a:srgbClr val="FFFFFF"/>
                </a:solidFill>
                <a:latin typeface="Trebuchet MS"/>
              </a:rP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7054" y="2468879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FFFFFF"/>
                </a:solidFill>
                <a:latin typeface="Calibri"/>
              </a:rPr>
              <a:t>Regex-экстрактор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6782" y="2926079"/>
            <a:ext cx="163311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Детермини­рованные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грамматики словарных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полей</a:t>
            </a:r>
          </a:p>
        </p:txBody>
      </p:sp>
      <p:sp>
        <p:nvSpPr>
          <p:cNvPr id="20" name="Chevron 19"/>
          <p:cNvSpPr/>
          <p:nvPr/>
        </p:nvSpPr>
        <p:spPr>
          <a:xfrm>
            <a:off x="5223052" y="3104387"/>
            <a:ext cx="256032" cy="292608"/>
          </a:xfrm>
          <a:prstGeom prst="chevron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42508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42508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42508" y="2450591"/>
            <a:ext cx="1852574" cy="3474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42508" y="2157984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700" b="1" i="0">
                <a:solidFill>
                  <a:srgbClr val="FFFFFF"/>
                </a:solidFill>
                <a:latin typeface="Trebuchet MS"/>
              </a:rPr>
              <a:t>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2508" y="2468879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FFFFFF"/>
                </a:solidFill>
                <a:latin typeface="Calibri"/>
              </a:rPr>
              <a:t>ML-классификатор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2236" y="2926079"/>
            <a:ext cx="163311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XGBoost на много­языч­ных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векторных пред­ставле­ниях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полей товара</a:t>
            </a:r>
          </a:p>
        </p:txBody>
      </p:sp>
      <p:sp>
        <p:nvSpPr>
          <p:cNvPr id="27" name="Chevron 26"/>
          <p:cNvSpPr/>
          <p:nvPr/>
        </p:nvSpPr>
        <p:spPr>
          <a:xfrm>
            <a:off x="7258507" y="3104387"/>
            <a:ext cx="256032" cy="292608"/>
          </a:xfrm>
          <a:prstGeom prst="chevron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77963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477963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77963" y="2450591"/>
            <a:ext cx="1852574" cy="34747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77963" y="2157984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700" b="1" i="0">
                <a:solidFill>
                  <a:srgbClr val="FFFFFF"/>
                </a:solidFill>
                <a:latin typeface="Trebuchet MS"/>
              </a:rP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7963" y="2468879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FFFFFF"/>
                </a:solidFill>
                <a:latin typeface="Calibri"/>
              </a:rPr>
              <a:t>Байес-валидатор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7691" y="2926079"/>
            <a:ext cx="163311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Сеть плотностей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атрибутов отбраковы­вает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невероятные значения</a:t>
            </a:r>
          </a:p>
        </p:txBody>
      </p:sp>
      <p:sp>
        <p:nvSpPr>
          <p:cNvPr id="34" name="Chevron 33"/>
          <p:cNvSpPr/>
          <p:nvPr/>
        </p:nvSpPr>
        <p:spPr>
          <a:xfrm>
            <a:off x="9293961" y="3104387"/>
            <a:ext cx="256032" cy="292608"/>
          </a:xfrm>
          <a:prstGeom prst="chevron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13417" y="2084831"/>
            <a:ext cx="1852574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513417" y="2084831"/>
            <a:ext cx="1852574" cy="713232"/>
          </a:xfrm>
          <a:prstGeom prst="roundRect">
            <a:avLst>
              <a:gd name="adj" fmla="val 16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13417" y="2450591"/>
            <a:ext cx="1852574" cy="347472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13417" y="2157984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700" b="1" i="0">
                <a:solidFill>
                  <a:srgbClr val="FFFFFF"/>
                </a:solidFill>
                <a:latin typeface="Trebuchet MS"/>
              </a:rPr>
              <a:t>L4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3417" y="2468879"/>
            <a:ext cx="185257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FFFFFF"/>
                </a:solidFill>
                <a:latin typeface="Calibri"/>
              </a:rPr>
              <a:t>LLM-fallback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3145" y="2926079"/>
            <a:ext cx="163311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Запасной слой: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коммерческая, бюджетная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80" b="0" i="0">
                <a:solidFill>
                  <a:srgbClr val="5C6B7A"/>
                </a:solidFill>
                <a:latin typeface="Calibri"/>
              </a:rPr>
              <a:t>или открытая модель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4663440"/>
            <a:ext cx="4901184" cy="1060704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371600" y="4663440"/>
            <a:ext cx="91440" cy="1060704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27632" y="4809744"/>
            <a:ext cx="45262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20" b="1" i="0">
                <a:solidFill>
                  <a:srgbClr val="1B2A41"/>
                </a:solidFill>
                <a:latin typeface="Calibri"/>
              </a:rPr>
              <a:t>Конъюнктивное условие на пороги</a:t>
            </a: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400"/>
              </a:spcAft>
            </a:pPr>
            <a:r>
              <a:rPr lang="ru-RU" sz="1060" b="0" i="0">
                <a:solidFill>
                  <a:srgbClr val="5C6B7A"/>
                </a:solidFill>
                <a:latin typeface="Calibri"/>
              </a:rPr>
              <a:t>Уверенность каждого слоя калибруется изотонической регрессией; пороги — поатрибутные.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37376" y="4663440"/>
            <a:ext cx="4379976" cy="1060704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93408" y="47548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CFE3E1"/>
                </a:solidFill>
                <a:latin typeface="Calibri"/>
              </a:rPr>
              <a:t>LLM вызывается лишь на </a:t>
            </a:r>
            <a:r>
              <a:rPr lang="ru-RU" sz="1700" b="1" i="0">
                <a:solidFill>
                  <a:srgbClr val="F08A24"/>
                </a:solidFill>
                <a:latin typeface="Trebuchet MS"/>
              </a:rPr>
              <a:t>8.6 %</a:t>
            </a:r>
            <a:r>
              <a:rPr lang="ru-RU" sz="1150" b="0" i="0">
                <a:solidFill>
                  <a:srgbClr val="CFE3E1"/>
                </a:solidFill>
                <a:latin typeface="Calibri"/>
              </a:rPr>
              <a:t> ячеек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517550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60" b="0" i="0">
                <a:solidFill>
                  <a:srgbClr val="CFE3E1"/>
                </a:solidFill>
                <a:latin typeface="Calibri"/>
              </a:rPr>
              <a:t>остальное закрывают дешёвые локальные слои L0–L3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ЗАДАЧА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Методика экспериментальной оценки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Эталонная разметка построена на открытом каталоге </a:t>
            </a:r>
            <a:r>
              <a:rPr lang="ru-RU" sz="1350" b="1" i="0">
                <a:solidFill>
                  <a:srgbClr val="1B2A41"/>
                </a:solidFill>
                <a:latin typeface="Calibri"/>
              </a:rPr>
              <a:t>Open Food Facts</a:t>
            </a:r>
            <a:r>
              <a:rPr lang="ru-RU" sz="1350" b="0" i="0">
                <a:solidFill>
                  <a:srgbClr val="1B2A41"/>
                </a:solidFill>
                <a:latin typeface="Calibri"/>
              </a:rPr>
              <a:t> для трёх категорий товаров.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Тестовый сплит — </a:t>
            </a:r>
            <a:r>
              <a:rPr lang="ru-RU" sz="1350" b="1" i="0">
                <a:solidFill>
                  <a:srgbClr val="1FA39A"/>
                </a:solidFill>
                <a:latin typeface="Calibri"/>
              </a:rPr>
              <a:t>brand-disjoint</a:t>
            </a:r>
            <a:r>
              <a:rPr lang="ru-RU" sz="1350" b="0" i="0">
                <a:solidFill>
                  <a:srgbClr val="1B2A41"/>
                </a:solidFill>
                <a:latin typeface="Calibri"/>
              </a:rPr>
              <a:t>: ни один бренд тестовой выборки не встречается в обучающей.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FA39A"/>
                </a:solidFill>
                <a:latin typeface="Trebuchet M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798064"/>
            <a:ext cx="206654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B2A41"/>
                </a:solidFill>
                <a:latin typeface="Calibri"/>
              </a:rPr>
              <a:t>категории товаров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69" b="0" i="0">
                <a:solidFill>
                  <a:srgbClr val="5C6B7A"/>
                </a:solidFill>
                <a:latin typeface="Calibri"/>
              </a:rPr>
              <a:t>паста · шоколад · сыры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58183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58183" y="2286000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FA39A"/>
                </a:solidFill>
                <a:latin typeface="Trebuchet MS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1" y="2798064"/>
            <a:ext cx="206654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B2A41"/>
                </a:solidFill>
                <a:latin typeface="Calibri"/>
              </a:rPr>
              <a:t>целевых атрибутов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69" b="0" i="0">
                <a:solidFill>
                  <a:srgbClr val="5C6B7A"/>
                </a:solidFill>
                <a:latin typeface="Calibri"/>
              </a:rPr>
              <a:t>бинарные и категориальные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7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7" y="2286000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FA39A"/>
                </a:solidFill>
                <a:latin typeface="Trebuchet MS"/>
              </a:rPr>
              <a:t>4350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5" y="2798064"/>
            <a:ext cx="206654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B2A41"/>
                </a:solidFill>
                <a:latin typeface="Calibri"/>
              </a:rPr>
              <a:t>тестовых ячеек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69" b="0" i="0">
                <a:solidFill>
                  <a:srgbClr val="5C6B7A"/>
                </a:solidFill>
                <a:latin typeface="Calibri"/>
              </a:rPr>
              <a:t>товар × атрибут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1351" y="2139696"/>
            <a:ext cx="2286000" cy="128016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31351" y="2286000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FA39A"/>
                </a:solidFill>
                <a:latin typeface="Trebuchet MS"/>
              </a:rPr>
              <a:t>95.0 %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79" y="2798064"/>
            <a:ext cx="206654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B2A41"/>
                </a:solidFill>
                <a:latin typeface="Calibri"/>
              </a:rPr>
              <a:t>согласованность слепой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69" b="0" i="0">
                <a:solidFill>
                  <a:srgbClr val="5C6B7A"/>
                </a:solidFill>
                <a:latin typeface="Calibri"/>
              </a:rPr>
              <a:t>ре-разметки Opus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712463"/>
            <a:ext cx="9445752" cy="20116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91640" y="3877056"/>
            <a:ext cx="8869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00" b="1" i="0">
                <a:solidFill>
                  <a:srgbClr val="1FA39A"/>
                </a:solidFill>
                <a:latin typeface="Calibri"/>
              </a:rPr>
              <a:t>Три независимых источника эталона снижают риск утечки</a:t>
            </a:r>
          </a:p>
        </p:txBody>
      </p:sp>
      <p:sp>
        <p:nvSpPr>
          <p:cNvPr id="21" name="Oval 20"/>
          <p:cNvSpPr/>
          <p:nvPr/>
        </p:nvSpPr>
        <p:spPr>
          <a:xfrm>
            <a:off x="1737360" y="4315968"/>
            <a:ext cx="118872" cy="118872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1680" y="4261104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00" b="1" i="0">
                <a:solidFill>
                  <a:srgbClr val="FFFFFF"/>
                </a:solidFill>
                <a:latin typeface="Calibri"/>
              </a:rPr>
              <a:t>Теги каталога OFF.  </a:t>
            </a:r>
            <a:r>
              <a:rPr lang="ru-RU" sz="1130" b="0" i="0">
                <a:solidFill>
                  <a:srgbClr val="CFE3E1"/>
                </a:solidFill>
                <a:latin typeface="Calibri"/>
              </a:rPr>
              <a:t>регуляторные метки и категории — внешний источник, защищённый правом ЕС</a:t>
            </a:r>
          </a:p>
        </p:txBody>
      </p:sp>
      <p:sp>
        <p:nvSpPr>
          <p:cNvPr id="23" name="Oval 22"/>
          <p:cNvSpPr/>
          <p:nvPr/>
        </p:nvSpPr>
        <p:spPr>
          <a:xfrm>
            <a:off x="1737360" y="4773168"/>
            <a:ext cx="118872" cy="118872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11680" y="4718304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00" b="1" i="0">
                <a:solidFill>
                  <a:srgbClr val="FFFFFF"/>
                </a:solidFill>
                <a:latin typeface="Calibri"/>
              </a:rPr>
              <a:t>Согласие трёх LLM.  </a:t>
            </a:r>
            <a:r>
              <a:rPr lang="ru-RU" sz="1130" b="0" i="0">
                <a:solidFill>
                  <a:srgbClr val="CFE3E1"/>
                </a:solidFill>
                <a:latin typeface="Calibri"/>
              </a:rPr>
              <a:t>поатрибутное голосование независимых моделей с проверкой Opus 4 на спорных позициях</a:t>
            </a:r>
          </a:p>
        </p:txBody>
      </p:sp>
      <p:sp>
        <p:nvSpPr>
          <p:cNvPr id="25" name="Oval 24"/>
          <p:cNvSpPr/>
          <p:nvPr/>
        </p:nvSpPr>
        <p:spPr>
          <a:xfrm>
            <a:off x="1737360" y="5230368"/>
            <a:ext cx="118872" cy="118872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5175504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00" b="1" i="0">
                <a:solidFill>
                  <a:srgbClr val="FFFFFF"/>
                </a:solidFill>
                <a:latin typeface="Calibri"/>
              </a:rPr>
              <a:t>Слепая ре-разметка.  </a:t>
            </a:r>
            <a:r>
              <a:rPr lang="ru-RU" sz="1130" b="0" i="0">
                <a:solidFill>
                  <a:srgbClr val="CFE3E1"/>
                </a:solidFill>
                <a:latin typeface="Calibri"/>
              </a:rPr>
              <a:t>Opus 4 размечает только партнёр-поля, без доступа к тегам OFF и промежуточным меткам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ЗАДАЧА 4 ·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Главный результат: точность ↔ стоимость</a:t>
            </a:r>
          </a:p>
        </p:txBody>
      </p:sp>
      <p:pic>
        <p:nvPicPr>
          <p:cNvPr id="6" name="Picture 5" descr="cost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35024"/>
            <a:ext cx="6903720" cy="47070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053328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50" b="0" i="1">
                <a:solidFill>
                  <a:srgbClr val="5C6B7A"/>
                </a:solidFill>
                <a:latin typeface="Calibri"/>
              </a:rPr>
              <a:t>11 рабочих точек; планки — 95 % brand-clustered bootstrap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3716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00" b="1" i="0">
                <a:solidFill>
                  <a:srgbClr val="1FA39A"/>
                </a:solidFill>
                <a:latin typeface="Calibri"/>
              </a:rPr>
              <a:t>ГИБРИД ПАРЕТО-ДОМИНИРУЕТ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700784"/>
            <a:ext cx="3950208" cy="1207008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64423" y="181051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FFFFFF"/>
                </a:solidFill>
                <a:latin typeface="Calibri"/>
              </a:rPr>
              <a:t>Каскад + Gemini 2.5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4423" y="2157984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3000" b="1" i="0">
                <a:solidFill>
                  <a:srgbClr val="F08A24"/>
                </a:solidFill>
                <a:latin typeface="Trebuchet MS"/>
              </a:rPr>
              <a:t>91.5 %</a:t>
            </a:r>
            <a:r>
              <a:rPr lang="ru-RU" sz="1200" b="0" i="0">
                <a:solidFill>
                  <a:srgbClr val="CFE3E1"/>
                </a:solidFill>
                <a:latin typeface="Calibri"/>
              </a:rPr>
              <a:t>  точности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072384"/>
            <a:ext cx="3950208" cy="841248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3072384"/>
            <a:ext cx="91440" cy="841248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64423" y="3072384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900" b="1" i="0">
                <a:solidFill>
                  <a:srgbClr val="1FA39A"/>
                </a:solidFill>
                <a:latin typeface="Trebuchet MS"/>
              </a:rPr>
              <a:t>≈ 275×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163824"/>
            <a:ext cx="2240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60" b="0" i="0">
                <a:solidFill>
                  <a:srgbClr val="5C6B7A"/>
                </a:solidFill>
                <a:latin typeface="Calibri"/>
              </a:rPr>
              <a:t>дешевле опорной конфигурации Sonnet 4.5 на каждое поле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023360"/>
            <a:ext cx="3950208" cy="841248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4023360"/>
            <a:ext cx="91440" cy="8412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64423" y="4023360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900" b="1" i="0">
                <a:solidFill>
                  <a:srgbClr val="3A6EA5"/>
                </a:solidFill>
                <a:latin typeface="Trebuchet MS"/>
              </a:rPr>
              <a:t>+7.7 п.п.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4114800"/>
            <a:ext cx="2240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60" b="0" i="0">
                <a:solidFill>
                  <a:srgbClr val="5C6B7A"/>
                </a:solidFill>
                <a:latin typeface="Calibri"/>
              </a:rPr>
              <a:t>точнее, чем прямой вызов Sonnet 4.5 на каждое поле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974336"/>
            <a:ext cx="3950208" cy="841248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26679" y="4974336"/>
            <a:ext cx="91440" cy="841248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64423" y="4974336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900" b="1" i="0">
                <a:solidFill>
                  <a:srgbClr val="F08A24"/>
                </a:solidFill>
                <a:latin typeface="Trebuchet MS"/>
              </a:rPr>
              <a:t>Все гибриды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5065776"/>
            <a:ext cx="2240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60" b="0" i="0">
                <a:solidFill>
                  <a:srgbClr val="5C6B7A"/>
                </a:solidFill>
                <a:latin typeface="Calibri"/>
              </a:rPr>
              <a:t>точнее любой конфигурации «LLM на каждое поле»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Послойный вклад каскада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Распределение финальных предсказаний по слоям каскада на трёх категориях товаров.</a:t>
            </a:r>
          </a:p>
        </p:txBody>
      </p:sp>
      <p:pic>
        <p:nvPicPr>
          <p:cNvPr id="7" name="Picture 6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040880" cy="29603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975104"/>
            <a:ext cx="3749039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55279" y="1975104"/>
            <a:ext cx="91440" cy="1225296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3023" y="21031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B2A41"/>
                </a:solidFill>
                <a:latin typeface="Calibri"/>
              </a:rPr>
              <a:t>Regex закрывает 18–22 %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3" y="2432304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70" b="0" i="0">
                <a:solidFill>
                  <a:srgbClr val="5C6B7A"/>
                </a:solidFill>
                <a:latin typeface="Calibri"/>
              </a:rPr>
              <a:t>словарных полей в пасте и шоколаде; в сырах доменные сигналы плохо параметризуются.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310128"/>
            <a:ext cx="3749039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79" y="3310128"/>
            <a:ext cx="91440" cy="122529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3023" y="3438144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B2A41"/>
                </a:solidFill>
                <a:latin typeface="Calibri"/>
              </a:rPr>
              <a:t>ML — основная доля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3767328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70" b="0" i="0">
                <a:solidFill>
                  <a:srgbClr val="5C6B7A"/>
                </a:solidFill>
                <a:latin typeface="Calibri"/>
              </a:rPr>
              <a:t>XGBoost на многоязычных эмбеддингах закрывает 68–87 % ячеек локально, на CPU.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645152"/>
            <a:ext cx="3749039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4645152"/>
            <a:ext cx="91440" cy="1225296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477316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B2A41"/>
                </a:solidFill>
                <a:latin typeface="Calibri"/>
              </a:rPr>
              <a:t>LLM-fallback — 5–13 %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5102352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70" b="0" i="0">
                <a:solidFill>
                  <a:srgbClr val="5C6B7A"/>
                </a:solidFill>
                <a:latin typeface="Calibri"/>
              </a:rPr>
              <a:t>дорогой слой запрашивается только на остаток, не закрытый с нужной уверенностью.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РЕЗУЛЬТАТЫ · ЗАДАЧА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Развёртывание на открытых моделях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Каскад архитектурно независим от поставщика LLM. С открытой моделью </a:t>
            </a:r>
            <a:r>
              <a:rPr lang="ru-RU" sz="1350" b="1" i="0">
                <a:solidFill>
                  <a:srgbClr val="1B2A41"/>
                </a:solidFill>
                <a:latin typeface="Calibri"/>
              </a:rPr>
              <a:t>gpt-oss-120b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в роли Layer 4 возможно полностью локальное развёртывание без передачи данных во внешние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57984"/>
            <a:ext cx="4617720" cy="1828800"/>
          </a:xfrm>
          <a:prstGeom prst="roundRect">
            <a:avLst>
              <a:gd name="adj" fmla="val 7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27632" y="2286000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5C6B7A"/>
                </a:solidFill>
                <a:latin typeface="Calibri"/>
              </a:rPr>
              <a:t>ПРИРОСТ ОТ КАСКАДНОЙ АРХИТЕКТУРЫ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596896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900" b="1" i="0">
                <a:solidFill>
                  <a:srgbClr val="5C6B7A"/>
                </a:solidFill>
                <a:latin typeface="Trebuchet MS"/>
              </a:rPr>
              <a:t>69.3 %</a:t>
            </a:r>
            <a:r>
              <a:rPr lang="ru-RU" sz="1500" b="0" i="0">
                <a:solidFill>
                  <a:srgbClr val="5C6B7A"/>
                </a:solidFill>
                <a:latin typeface="Calibri"/>
              </a:rPr>
              <a:t>  →  </a:t>
            </a:r>
            <a:r>
              <a:rPr lang="ru-RU" sz="2600" b="1" i="0">
                <a:solidFill>
                  <a:srgbClr val="1FA39A"/>
                </a:solidFill>
                <a:latin typeface="Trebuchet MS"/>
              </a:rPr>
              <a:t>90.5 %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16382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0" i="0">
                <a:solidFill>
                  <a:srgbClr val="5C6B7A"/>
                </a:solidFill>
                <a:latin typeface="Calibri"/>
              </a:rPr>
              <a:t>прямой gpt-oss-120b  →  каскад + gpt-oss-120b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2" y="3511296"/>
            <a:ext cx="4096512" cy="384048"/>
          </a:xfrm>
          <a:prstGeom prst="roundRect">
            <a:avLst>
              <a:gd name="adj" fmla="val 30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27632" y="3511296"/>
            <a:ext cx="40965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00" b="1" i="0">
                <a:solidFill>
                  <a:srgbClr val="FFFFFF"/>
                </a:solidFill>
                <a:latin typeface="Calibri"/>
              </a:rPr>
              <a:t>+21.2 п.п. точности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57984"/>
            <a:ext cx="4617720" cy="1828800"/>
          </a:xfrm>
          <a:prstGeom prst="roundRect">
            <a:avLst>
              <a:gd name="adj" fmla="val 7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286000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FA39A"/>
                </a:solidFill>
                <a:latin typeface="Calibri"/>
              </a:rPr>
              <a:t>ЦЕНА ЛОКАЛЬНОСТИ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596896"/>
            <a:ext cx="4114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FFFFFF"/>
                </a:solidFill>
                <a:latin typeface="Trebuchet MS"/>
              </a:rPr>
              <a:t>−1.0 п.п.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200400"/>
            <a:ext cx="4160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>
                <a:solidFill>
                  <a:srgbClr val="CFE3E1"/>
                </a:solidFill>
                <a:latin typeface="Calibri"/>
              </a:rPr>
              <a:t>всего на столько каскад + gpt-oss-120b уступает коммерческой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>
                <a:solidFill>
                  <a:srgbClr val="CFE3E1"/>
                </a:solidFill>
                <a:latin typeface="Calibri"/>
              </a:rPr>
              <a:t>конфигурации — при полной независимости от внешних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879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1" i="0">
                <a:solidFill>
                  <a:srgbClr val="1FA39A"/>
                </a:solidFill>
                <a:latin typeface="Calibri"/>
              </a:rPr>
              <a:t>ТРИ СЦЕНАРИЯ РАЗВЁРТЫВАНИЯ LAYER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535424"/>
            <a:ext cx="30540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71600" y="4535424"/>
            <a:ext cx="3054096" cy="73152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72768" y="4663440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30" b="1" i="0">
                <a:solidFill>
                  <a:srgbClr val="1B2A41"/>
                </a:solidFill>
                <a:latin typeface="Calibri"/>
              </a:rPr>
              <a:t>Коммерческий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74336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1" i="0">
                <a:solidFill>
                  <a:srgbClr val="1FA39A"/>
                </a:solidFill>
                <a:latin typeface="Calibri"/>
              </a:rPr>
              <a:t>Gemini 2.5 Flash / Sonnet 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266944"/>
            <a:ext cx="2697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30" b="0" i="0">
                <a:solidFill>
                  <a:srgbClr val="5C6B7A"/>
                </a:solidFill>
                <a:latin typeface="Calibri"/>
              </a:rPr>
              <a:t>максимальная точность 91.5 %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535424"/>
            <a:ext cx="30540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4535424"/>
            <a:ext cx="3054096" cy="7315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3168" y="4663440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30" b="1" i="0">
                <a:solidFill>
                  <a:srgbClr val="1B2A41"/>
                </a:solidFill>
                <a:latin typeface="Calibri"/>
              </a:rPr>
              <a:t>Бюджетный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974336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1" i="0">
                <a:solidFill>
                  <a:srgbClr val="3A6EA5"/>
                </a:solidFill>
                <a:latin typeface="Calibri"/>
              </a:rPr>
              <a:t>GPT-4o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5266944"/>
            <a:ext cx="2697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30" b="0" i="0">
                <a:solidFill>
                  <a:srgbClr val="5C6B7A"/>
                </a:solidFill>
                <a:latin typeface="Calibri"/>
              </a:rPr>
              <a:t>баланс точности и доступности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535424"/>
            <a:ext cx="305409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0" y="4535424"/>
            <a:ext cx="3054096" cy="73152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73568" y="4663440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30" b="1" i="0">
                <a:solidFill>
                  <a:srgbClr val="1B2A41"/>
                </a:solidFill>
                <a:latin typeface="Calibri"/>
              </a:rPr>
              <a:t>Локальный (on-premise)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974336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1" i="0">
                <a:solidFill>
                  <a:srgbClr val="F08A24"/>
                </a:solidFill>
                <a:latin typeface="Calibri"/>
              </a:rPr>
              <a:t>gpt-oss-120b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266944"/>
            <a:ext cx="2697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30" b="0" i="0">
                <a:solidFill>
                  <a:srgbClr val="5C6B7A"/>
                </a:solidFill>
                <a:latin typeface="Calibri"/>
              </a:rPr>
              <a:t>данные не покидают периметр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Достоверность результата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Контроль на </a:t>
            </a:r>
            <a:r>
              <a:rPr lang="ru-RU" sz="1350" b="1" i="0">
                <a:solidFill>
                  <a:srgbClr val="1B2A41"/>
                </a:solidFill>
                <a:latin typeface="Calibri"/>
              </a:rPr>
              <a:t>структурную утечку (circularity)</a:t>
            </a:r>
            <a:r>
              <a:rPr lang="ru-RU" sz="1350" b="0" i="0">
                <a:solidFill>
                  <a:srgbClr val="1B2A41"/>
                </a:solidFill>
                <a:latin typeface="Calibri"/>
              </a:rPr>
              <a:t>: точность приведена в разрезе типа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эталонного сигнала. При утечке выше был бы «текстовый» ярус — наблюдается обратное.</a:t>
            </a:r>
          </a:p>
        </p:txBody>
      </p:sp>
      <p:pic>
        <p:nvPicPr>
          <p:cNvPr id="7" name="Picture 6" descr="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011680"/>
            <a:ext cx="5989320" cy="32374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1993392"/>
            <a:ext cx="4846320" cy="1371600"/>
          </a:xfrm>
          <a:prstGeom prst="roundRect">
            <a:avLst>
              <a:gd name="adj" fmla="val 7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14032" y="212140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Опровержение претензии о circularity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246888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>
                <a:solidFill>
                  <a:srgbClr val="CFE3E1"/>
                </a:solidFill>
                <a:latin typeface="Calibri"/>
              </a:rPr>
              <a:t>«Текстовый» ярус, делящий сигнал с признаками модели, — </a:t>
            </a:r>
            <a:r>
              <a:rPr lang="ru-RU" sz="1100" b="1" i="0">
                <a:solidFill>
                  <a:srgbClr val="FFFFFF"/>
                </a:solidFill>
                <a:latin typeface="Calibri"/>
              </a:rPr>
              <a:t>самый низкий</a:t>
            </a:r>
            <a:r>
              <a:rPr lang="ru-RU" sz="1100" b="0" i="0">
                <a:solidFill>
                  <a:srgbClr val="CFE3E1"/>
                </a:solidFill>
                <a:latin typeface="Calibri"/>
              </a:rPr>
              <a:t> (81.8 %), на 11.8 п.п. ниже тег-ярусного. Завышения за счёт утечки нет.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511296"/>
            <a:ext cx="4846320" cy="676656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04304" y="3685032"/>
            <a:ext cx="329184" cy="32918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3511296"/>
            <a:ext cx="41148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60" b="1" i="0">
                <a:solidFill>
                  <a:srgbClr val="1B2A41"/>
                </a:solidFill>
                <a:latin typeface="Calibri"/>
              </a:rPr>
              <a:t>Brand-disjoint сплит.  </a:t>
            </a:r>
            <a:r>
              <a:rPr lang="ru-RU" sz="1060" b="0" i="0">
                <a:solidFill>
                  <a:srgbClr val="5C6B7A"/>
                </a:solidFill>
                <a:latin typeface="Calibri"/>
              </a:rPr>
              <a:t>бренды теста не пересекаются с обучающими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261104"/>
            <a:ext cx="4846320" cy="676656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04304" y="4434840"/>
            <a:ext cx="329184" cy="32918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4261104"/>
            <a:ext cx="41148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60" b="1" i="0">
                <a:solidFill>
                  <a:srgbClr val="1B2A41"/>
                </a:solidFill>
                <a:latin typeface="Calibri"/>
              </a:rPr>
              <a:t>k-NN distance ablation.  </a:t>
            </a:r>
            <a:r>
              <a:rPr lang="ru-RU" sz="1060" b="0" i="0">
                <a:solidFill>
                  <a:srgbClr val="5C6B7A"/>
                </a:solidFill>
                <a:latin typeface="Calibri"/>
              </a:rPr>
              <a:t>точность не падает на семантически дальних товарах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5010912"/>
            <a:ext cx="4846320" cy="676656"/>
          </a:xfrm>
          <a:prstGeom prst="roundRect">
            <a:avLst>
              <a:gd name="adj" fmla="val 14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004304" y="5184648"/>
            <a:ext cx="329184" cy="32918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5010912"/>
            <a:ext cx="41148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60" b="1" i="0">
                <a:solidFill>
                  <a:srgbClr val="1B2A41"/>
                </a:solidFill>
                <a:latin typeface="Calibri"/>
              </a:rPr>
              <a:t>Робастность к языку.  </a:t>
            </a:r>
            <a:r>
              <a:rPr lang="ru-RU" sz="1060" b="0" i="0">
                <a:solidFill>
                  <a:srgbClr val="5C6B7A"/>
                </a:solidFill>
                <a:latin typeface="Calibri"/>
              </a:rPr>
              <a:t>сопоставимая точность на 5 языках этикеток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Цикл аудита и переобучения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Ручной аудит 239 товаров пасты выявил систематическую ошибку слабой разметки: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редкие формы пасты помечались как «прочее». Переобучение на исправленных метках устранило дефект.</a:t>
            </a:r>
          </a:p>
        </p:txBody>
      </p:sp>
      <p:pic>
        <p:nvPicPr>
          <p:cNvPr id="7" name="Picture 6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011680"/>
            <a:ext cx="5989320" cy="32374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2011680"/>
            <a:ext cx="4846320" cy="1298448"/>
          </a:xfrm>
          <a:prstGeom prst="roundRect">
            <a:avLst>
              <a:gd name="adj" fmla="val 7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213969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FFFFFF"/>
                </a:solidFill>
                <a:latin typeface="Calibri"/>
              </a:rPr>
              <a:t>Ключевой эффект — атрибут «форма пасты»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05456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200" b="1" i="0">
                <a:solidFill>
                  <a:srgbClr val="FFFFFF"/>
                </a:solidFill>
                <a:latin typeface="Trebuchet MS"/>
              </a:rPr>
              <a:t>+49 п.п.</a:t>
            </a:r>
            <a:r>
              <a:rPr lang="ru-RU" sz="1150" b="0" i="0">
                <a:solidFill>
                  <a:srgbClr val="FFFFFF"/>
                </a:solidFill>
                <a:latin typeface="Calibri"/>
              </a:rPr>
              <a:t>  точности после переобучения на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0">
                <a:solidFill>
                  <a:srgbClr val="FFFFFF"/>
                </a:solidFill>
                <a:latin typeface="Calibri"/>
              </a:rPr>
              <a:t>исправленных аудитом метках (n = 83).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456432"/>
            <a:ext cx="4846320" cy="2139696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3602736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B2A41"/>
                </a:solidFill>
                <a:latin typeface="Calibri"/>
              </a:rPr>
              <a:t>Вывод для методологии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4014216"/>
            <a:ext cx="109728" cy="109728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0064" y="395020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70" b="0" i="0">
                <a:solidFill>
                  <a:srgbClr val="5C6B7A"/>
                </a:solidFill>
                <a:latin typeface="Calibri"/>
              </a:rPr>
              <a:t>Цикл «аудит → переобучение → ре-оценка» переводит систему из режима фиксированной точности в режим управляемого улучшения качества.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4581144"/>
            <a:ext cx="109728" cy="109728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0064" y="4517136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70" b="0" i="0">
                <a:solidFill>
                  <a:srgbClr val="5C6B7A"/>
                </a:solidFill>
                <a:latin typeface="Calibri"/>
              </a:rPr>
              <a:t>Эффект сосредоточен там, где аудит вскрыл реальную ошибку разметки; на корректно размеченных атрибутах изменения в пределах шума.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5148072"/>
            <a:ext cx="109728" cy="109728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5084064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70" b="0" i="0">
                <a:solidFill>
                  <a:srgbClr val="5C6B7A"/>
                </a:solidFill>
                <a:latin typeface="Calibri"/>
              </a:rPr>
              <a:t>Стоимость аудита окупается однократно — исправленная метка улучшает все будущие прогнозы атрибута.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ЗАДАЧА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Демонстрационный комплекс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Каскад обёрнут в программный комплекс для оператора каталога: стабильный API и веб-интерфейс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переводят ручное заполнение в режим выборочной верификации с явной отметкой слоя-источника.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57984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157984"/>
            <a:ext cx="91440" cy="1097280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7632" y="228600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80" b="1" i="0">
                <a:solidFill>
                  <a:srgbClr val="1B2A41"/>
                </a:solidFill>
                <a:latin typeface="Calibri"/>
              </a:rPr>
              <a:t>Веб-интерфейс оператора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615184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80" b="0" i="0">
                <a:solidFill>
                  <a:srgbClr val="5C6B7A"/>
                </a:solidFill>
                <a:latin typeface="Calibri"/>
              </a:rPr>
              <a:t>Карточка товара с по-атрибутным результатом: значение, слой-источник и индикатор уверенности.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57984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157984"/>
            <a:ext cx="91440" cy="1097280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28600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80" b="1" i="0">
                <a:solidFill>
                  <a:srgbClr val="1B2A41"/>
                </a:solidFill>
                <a:latin typeface="Calibri"/>
              </a:rPr>
              <a:t>Программный интерфейс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615184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80" b="0" i="0">
                <a:solidFill>
                  <a:srgbClr val="5C6B7A"/>
                </a:solidFill>
                <a:latin typeface="Calibri"/>
              </a:rPr>
              <a:t>Стабильный API обогащения для интеграции в конвейер каталога интернет-магазина.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401568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3401568"/>
            <a:ext cx="91440" cy="1097280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27632" y="3529584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80" b="1" i="0">
                <a:solidFill>
                  <a:srgbClr val="1B2A41"/>
                </a:solidFill>
                <a:latin typeface="Calibri"/>
              </a:rPr>
              <a:t>Отметка источника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858768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80" b="0" i="0">
                <a:solidFill>
                  <a:srgbClr val="5C6B7A"/>
                </a:solidFill>
                <a:latin typeface="Calibri"/>
              </a:rPr>
              <a:t>Каждое значение помечено слоем (regex / ML / LLM) — оператор проверяет выборочно, а не всё.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01568"/>
            <a:ext cx="46177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401568"/>
            <a:ext cx="91440" cy="1097280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529584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80" b="1" i="0">
                <a:solidFill>
                  <a:srgbClr val="1B2A41"/>
                </a:solidFill>
                <a:latin typeface="Calibri"/>
              </a:rPr>
              <a:t>Байес-валидатор как сигнал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858768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80" b="0" i="0">
                <a:solidFill>
                  <a:srgbClr val="5C6B7A"/>
                </a:solidFill>
                <a:latin typeface="Calibri"/>
              </a:rPr>
              <a:t>Подозрительные предсказания помечаются флагом и направляются на приоритетную проверку.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736592"/>
            <a:ext cx="9445752" cy="969264"/>
          </a:xfrm>
          <a:prstGeom prst="roundRect">
            <a:avLst>
              <a:gd name="adj" fmla="val 7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91640" y="4846320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00" b="1" i="0">
                <a:solidFill>
                  <a:srgbClr val="1FA39A"/>
                </a:solidFill>
                <a:latin typeface="Calibri"/>
              </a:rPr>
              <a:t>Эффект для оператора каталога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175504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00" b="0" i="0">
                <a:solidFill>
                  <a:srgbClr val="CFE3E1"/>
                </a:solidFill>
                <a:latin typeface="Calibri"/>
              </a:rPr>
              <a:t>Доля ячеек, требующих ручной верификации, снижается до </a:t>
            </a:r>
            <a:r>
              <a:rPr lang="ru-RU" sz="1500" b="1" i="0">
                <a:solidFill>
                  <a:srgbClr val="F08A24"/>
                </a:solidFill>
                <a:latin typeface="Trebuchet MS"/>
              </a:rPr>
              <a:t>5–10 %</a:t>
            </a:r>
            <a:r>
              <a:rPr lang="ru-RU" sz="1200" b="0" i="0">
                <a:solidFill>
                  <a:srgbClr val="CFE3E1"/>
                </a:solidFill>
                <a:latin typeface="Calibri"/>
              </a:rPr>
              <a:t>  — ручная нагрузка сокращается в 10–20 раз.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457200"/>
            <a:ext cx="603504" cy="603504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1" i="0">
                <a:solidFill>
                  <a:srgbClr val="1FA39A"/>
                </a:solidFill>
                <a:latin typeface="Calibri"/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2700" b="1" i="0">
                <a:solidFill>
                  <a:srgbClr val="1B2A41"/>
                </a:solidFill>
                <a:latin typeface="Trebuchet MS"/>
              </a:rPr>
              <a:t>Достигнутые результаты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50" b="0" i="0">
                <a:solidFill>
                  <a:srgbClr val="1B2A41"/>
                </a:solidFill>
                <a:latin typeface="Calibri"/>
              </a:rPr>
              <a:t>Все числовые значения подтверждены воспроизводимыми артефактами проверочной выборки.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3200400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17904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FA39A"/>
                </a:solidFill>
                <a:latin typeface="Calibri"/>
              </a:rPr>
              <a:t>ПОКАЗАТЕЛЬ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063240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18288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FA39A"/>
                </a:solidFill>
                <a:latin typeface="Calibri"/>
              </a:rPr>
              <a:t>БЫЛО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828800"/>
            <a:ext cx="3182112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81544" y="1828800"/>
            <a:ext cx="29077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50" b="1" i="0">
                <a:solidFill>
                  <a:srgbClr val="1FA39A"/>
                </a:solidFill>
                <a:latin typeface="Calibri"/>
              </a:rPr>
              <a:t>СТАЛО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286000"/>
            <a:ext cx="3200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0" y="2286000"/>
            <a:ext cx="73152" cy="676656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768" y="2286000"/>
            <a:ext cx="28895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80" b="1" i="0">
                <a:solidFill>
                  <a:srgbClr val="1B2A41"/>
                </a:solidFill>
                <a:latin typeface="Calibri"/>
              </a:rPr>
              <a:t>Точность обогащения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286000"/>
            <a:ext cx="30632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2286000"/>
            <a:ext cx="2788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>
                <a:solidFill>
                  <a:srgbClr val="5C6B7A"/>
                </a:solidFill>
                <a:latin typeface="Calibri"/>
              </a:rPr>
              <a:t>100 % ручной труд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2286000"/>
            <a:ext cx="3182112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81544" y="2286000"/>
            <a:ext cx="290779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1B2A41"/>
                </a:solidFill>
                <a:latin typeface="Calibri"/>
              </a:rPr>
              <a:t>каскад 91.5 % автоматически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962656"/>
            <a:ext cx="320040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71600" y="2962656"/>
            <a:ext cx="73152" cy="676656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72768" y="2962656"/>
            <a:ext cx="28895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80" b="1" i="0">
                <a:solidFill>
                  <a:srgbClr val="1B2A41"/>
                </a:solidFill>
                <a:latin typeface="Calibri"/>
              </a:rPr>
              <a:t>Доля обращений к 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962656"/>
            <a:ext cx="306324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18304" y="2962656"/>
            <a:ext cx="2788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>
                <a:solidFill>
                  <a:srgbClr val="5C6B7A"/>
                </a:solidFill>
                <a:latin typeface="Calibri"/>
              </a:rPr>
              <a:t>100 % ячеек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962656"/>
            <a:ext cx="3182112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81544" y="2962656"/>
            <a:ext cx="290779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1B2A41"/>
                </a:solidFill>
                <a:latin typeface="Calibri"/>
              </a:rPr>
              <a:t>8.6 % ячеек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639312"/>
            <a:ext cx="3200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71600" y="3639312"/>
            <a:ext cx="73152" cy="676656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72768" y="3639312"/>
            <a:ext cx="28895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80" b="1" i="0">
                <a:solidFill>
                  <a:srgbClr val="1B2A41"/>
                </a:solidFill>
                <a:latin typeface="Calibri"/>
              </a:rPr>
              <a:t>Открытая модель (on-premise)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639312"/>
            <a:ext cx="30632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18304" y="3639312"/>
            <a:ext cx="2788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>
                <a:solidFill>
                  <a:srgbClr val="5C6B7A"/>
                </a:solidFill>
                <a:latin typeface="Calibri"/>
              </a:rPr>
              <a:t>прямой gpt-oss-120b — 69.3 %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3639312"/>
            <a:ext cx="3182112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81544" y="3639312"/>
            <a:ext cx="290779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1B2A41"/>
                </a:solidFill>
                <a:latin typeface="Calibri"/>
              </a:rPr>
              <a:t>каскад + gpt-oss — 90.5 %  (+21.2 п.п.)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315968"/>
            <a:ext cx="320040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371600" y="4315968"/>
            <a:ext cx="73152" cy="676656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72768" y="4315968"/>
            <a:ext cx="28895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80" b="1" i="0">
                <a:solidFill>
                  <a:srgbClr val="1B2A41"/>
                </a:solidFill>
                <a:latin typeface="Calibri"/>
              </a:rPr>
              <a:t>Ручная верификация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315968"/>
            <a:ext cx="3063240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18304" y="4315968"/>
            <a:ext cx="2788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>
                <a:solidFill>
                  <a:srgbClr val="5C6B7A"/>
                </a:solidFill>
                <a:latin typeface="Calibri"/>
              </a:rPr>
              <a:t>~100 % ячеек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4315968"/>
            <a:ext cx="3182112" cy="676656"/>
          </a:xfrm>
          <a:prstGeom prst="rect">
            <a:avLst/>
          </a:prstGeom>
          <a:solidFill>
            <a:srgbClr val="EEF2F5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81544" y="4315968"/>
            <a:ext cx="290779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1B2A41"/>
                </a:solidFill>
                <a:latin typeface="Calibri"/>
              </a:rPr>
              <a:t>~5–10 % ячеек  (в 10–20 раз меньше)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4992624"/>
            <a:ext cx="3200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371600" y="4992624"/>
            <a:ext cx="73152" cy="67665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572768" y="4992624"/>
            <a:ext cx="288950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80" b="1" i="0">
                <a:solidFill>
                  <a:srgbClr val="1B2A41"/>
                </a:solidFill>
                <a:latin typeface="Calibri"/>
              </a:rPr>
              <a:t>Независимость от вендора LLM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992624"/>
            <a:ext cx="30632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18304" y="4992624"/>
            <a:ext cx="2788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>
                <a:solidFill>
                  <a:srgbClr val="5C6B7A"/>
                </a:solidFill>
                <a:latin typeface="Calibri"/>
              </a:rPr>
              <a:t>привязка к одному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4992624"/>
            <a:ext cx="3182112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81544" y="4992624"/>
            <a:ext cx="290779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30" b="1" i="0">
                <a:solidFill>
                  <a:srgbClr val="1B2A41"/>
                </a:solidFill>
                <a:latin typeface="Calibri"/>
              </a:rPr>
              <a:t>пять моделей с близкой точностью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900" b="0" i="0">
                <a:solidFill>
                  <a:srgbClr val="5C6B7A"/>
                </a:solidFill>
                <a:latin typeface="Calibri"/>
              </a:rPr>
              <a:t>Система автоматизированного обогащения товарных данных  ·  ВКР магистра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000" b="1" i="0">
                <a:solidFill>
                  <a:srgbClr val="5C6B7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60350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300" b="1" i="0">
                <a:solidFill>
                  <a:srgbClr val="1FA39A"/>
                </a:solidFill>
                <a:latin typeface="Calibri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3200" b="1" i="0">
                <a:solidFill>
                  <a:srgbClr val="FFFFFF"/>
                </a:solidFill>
                <a:latin typeface="Trebuchet MS"/>
              </a:rPr>
              <a:t>Цель работы достигнута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5564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1929384"/>
            <a:ext cx="402336" cy="402336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B2A41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1755648"/>
            <a:ext cx="93268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0" i="0">
                <a:solidFill>
                  <a:srgbClr val="FFFFFF"/>
                </a:solidFill>
                <a:latin typeface="Calibri"/>
              </a:rPr>
              <a:t>Спроектирована и реализована гибридная каскадная архитектура из пяти слоёв с фильтрацией по калиброванной уверенности.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7860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752344"/>
            <a:ext cx="402336" cy="402336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B2A41"/>
                </a:solidFill>
                <a:latin typeface="Trebuchet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578608"/>
            <a:ext cx="93268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0" i="0">
                <a:solidFill>
                  <a:srgbClr val="FFFFFF"/>
                </a:solidFill>
                <a:latin typeface="Calibri"/>
              </a:rPr>
              <a:t>Построена brand-disjoint эталонная выборка на трёх категориях с тройным контролем источника разметки.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0156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575303"/>
            <a:ext cx="402336" cy="402336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B2A41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3401568"/>
            <a:ext cx="93268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0" i="0">
                <a:solidFill>
                  <a:srgbClr val="FFFFFF"/>
                </a:solidFill>
                <a:latin typeface="Calibri"/>
              </a:rPr>
              <a:t>Каскад достигает 91.5 % точности, вызывая LLM лишь на 8.6 % ячеек — парето-доминирование над прямым вызовом LLM.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2452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4398264"/>
            <a:ext cx="402336" cy="402336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B2A41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4224528"/>
            <a:ext cx="93268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0" i="0">
                <a:solidFill>
                  <a:srgbClr val="FFFFFF"/>
                </a:solidFill>
                <a:latin typeface="Calibri"/>
              </a:rPr>
              <a:t>Подтверждена работа на открытой модели: +21.2 п.п. над прямым gpt-oss-120b при потере всего 0.9 п.п. к коммерческой.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47488"/>
            <a:ext cx="10360152" cy="749808"/>
          </a:xfrm>
          <a:prstGeom prst="roundRect">
            <a:avLst>
              <a:gd name="adj" fmla="val 10000"/>
            </a:avLst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97280" y="5221224"/>
            <a:ext cx="402336" cy="402336"/>
          </a:xfrm>
          <a:prstGeom prst="ellipse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B2A41"/>
                </a:solidFill>
                <a:latin typeface="Trebuchet M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5047488"/>
            <a:ext cx="93268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250" b="0" i="0">
                <a:solidFill>
                  <a:srgbClr val="FFFFFF"/>
                </a:solidFill>
                <a:latin typeface="Calibri"/>
              </a:rPr>
              <a:t>Создан демонстрационный комплекс с тремя сценариями развёртывания и выборочной верификацией оператором.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0" i="1">
                <a:solidFill>
                  <a:srgbClr val="CFE3E1"/>
                </a:solidFill>
                <a:latin typeface="Calibri"/>
              </a:rPr>
              <a:t>Практический результат — производственно-применимая система с контролируемой стоимостью и независимостью от вендора LLM.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4000" b="1" i="0">
                <a:solidFill>
                  <a:srgbClr val="FFFFFF"/>
                </a:solidFill>
                <a:latin typeface="Trebuchet MS"/>
              </a:rP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400" b="0" i="1">
                <a:solidFill>
                  <a:srgbClr val="CFE3E1"/>
                </a:solidFill>
                <a:latin typeface="Calibri"/>
              </a:rPr>
              <a:t>Готов ответить на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127248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50" b="1" i="0">
                <a:solidFill>
                  <a:srgbClr val="1FA39A"/>
                </a:solidFill>
                <a:latin typeface="Calibri"/>
              </a:rPr>
              <a:t>КЛЮЧЕВЫЕ ИСТОЧНИКИ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56432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1" i="0">
                <a:solidFill>
                  <a:srgbClr val="F08A24"/>
                </a:solidFill>
                <a:latin typeface="Calibri"/>
              </a:rPr>
              <a:t>1.  </a:t>
            </a:r>
            <a:r>
              <a:rPr lang="ru-RU" sz="1100" b="0" i="0">
                <a:solidFill>
                  <a:srgbClr val="CFE3E1"/>
                </a:solidFill>
                <a:latin typeface="Calibri"/>
              </a:rPr>
              <a:t>Бакаев М. А. Системы управления товарной информацией: обзор архитектур PIM-платформ // Программная инженерия.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877056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1" i="0">
                <a:solidFill>
                  <a:srgbClr val="F08A24"/>
                </a:solidFill>
                <a:latin typeface="Calibri"/>
              </a:rPr>
              <a:t>2.  </a:t>
            </a:r>
            <a:r>
              <a:rPr lang="ru-RU" sz="1100" b="0" i="0">
                <a:solidFill>
                  <a:srgbClr val="CFE3E1"/>
                </a:solidFill>
                <a:latin typeface="Calibri"/>
              </a:rPr>
              <a:t>Reimers N., Gurevych I. Making Monolingual Sentence Embeddings Multilingual using Knowledge Distillation. EMNLP,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97680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1" i="0">
                <a:solidFill>
                  <a:srgbClr val="F08A24"/>
                </a:solidFill>
                <a:latin typeface="Calibri"/>
              </a:rPr>
              <a:t>3.  </a:t>
            </a:r>
            <a:r>
              <a:rPr lang="ru-RU" sz="1100" b="0" i="0">
                <a:solidFill>
                  <a:srgbClr val="CFE3E1"/>
                </a:solidFill>
                <a:latin typeface="Calibri"/>
              </a:rPr>
              <a:t>Chen T., Guestrin C. XGBoost: A Scalable Tree Boosting System // KDD’16. ACM, 2016. P. 785–794.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18304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1" i="0">
                <a:solidFill>
                  <a:srgbClr val="F08A24"/>
                </a:solidFill>
                <a:latin typeface="Calibri"/>
              </a:rPr>
              <a:t>4.  </a:t>
            </a:r>
            <a:r>
              <a:rPr lang="ru-RU" sz="1100" b="0" i="0">
                <a:solidFill>
                  <a:srgbClr val="CFE3E1"/>
                </a:solidFill>
                <a:latin typeface="Calibri"/>
              </a:rPr>
              <a:t>Pearl J. Probabilistic Reasoning in Intelligent Systems: Networks of Plausible Inference. Morgan Kaufmann, 1988.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38928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1" i="0">
                <a:solidFill>
                  <a:srgbClr val="F08A24"/>
                </a:solidFill>
                <a:latin typeface="Calibri"/>
              </a:rPr>
              <a:t>5.  </a:t>
            </a:r>
            <a:r>
              <a:rPr lang="ru-RU" sz="1100" b="0" i="0">
                <a:solidFill>
                  <a:srgbClr val="CFE3E1"/>
                </a:solidFill>
                <a:latin typeface="Calibri"/>
              </a:rPr>
              <a:t>Ratner A. et al. Snorkel: Rapid Training Data Creation with Weak Supervision // VLDB Endowment. 2017.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5669280"/>
            <a:ext cx="9262872" cy="18288"/>
          </a:xfrm>
          <a:prstGeom prst="rect">
            <a:avLst/>
          </a:prstGeom>
          <a:solidFill>
            <a:srgbClr val="243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5797296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100" b="0" i="0">
                <a:solidFill>
                  <a:srgbClr val="5C6B7A"/>
                </a:solidFill>
                <a:latin typeface="Calibri"/>
              </a:rPr>
              <a:t>Фролов Михаил Александрович  ·  ВКР магистра  ·  МАИ, кафедра 806  ·  Москва,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1773</Words>
  <Application>Microsoft Macintosh PowerPoint</Application>
  <PresentationFormat>Widescreen</PresentationFormat>
  <Paragraphs>299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Mikhail Frolov</cp:lastModifiedBy>
  <cp:revision>4</cp:revision>
  <dcterms:created xsi:type="dcterms:W3CDTF">2013-01-27T09:14:16Z</dcterms:created>
  <dcterms:modified xsi:type="dcterms:W3CDTF">2026-05-19T00:14:27Z</dcterms:modified>
  <cp:category/>
</cp:coreProperties>
</file>