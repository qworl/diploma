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1B2A41"/>
                </a:solidFill>
                <a:latin typeface="Times New Roman"/>
              </a:rPr>
              <a:t>МИНИСТЕРСТВО НАУКИ И ВЫСШЕГО ОБРАЗОВАНИЯ РОССИЙСКОЙ ФЕДЕРАЦИИ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Федеральное государственное бюджетное образовательное учреждение высшего образования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"Московский авиационный институт (национальный исследовательский университет)"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5C6B7A"/>
                </a:solidFill>
                <a:latin typeface="Times New Roman"/>
              </a:rPr>
              <a:t>Институт № 8 «Информационные технологии и прикладная математика»  ·  Кафедра 806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103120"/>
            <a:ext cx="111556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5C6B7A"/>
                </a:solidFill>
                <a:latin typeface="Times New Roman"/>
              </a:rPr>
              <a:t>ВЫПУСКНАЯ КВАЛИФИКАЦИОННАЯ РАБОТА МАГИСТРА</a:t>
            </a:r>
          </a:p>
          <a:p>
            <a:pPr algn="l">
              <a:spcAft>
                <a:spcPts val="400"/>
              </a:spcAft>
            </a:pPr>
            <a:r>
              <a:rPr sz="8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Система автоматизированного обогащения</a:t>
            </a:r>
          </a:p>
          <a:p>
            <a:pPr algn="l">
              <a:spcAft>
                <a:spcPts val="400"/>
              </a:spcAft>
            </a:pPr>
            <a:r>
              <a:rPr sz="3000" b="1" i="0">
                <a:solidFill>
                  <a:srgbClr val="1B2A41"/>
                </a:solidFill>
                <a:latin typeface="Times New Roman"/>
              </a:rPr>
              <a:t>товарных данных для интернет-магазина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16052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 i="0">
                <a:solidFill>
                  <a:srgbClr val="5C6B7A"/>
                </a:solidFill>
                <a:latin typeface="Times New Roman"/>
              </a:rPr>
              <a:t>Гибридный каскад: Regex → ML → Bayes-валидатор → LLM-fallback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0"/>
            <a:ext cx="5486400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C6B7A"/>
                </a:solidFill>
                <a:latin typeface="Times New Roman"/>
              </a:rPr>
              <a:t>Студент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Фролов Михаил Александрович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Группа М8О-211М-24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4937760"/>
            <a:ext cx="5285232" cy="11887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 i="0">
                <a:solidFill>
                  <a:srgbClr val="5C6B7A"/>
                </a:solidFill>
                <a:latin typeface="Times New Roman"/>
              </a:rPr>
              <a:t>Научный руководитель</a:t>
            </a:r>
          </a:p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Чернышов Лев Николаевич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к. ф.-м. н., доцент кафедры 806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00800"/>
            <a:ext cx="11155680" cy="2743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Москва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Актуальность темы исследования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Карточка товара — центр цифровой витрины: от её полноты зависят поиск, ранжирование и конверсия.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Партнёрский ввод неоднороден, пробелы исторически закрывают контент-менеджеры вручную — этот подход не масштабируется.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468880"/>
            <a:ext cx="356616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11 трлн ₽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годовой объём e-commerce в России (2024–2025)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9" y="2468880"/>
            <a:ext cx="356616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3–7 мин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ручной труд оператора на одну карточку товара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468880"/>
            <a:ext cx="3566160" cy="10058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10⁷ позиций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каталоги крупных магазинов; тысячи новинок ежедневно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11480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Почему существующие PIM-системы не решают задачу: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526280"/>
            <a:ext cx="10881360" cy="164592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 Akeneo, Pimcore, Salsify спроектированы хранить уже готовую товарную информацию, но не извлекать её из неструктурированного партнёрского ввода;</a:t>
            </a:r>
          </a:p>
          <a:p>
            <a:pPr algn="l">
              <a:spcAft>
                <a:spcPts val="6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•  Модули автообогащения — обёртка над одной большой языковой моделью на каждый товар: дорого на больших каталогах и без гарантий фактической точности на числовых полях.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Научная проблема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Ни одна изолированная технология не покрывает все типы атрибутов с приемлемой точностью и стоимостью одновременно.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011680"/>
            <a:ext cx="35661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Правила (Regex)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Надёжны и бесплатны на числовых и словарных полях, но почти не покрывают семантически нагруженные атрибуты.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59" y="2011680"/>
            <a:ext cx="35661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Классическое ML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Высокая предсказательная сила, но требует значительной размеченной обучающей выборки по каждому атрибуту.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01000" y="2011680"/>
            <a:ext cx="3566160" cy="18288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Большие LLM</a:t>
            </a:r>
          </a:p>
          <a:p>
            <a:pPr algn="l">
              <a:spcAft>
                <a:spcPts val="400"/>
              </a:spcAft>
            </a:pPr>
            <a:r>
              <a:rPr sz="6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Универсальны, но дороги при вызове на каждое поле и подвержены фактическим ошибкам — особенно на числах.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700" b="1" i="0">
                <a:solidFill>
                  <a:srgbClr val="1B2A41"/>
                </a:solidFill>
                <a:latin typeface="Times New Roman"/>
              </a:rPr>
              <a:t>Решение — гибридная каскадная архитектура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800600"/>
            <a:ext cx="111556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Композиция последовательных слоёв, где каждый следующий подключается только к остатку,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не закрытому предыдущими с заданной уверенностью — семантика LLM при стоимости классических методов.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Цель и задачи работы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Цель работы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Разработать гибридную каскадную систему обогащения товарных данных с высокой точностью извлечения атрибутов, сокращённой стоимостью обращения к LLM и поддержкой открытых моделей.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0604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Задачи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63240"/>
            <a:ext cx="457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1.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06324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Спроектировать архитектуру: гибридный каскад с многоуровневой фильтрацией по уверенности.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657600"/>
            <a:ext cx="457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2.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Реализовать слои: regex-экстрактор, ML-классификатор на эмбеддингах, байесовский валидатор, LLM-fallback.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51960"/>
            <a:ext cx="457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3.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Построить эталонную выборку: brand-disjoint разметка трёх категорий со слабым надзором, согласием LLM и слепой ре-разметкой.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846320"/>
            <a:ext cx="457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4.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4632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Провести экспериментальную оценку: точность, покрытие, стоимость; сравнение с прямым вызовом LLM; вклад каждого слоя.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40680"/>
            <a:ext cx="45720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5.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5440680"/>
            <a:ext cx="106984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Создать демонстрационный комплекс: веб-интерфейс оператора и REST API; три сценария развёртывания запасного слоя.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Объект, предмет и гипотеза исследования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Times New Roman"/>
              </a:rPr>
              <a:t>Формальная постановка работы согласно требованиям ВКР кафедры 806.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874519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Объект исследования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258568"/>
            <a:ext cx="1115568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Процесс автоматизированного обогащения товарных каталогов интернет-магазинов с использованием открытых источников данных.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063239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Предмет исследования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447287"/>
            <a:ext cx="1115568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Гибридная каскадная архитектура с ансамблевой оценкой уверенности классификаторов и адаптивным обращением к большой языковой модели как запасному слою.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59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1" i="0">
                <a:solidFill>
                  <a:srgbClr val="1B2A41"/>
                </a:solidFill>
                <a:latin typeface="Times New Roman"/>
              </a:rPr>
              <a:t>Рабочая гипотеза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36007"/>
            <a:ext cx="1115568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Композиция слоёв с фильтрацией по калиброванной уверенности превосходит каждый слой в одиночку по сумме «точность + стоимость» на задаче обогащения товарных атрибутов.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34924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Теоретические и методические основы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733288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Слабый надзор (Snorkel, Ratner et al., 2017), векторные представления текста (Reimers &amp; Gurevych, 2020), градиентный бустинг (Chen &amp; Guestrin, 2016), байесовские сети (Pearl, 1988), парето-оптимизация качества и стоимости (FrugalGPT, AutoMix). Brand-disjoint валидация, бутстрэп с кластеризацией по брендам.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Анализ существующих решений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Существующие подходы либо не извлекают атрибуты, либо делают это дорого и без контроля качества.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18560"/>
                <a:gridCol w="3718560"/>
                <a:gridCol w="3718560"/>
              </a:tblGrid>
              <a:tr h="841248"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Решение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Подход к обогащению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Ограничение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841248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Akeneo / Pimcore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Хранилище и редактор готовой товарной информации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Извлечение атрибутов из сырого ввода не решается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Salsify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PIM с синдикацией и обменом данными с партнёрами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Автообогащение — внешний модуль поверх одной LLM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841248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Прямой вызов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Одна публичная LLM вызывается на каждое поле товара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Дорого на больших каталогах; ошибки на числах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Каскад (настоящая работа)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Regex → ML → Bayes → LLM только на остаток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Точность 91,5 % при доле LLM-вызовов 8,6 %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Архитектура гибридного каскада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Товар проходит слои в порядке возрастания стоимости.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Следующий слой получает только те ячейки, которые предыдущий не закрыл с уверенностью выше калиброванного порога.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14600"/>
            <a:ext cx="204825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L0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154680"/>
            <a:ext cx="204825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Категорайзер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657600"/>
            <a:ext cx="20482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XGBoost на SBERT-эмбеддингах + OOD-детектор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825496" y="2514600"/>
            <a:ext cx="204825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L1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25496" y="3154680"/>
            <a:ext cx="204825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Regex-экстрактор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25496" y="3657600"/>
            <a:ext cx="20482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Детерминированные грамматики словарных полей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56631" y="2514600"/>
            <a:ext cx="204825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L2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56631" y="3154680"/>
            <a:ext cx="204825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ML-классификатор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56631" y="3657600"/>
            <a:ext cx="20482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XGBoost на многоязычных векторных представлениях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87768" y="2514600"/>
            <a:ext cx="204825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L3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287768" y="3154680"/>
            <a:ext cx="204825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Bayes-валидатор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87768" y="3657600"/>
            <a:ext cx="20482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Сеть плотностей отбраковывает невероятные значения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18904" y="2514600"/>
            <a:ext cx="2048255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L4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18904" y="3154680"/>
            <a:ext cx="2048255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LLM-fallback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18904" y="3657600"/>
            <a:ext cx="2048255" cy="1463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Запасной слой: коммерческая, бюджетная или открытая модель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Times New Roman"/>
              </a:rPr>
              <a:t>Уверенность каждого слоя калибруется изотонической регрессией; пороги уверенности — поатрибутные.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5486400"/>
            <a:ext cx="111556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LLM вызывается лишь на 8,6 % ячеек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Times New Roman"/>
              </a:rPr>
              <a:t>остальное закрывают дешёвые локальные слои L0–L3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Методика экспериментальной оценки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Эталонная разметка построена на открытом каталоге Open Food Facts для трёх категорий товаров.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Тестовый сплит — brand-disjoint: ни один бренд тестовой выборки не встречается в обучающей.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560320"/>
            <a:ext cx="2606039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1"/>
                </a:solidFill>
                <a:latin typeface="Times New Roman"/>
              </a:rP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246120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категории товаров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566160"/>
            <a:ext cx="260603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паста · шоколад · сыры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2560320"/>
            <a:ext cx="2606039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1"/>
                </a:solidFill>
                <a:latin typeface="Times New Roman"/>
              </a:rPr>
              <a:t>22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79" y="3246120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целевых атрибута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79" y="3566160"/>
            <a:ext cx="260603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бинарные и категориальные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72199" y="2560320"/>
            <a:ext cx="2606039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1"/>
                </a:solidFill>
                <a:latin typeface="Times New Roman"/>
              </a:rPr>
              <a:t>4 350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199" y="3246120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тестовых ячеек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199" y="3566160"/>
            <a:ext cx="260603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товар × атрибут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61119" y="2560320"/>
            <a:ext cx="2606039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B2A41"/>
                </a:solidFill>
                <a:latin typeface="Times New Roman"/>
              </a:rPr>
              <a:t>95,0 %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61119" y="3246120"/>
            <a:ext cx="260603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000000"/>
                </a:solidFill>
                <a:latin typeface="Times New Roman"/>
              </a:rPr>
              <a:t>согласованность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3566160"/>
            <a:ext cx="260603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слепой ре-разметки Opus 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Три независимых источника эталона снижают риск утечки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5074920"/>
            <a:ext cx="11155680" cy="13716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Теги каталога OFF — регуляторные метки и категории, внешний источник, защищённый правом ЕС.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Согласие трёх LLM — поатрибутное голосование независимых моделей с проверкой Opus 4 на спорных позициях.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Слепая ре-разметка — Opus 4 размечает только партнёр-поля, без доступа к тегам OFF и промежуточным меткам.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Главный результат: точность ↔ стоимость</a:t>
            </a:r>
          </a:p>
          <a:p>
            <a:pPr algn="l"/>
            <a:r>
              <a:rPr sz="1400" b="0" i="1">
                <a:solidFill>
                  <a:srgbClr val="5C6B7A"/>
                </a:solidFill>
                <a:latin typeface="Times New Roman"/>
              </a:rPr>
              <a:t>11 рабочих точек; планки — 95 % brand-clustered bootstrap CI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9 / 20</a:t>
            </a:r>
          </a:p>
        </p:txBody>
      </p:sp>
      <p:pic>
        <p:nvPicPr>
          <p:cNvPr id="6" name="Picture 5" descr="cost_quality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280160"/>
            <a:ext cx="7772400" cy="4300341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503920" y="146304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Гибрид парето-доминирует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1965960"/>
            <a:ext cx="3200400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5C6B7A"/>
                </a:solidFill>
                <a:latin typeface="Times New Roman"/>
              </a:rPr>
              <a:t>каскад + Gemini 2.5 Flash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A41"/>
                </a:solidFill>
                <a:latin typeface="Times New Roman"/>
              </a:rPr>
              <a:t>91,5 %  точности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≈ 110 ×  дешевле прямого вызова GPT-4o на каждое поле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3611880"/>
            <a:ext cx="3200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Преимущество в точности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4114800"/>
            <a:ext cx="32004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B2A41"/>
                </a:solidFill>
                <a:latin typeface="Times New Roman"/>
              </a:rPr>
              <a:t>+ 7,7 п. п.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точнее, чем прямой вызов Claude Sonnet 4.5 на каждое поле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5349240"/>
            <a:ext cx="320040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Все гибридные конфигурации точнее любой стратегии «LLM на каждое поле».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Послойный вклад каскада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10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Распределение финальных предсказаний по слоям каскада на трёх категориях товаров.</a:t>
            </a:r>
          </a:p>
        </p:txBody>
      </p:sp>
      <p:pic>
        <p:nvPicPr>
          <p:cNvPr id="7" name="Picture 6" descr="layer_con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737360"/>
            <a:ext cx="7772400" cy="218388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828800"/>
            <a:ext cx="3200400" cy="41148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Regex закрывает 18–22 % словарных полей в pasta и chocolate.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ML — основная доля: XGBoost закрывает 69–87 % ячеек локально, на CPU.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LLM-fallback берёт 5–13 %: самые сложные ячейки, не закрытые предыдущими слоями с нужной уверенностью.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Развёртывание на открытых моделях</a:t>
            </a:r>
          </a:p>
          <a:p>
            <a:pPr algn="l"/>
            <a:r>
              <a:rPr sz="1400" b="0" i="1">
                <a:solidFill>
                  <a:srgbClr val="5C6B7A"/>
                </a:solidFill>
                <a:latin typeface="Times New Roman"/>
              </a:rPr>
              <a:t>Полная локальность без передачи данных во внешние API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11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943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Каскад архитектурно независим от поставщика большой языковой модели. С открытой моделью gpt-oss-120b в роли запасного слоя возможно полностью локальное развёртывание.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94560"/>
            <a:ext cx="54864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Прирост от каскадной архитектуры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548640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69,3 %  →  90,5 %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прямой gpt-oss-120b  →  каскад + gpt-oss-120b</a:t>
            </a:r>
          </a:p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+ 21,2 п. п. точности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55080" y="2194560"/>
            <a:ext cx="530352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Цена локальности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55080" y="2697480"/>
            <a:ext cx="530352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400" b="1" i="0">
                <a:solidFill>
                  <a:srgbClr val="1B2A41"/>
                </a:solidFill>
                <a:latin typeface="Times New Roman"/>
              </a:rPr>
              <a:t>− 0,9 п. п.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на столько каскад + gpt-oss-120b уступает</a:t>
            </a:r>
          </a:p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5C6B7A"/>
                </a:solidFill>
                <a:latin typeface="Times New Roman"/>
              </a:rPr>
              <a:t>коммерческой конфигурации — при полной независимости от внешних API.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1115568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Три сценария развёртывания запасного слоя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5074920"/>
            <a:ext cx="35356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Коммерческий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5458968"/>
            <a:ext cx="35356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Gemini 2.5 Flash / Sonnet 4.5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806440"/>
            <a:ext cx="353567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максимальная точность 91,5 %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12919" y="5074920"/>
            <a:ext cx="35356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Бюджетный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12919" y="5458968"/>
            <a:ext cx="35356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GPT-4o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12919" y="5806440"/>
            <a:ext cx="353567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баланс точности и доступности 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31480" y="5074920"/>
            <a:ext cx="3535679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Локальный (on-premise)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31480" y="5458968"/>
            <a:ext cx="3535679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1" i="0">
                <a:solidFill>
                  <a:srgbClr val="000000"/>
                </a:solidFill>
                <a:latin typeface="Times New Roman"/>
              </a:rPr>
              <a:t>gpt-oss-120b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31480" y="5806440"/>
            <a:ext cx="3535679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5C6B7A"/>
                </a:solidFill>
                <a:latin typeface="Times New Roman"/>
              </a:rPr>
              <a:t>данные не покидают периметр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Достоверность результата</a:t>
            </a:r>
          </a:p>
          <a:p>
            <a:pPr algn="l"/>
            <a:r>
              <a:rPr sz="1400" b="0" i="1">
                <a:solidFill>
                  <a:srgbClr val="5C6B7A"/>
                </a:solidFill>
                <a:latin typeface="Times New Roman"/>
              </a:rPr>
              <a:t>Контроль на структурную утечку (circularity)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12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371600"/>
            <a:ext cx="11155680" cy="5029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Точность приведена в разрезе типа эталонного сигнала. При утечке выше был бы «текстовый» ярус — наблюдается обратное.</a:t>
            </a:r>
          </a:p>
        </p:txBody>
      </p:sp>
      <p:pic>
        <p:nvPicPr>
          <p:cNvPr id="7" name="Picture 6" descr="tier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6858000" cy="370103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80960" y="2011680"/>
            <a:ext cx="402336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Опровержение претензии о circularity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2606040"/>
            <a:ext cx="402336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«Текстовый» ярус, делящий сигнал с признаками модели, — самый низкий (81,8 %), на 11,8 п. п. ниже tag-ярусного. Завышения за счёт утечки нет.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80960" y="3840480"/>
            <a:ext cx="4023360" cy="228600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•  Brand-disjoint сплит: бренды теста не пересекаются с обучающими.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•  k-NN distance ablation: точность не падает на семантически дальних товарах.</a:t>
            </a:r>
          </a:p>
          <a:p>
            <a:pPr algn="l">
              <a:spcAft>
                <a:spcPts val="6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•  Робастность к языку: сопоставимая точность на 6 языках этикеток.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Научная новизна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13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Три отличия настоящей работы от состояния области; ни одно из них не показано совместно в опубликованных работах TXtract, MAVE, OpenTag, FrugalGPT, AutoMix, RouterBench.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14884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Парето-доминирование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532888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Одновременный выигрыш в точности +7,7 п. п. и стоимости × 275 над прямым вызовом коммерческой большой языковой модели.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0040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Негативный результат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584448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Обучаемый стоимостно-чувствительный маршрутизатор не превосходит статическое правило (предзарегистрированная гипотеза H1 отклонена).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2519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Опровержение circularity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636008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Количественное опровержение завышения точности через стратификацию ярусов эталонного сигнала.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4068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Дополнительный методический вклад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06440"/>
            <a:ext cx="11155680" cy="73152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Слепая ре-разметка независимой большой языковой моделью на всей тестовой выборке (κ Коэна &gt; 0,85 на 17 из 22 пар, согласованность 95,0 %); цикл «аудит → исправление экстракторов → переобучение → измерение» с воспроизведением на 3 категориях из 3.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Цикл «аудит → переобучение → ре-оценка»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14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Ручной аудит 239 товаров категории pasta выявил систематическую ошибку слабой разметки: редкие формы пасты помечались как «прочее».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Переобучение на исправленных метках устранило дефект.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6517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 i="0">
                <a:solidFill>
                  <a:srgbClr val="1B2A41"/>
                </a:solidFill>
                <a:latin typeface="Times New Roman"/>
              </a:rPr>
              <a:t>Ключевой эффект — атрибут «форма пасты»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108960"/>
            <a:ext cx="11155680" cy="8229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3400" b="1" i="0">
                <a:solidFill>
                  <a:srgbClr val="1B2A41"/>
                </a:solidFill>
                <a:latin typeface="Times New Roman"/>
              </a:rPr>
              <a:t>+ 49 п. п.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Times New Roman"/>
              </a:rPr>
              <a:t>точности после переобучения на исправленных аудитом метках (n = 83)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02920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Вывод для методологии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440680"/>
            <a:ext cx="11155680" cy="109728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Цикл переводит систему из режима фиксированной точности в режим управляемого улучшения качества.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Эффект сосредоточен там, где аудит вскрыл реальную ошибку разметки; на корректно размеченных атрибутах изменения в пределах шума.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Стоимость аудита окупается однократно: исправленная метка улучшает все будущие прогнозы атрибута.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Демонстрационный комплекс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15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7772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Каскад обёрнут в программный комплекс для оператора каталога.</a:t>
            </a:r>
          </a:p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Стабильный REST API и веб-интерфейс переводят ручное заполнение в режим выборочной верификации с явной отметкой слоя-источника на каждое значение.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7432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Веб-интерфейс оператора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3090672"/>
            <a:ext cx="5303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Карточка товара с поатрибутным результатом: значение, слой-источник и индикатор уверенности.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Программный интерфейс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05072"/>
            <a:ext cx="5303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Стабильный REST API обогащения для интеграции в конвейер каталога интернет-магазина.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45720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Отметка источника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919472"/>
            <a:ext cx="5303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Каждое значение помечено слоем (regex / ML / LLM) — оператор проверяет выборочно, а не всё.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486400"/>
            <a:ext cx="530352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Bayes-валидатор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833872"/>
            <a:ext cx="5303520" cy="5486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Подозрительные предсказания помечаются флагом и направляются на приоритетную проверку.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743200"/>
            <a:ext cx="530352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Эффект для оператора каталога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3200400"/>
            <a:ext cx="530352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Доля ячеек, требующих ручной верификации, снижается до 5–10 %.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4297680"/>
            <a:ext cx="5303520" cy="10972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2600" b="1" i="0">
                <a:solidFill>
                  <a:srgbClr val="1B2A41"/>
                </a:solidFill>
                <a:latin typeface="Times New Roman"/>
              </a:rPr>
              <a:t>в 10–20 раз</a:t>
            </a:r>
          </a:p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5C6B7A"/>
                </a:solidFill>
                <a:latin typeface="Times New Roman"/>
              </a:rPr>
              <a:t>сокращение ручной нагрузки оператора при сохранении контроля качества.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Демонстрационный комплекс — визуально и публично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16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Веб-интерфейс оператора: ввод партнёрских полей слева, поатрибутный результат с отметкой слоя справа.</a:t>
            </a:r>
          </a:p>
        </p:txBody>
      </p:sp>
      <p:pic>
        <p:nvPicPr>
          <p:cNvPr id="7" name="Picture 6" descr="demo_pas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828800"/>
            <a:ext cx="7772400" cy="495101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503920" y="1874519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Go-шлюз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221991"/>
            <a:ext cx="32004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≈ 200 строк, валидация JSON, проксирование, CORS, без внешних зависимостей.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246120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Python · FastAPI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0" y="3593591"/>
            <a:ext cx="32004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ML-сервис, реализующий каскад L0–L4; 4 endpoint, объяснение через Shapley-значения.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0" y="4617720"/>
            <a:ext cx="3200400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Web-фронтенд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03920" y="4965192"/>
            <a:ext cx="3200400" cy="868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Статический HTML/CSS/JS, форма ввода и отметка слоя-источника на каждом значении.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263640"/>
            <a:ext cx="11155680" cy="32004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Открытый исходный код, ноутбук с воспроизводимым каскадом, артефакты:  github.com/Qworl/diploma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Достигнутые результаты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17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Все числовые значения подтверждены воспроизводимыми артефактами проверочной выборки.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828800"/>
          <a:ext cx="111556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  <a:gridCol w="2788920"/>
                <a:gridCol w="2788920"/>
              </a:tblGrid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Показатель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Было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Стало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Times New Roman"/>
                        </a:rPr>
                        <a:t>Эффект</a:t>
                      </a:r>
                    </a:p>
                  </a:txBody>
                  <a:tcPr>
                    <a:solidFill>
                      <a:srgbClr val="1B2A41"/>
                    </a:solidFill>
                  </a:tcPr>
                </a:tc>
              </a:tr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Точность обогащения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100 % ручной труд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каскад 91,5 % автоматически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+ 91,5 п. 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Доля обращений к LLM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100 % ячеек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8,6 % ячеек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сокращена в 12 раз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Открытая модель (on-premise)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прямой gpt-oss-120b — 69,3 %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каскад + gpt-oss — 90,5 %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+ 21,2 п. п.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Ручная верификация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≈ 100 % ячеек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5–10 % ячеек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сокращена в 10–20 раз</a:t>
                      </a:r>
                    </a:p>
                  </a:txBody>
                  <a:tcPr>
                    <a:solidFill>
                      <a:srgbClr val="E8ECEF"/>
                    </a:solidFill>
                  </a:tcPr>
                </a:tc>
              </a:tr>
              <a:tr h="701040"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Независимость от вендора LLM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привязка к одному API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пять моделей с близкой точностью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 wrap="square" lIns="50800" rIns="50800"/>
                    <a:lstStyle/>
                    <a:p>
                      <a:r>
                        <a:rPr sz="1200" b="0" i="0">
                          <a:solidFill>
                            <a:srgbClr val="000000"/>
                          </a:solidFill>
                          <a:latin typeface="Times New Roman"/>
                        </a:rPr>
                        <a:t>5 / 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Готовность к внедрению и перспективы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18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280160"/>
            <a:ext cx="11155680" cy="6400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000000"/>
                </a:solidFill>
                <a:latin typeface="Times New Roman"/>
              </a:rPr>
              <a:t>Архитектура доведена до уровня прототипа PIM-обогатителя. Разделение на три независимых компонента (Go-шлюз, Python ML-сервис, веб-фронтенд) упрощает интеграцию в производственные конвейеры товарных каталогов.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468880"/>
            <a:ext cx="353567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Прототип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4640"/>
            <a:ext cx="3535679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Программный комплекс работает локально на CPU; ≈ 15–20 с прогрев SBERT; десятки миллисекунд на товар.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12919" y="2468880"/>
            <a:ext cx="353567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Целевые роли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12919" y="2834640"/>
            <a:ext cx="3535679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Контент-менеджер · системный аналитик · инженер машинного обучения (см. §4.1 ВКР).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31480" y="2468880"/>
            <a:ext cx="3535679" cy="36576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On-premise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31480" y="2834640"/>
            <a:ext cx="3535679" cy="1554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Сценарий полной локальности на открытой модели gpt-oss-120b: данные не покидают периметр организации.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57200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Перспективы развития темы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029200"/>
            <a:ext cx="11155680" cy="1463040"/>
          </a:xfrm>
          <a:prstGeom prst="rect">
            <a:avLst/>
          </a:prstGeom>
          <a:noFill/>
        </p:spPr>
        <p:txBody>
          <a:bodyPr wrap="square" l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Расширение на не-продовольственные категории (электроника, косметика — заделы есть в §5.5 заключения).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Привязка эталона к внешним регуляторным реестрам (PDO/PGI) для устранения зависимости от тегов OFF.</a:t>
            </a:r>
          </a:p>
          <a:p>
            <a:pPr algn="l">
              <a:spcAft>
                <a:spcPts val="600"/>
              </a:spcAft>
            </a:pPr>
            <a:r>
              <a:rPr sz="1200" b="0" i="0">
                <a:solidFill>
                  <a:srgbClr val="000000"/>
                </a:solidFill>
                <a:latin typeface="Times New Roman"/>
              </a:rPr>
              <a:t>•  Интеграция с PIM-системами семейства Akeneo через стабильный REST-контракт.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92608"/>
            <a:ext cx="11155680" cy="640080"/>
          </a:xfrm>
          <a:prstGeom prst="rect">
            <a:avLst/>
          </a:prstGeom>
          <a:noFill/>
        </p:spPr>
        <p:txBody>
          <a:bodyPr wrap="square" lIns="0" tIns="0">
            <a:spAutoFit/>
          </a:bodyPr>
          <a:lstStyle/>
          <a:p>
            <a:pPr algn="l"/>
            <a:r>
              <a:rPr sz="2600" b="1" i="0">
                <a:solidFill>
                  <a:srgbClr val="1B2A41"/>
                </a:solidFill>
                <a:latin typeface="Times New Roman"/>
              </a:rPr>
              <a:t>Заключение — цель работы достигнута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19 / 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46304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1.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46304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Спроектирована и реализована гибридная каскадная архитектура из пяти слоёв с фильтрацией по калиброванной уверенности.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37744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Построена brand-disjoint эталонная выборка на трёх категориях с тройным контролем источника разметки.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329184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3.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29184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Каскад достигает 91,5 % точности, вызывая большую языковую модель лишь на 8,6 % ячеек — парето-доминирование над прямым вызовом LLM.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420624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4.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0624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Подтверждена работа на открытой модели: + 21,2 п. п. над прямым gpt-oss-120b при потере всего 0,9 п. п. к коммерческой.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120640"/>
            <a:ext cx="457200" cy="4572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 i="0">
                <a:solidFill>
                  <a:srgbClr val="1B2A41"/>
                </a:solidFill>
                <a:latin typeface="Times New Roman"/>
              </a:rPr>
              <a:t>5.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5120640"/>
            <a:ext cx="10698480" cy="9144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0" i="0">
                <a:solidFill>
                  <a:srgbClr val="000000"/>
                </a:solidFill>
                <a:latin typeface="Times New Roman"/>
              </a:rPr>
              <a:t>Создан демонстрационный комплекс с тремя сценариями развёртывания и выборочной верификацией оператором.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21792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1B2A41"/>
                </a:solidFill>
                <a:latin typeface="Times New Roman"/>
              </a:rPr>
              <a:t>Практический результат — производственно-применимая система с контролируемой стоимостью и независимостью от вендора LLM.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502920" y="1051560"/>
            <a:ext cx="11183112" cy="0"/>
          </a:xfrm>
          <a:prstGeom prst="line">
            <a:avLst/>
          </a:prstGeom>
          <a:ln w="19050">
            <a:solidFill>
              <a:srgbClr val="1B2A4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" name="TextBox 2"/>
          <p:cNvSpPr txBox="1"/>
          <p:nvPr/>
        </p:nvSpPr>
        <p:spPr>
          <a:xfrm>
            <a:off x="502920" y="649224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00" b="0" i="0">
                <a:solidFill>
                  <a:srgbClr val="5C6B7A"/>
                </a:solidFill>
                <a:latin typeface="Times New Roman"/>
              </a:rPr>
              <a:t>МАИ · кафедра 806 · М. А. Фролов · ВКР магистра ·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92240"/>
            <a:ext cx="713232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 i="0">
                <a:solidFill>
                  <a:srgbClr val="5C6B7A"/>
                </a:solidFill>
                <a:latin typeface="Times New Roman"/>
              </a:rPr>
              <a:t>20 /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554480"/>
            <a:ext cx="11155680" cy="137160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4400" b="1" i="0">
                <a:solidFill>
                  <a:srgbClr val="1B2A41"/>
                </a:solidFill>
                <a:latin typeface="Times New Roman"/>
              </a:rPr>
              <a:t>Спасибо за внимание</a:t>
            </a:r>
          </a:p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000000"/>
                </a:solidFill>
                <a:latin typeface="Times New Roman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5C6B7A"/>
                </a:solidFill>
                <a:latin typeface="Times New Roman"/>
              </a:rPr>
              <a:t>Готов ответить на вопросы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657600"/>
            <a:ext cx="11155680" cy="4114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1B2A41"/>
                </a:solidFill>
                <a:latin typeface="Times New Roman"/>
              </a:rPr>
              <a:t>Ключевые источники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4114800"/>
            <a:ext cx="11155680" cy="201168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1.  Бакаев М. А. Системы управления товарной информацией: обзор архитектур PIM-платформ // Программная инженерия. 2023.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2.  Reimers N., Gurevych I. Making Monolingual Sentence Embeddings Multilingual using Knowledge Distillation. EMNLP, 2020.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3.  Chen T., Guestrin C. XGBoost: A Scalable Tree Boosting System // KDD ’16. ACM, 2016. P. 785–794.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4.  Pearl J. Probabilistic Reasoning in Intelligent Systems: Networks of Plausible Inference. Morgan Kaufmann, 1988.</a:t>
            </a:r>
          </a:p>
          <a:p>
            <a:pPr algn="l">
              <a:spcAft>
                <a:spcPts val="400"/>
              </a:spcAft>
            </a:pPr>
            <a:r>
              <a:rPr sz="1100" b="0" i="0">
                <a:solidFill>
                  <a:srgbClr val="000000"/>
                </a:solidFill>
                <a:latin typeface="Times New Roman"/>
              </a:rPr>
              <a:t>5.  Ratner A. et al. Snorkel: Rapid Training Data Creation with Weak Supervision // VLDB Endowment. 2017.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