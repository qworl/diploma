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3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3374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5144750" y="838200"/>
            <a:ext cx="2095500" cy="20178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1371600"/>
            <a:ext cx="139312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126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МОСКОВСКИЙ АВИАЦИОННЫЙ ИНСТИТУТ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1047750" y="1752600"/>
            <a:ext cx="139312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1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НАЦИОНАЛЬНЫЙ ИССЛЕДОВАТЕЛЬСКИЙ УНИВЕРСИТЕТ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047750" y="2209800"/>
            <a:ext cx="1393126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10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ИНСТИТУТ № 8 «ИНФОРМАЦИОННЫЕ ТЕХНОЛОГИИ И ПРИКЛАДНАЯ МАТЕМАТИКА» · КАФЕДРА 806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804862" y="3788718"/>
            <a:ext cx="166782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kern="0" spc="42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ВЫПУСКНАЯ КВАЛИФИКАЦИОННАЯ РАБОТА МАГИСТРА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785938" y="4398318"/>
            <a:ext cx="14716125" cy="2719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6900" kern="0" spc="-172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автоматизированного обогащения товарных данных для интернет-магазина</a:t>
            </a:r>
            <a:endParaRPr lang="en-US" sz="6900" dirty="0"/>
          </a:p>
        </p:txBody>
      </p:sp>
      <p:sp>
        <p:nvSpPr>
          <p:cNvPr id="8" name="Shape 5"/>
          <p:cNvSpPr/>
          <p:nvPr/>
        </p:nvSpPr>
        <p:spPr>
          <a:xfrm>
            <a:off x="1047750" y="8048625"/>
            <a:ext cx="16192500" cy="9525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9" name="Text 6"/>
          <p:cNvSpPr/>
          <p:nvPr/>
        </p:nvSpPr>
        <p:spPr>
          <a:xfrm>
            <a:off x="1047750" y="8324850"/>
            <a:ext cx="806443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047750" y="8763000"/>
            <a:ext cx="806443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Фролов Михаил Александрович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047750" y="9144000"/>
            <a:ext cx="806443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Группа М8О-206СВ-24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410700" y="8324850"/>
            <a:ext cx="806443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НАУЧНЫЙ РУКОВОДИТЕЛЬ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410700" y="8763000"/>
            <a:ext cx="806443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Судаков Владимир Анатольевич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9410700" y="9144000"/>
            <a:ext cx="806443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д.т.н., профессор кафедры 806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85800"/>
            <a:ext cx="578644" cy="400050"/>
          </a:xfrm>
          <a:prstGeom prst="rect">
            <a:avLst/>
          </a:prstGeom>
          <a:solidFill>
            <a:srgbClr val="1A2438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733425"/>
            <a:ext cx="4262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F5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664494" y="733425"/>
            <a:ext cx="185261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12356" y="881063"/>
            <a:ext cx="133350" cy="9525"/>
          </a:xfrm>
          <a:prstGeom prst="rect">
            <a:avLst/>
          </a:prstGeom>
          <a:solidFill>
            <a:srgbClr val="2A344C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917156" y="733425"/>
            <a:ext cx="39063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 ТЕМЫ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1257300"/>
            <a:ext cx="16459200" cy="9525"/>
          </a:xfrm>
          <a:prstGeom prst="rect">
            <a:avLst/>
          </a:prstGeom>
          <a:solidFill>
            <a:srgbClr val="16203A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90675"/>
            <a:ext cx="1471612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106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товара — центр цифровой витрины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914400" y="2402086"/>
            <a:ext cx="1471612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полноты карточки зависят поиск, ранжирование и конверсия. Партнёрский ввод неоднороден, пробелы исторически закрывают контент-менеджеры вручную — и этот подход не масштабируется.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" y="3537347"/>
            <a:ext cx="5308550" cy="1914376"/>
          </a:xfrm>
          <a:prstGeom prst="rect">
            <a:avLst/>
          </a:prstGeom>
          <a:solidFill>
            <a:srgbClr val="EFEAD9"/>
          </a:solidFill>
          <a:ln w="9525">
            <a:solidFill>
              <a:srgbClr val="DC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8725" y="3765947"/>
            <a:ext cx="618083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500" kern="0" spc="-203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1865858" y="4070747"/>
            <a:ext cx="1055191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100" kern="0" spc="-21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трлн ₽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28725" y="4413647"/>
            <a:ext cx="482029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Годовой объём e-commerce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28725" y="4828877"/>
            <a:ext cx="4820297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Россия, 2024–2025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6489650" y="3537347"/>
            <a:ext cx="5308550" cy="1914376"/>
          </a:xfrm>
          <a:prstGeom prst="rect">
            <a:avLst/>
          </a:prstGeom>
          <a:solidFill>
            <a:srgbClr val="EFEAD9"/>
          </a:solidFill>
          <a:ln w="9525">
            <a:solidFill>
              <a:srgbClr val="DC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03975" y="3765947"/>
            <a:ext cx="952649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500" kern="0" spc="-203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3–7</a:t>
            </a:r>
            <a:endParaRPr lang="en-US" sz="4500" dirty="0"/>
          </a:p>
        </p:txBody>
      </p:sp>
      <p:sp>
        <p:nvSpPr>
          <p:cNvPr id="17" name="Text 15"/>
          <p:cNvSpPr/>
          <p:nvPr/>
        </p:nvSpPr>
        <p:spPr>
          <a:xfrm>
            <a:off x="7775674" y="4070747"/>
            <a:ext cx="547836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100" kern="0" spc="-21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803975" y="4413647"/>
            <a:ext cx="482029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Ручной труд оператора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803975" y="4828877"/>
            <a:ext cx="4820297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одну карточку товара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2064901" y="3537347"/>
            <a:ext cx="5308550" cy="1914376"/>
          </a:xfrm>
          <a:prstGeom prst="rect">
            <a:avLst/>
          </a:prstGeom>
          <a:solidFill>
            <a:srgbClr val="EFEAD9"/>
          </a:solidFill>
          <a:ln w="9525">
            <a:solidFill>
              <a:srgbClr val="DC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79226" y="3813572"/>
            <a:ext cx="793849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500" kern="0" spc="-203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r>
              <a:rPr lang="en-US" sz="2250" kern="0" spc="-203" baseline="3000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500" dirty="0"/>
          </a:p>
        </p:txBody>
      </p:sp>
      <p:sp>
        <p:nvSpPr>
          <p:cNvPr id="22" name="Text 20"/>
          <p:cNvSpPr/>
          <p:nvPr/>
        </p:nvSpPr>
        <p:spPr>
          <a:xfrm>
            <a:off x="13192125" y="4070747"/>
            <a:ext cx="106933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100" kern="0" spc="-21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позиций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2379226" y="4413647"/>
            <a:ext cx="482029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Каталоги крупных магазинов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379226" y="4828877"/>
            <a:ext cx="4820297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тысячи новинок ежедневно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14400" y="5699373"/>
            <a:ext cx="16459200" cy="25050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8194923"/>
            <a:ext cx="16459200" cy="952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27" name="Shape 25"/>
          <p:cNvSpPr/>
          <p:nvPr/>
        </p:nvSpPr>
        <p:spPr>
          <a:xfrm>
            <a:off x="914400" y="5699373"/>
            <a:ext cx="16459200" cy="952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28" name="Shape 26"/>
          <p:cNvSpPr/>
          <p:nvPr/>
        </p:nvSpPr>
        <p:spPr>
          <a:xfrm>
            <a:off x="914400" y="5699373"/>
            <a:ext cx="57150" cy="2505075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29" name="Shape 27"/>
          <p:cNvSpPr/>
          <p:nvPr/>
        </p:nvSpPr>
        <p:spPr>
          <a:xfrm>
            <a:off x="17364075" y="5699373"/>
            <a:ext cx="9525" cy="250507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30" name="Text 28"/>
          <p:cNvSpPr/>
          <p:nvPr/>
        </p:nvSpPr>
        <p:spPr>
          <a:xfrm>
            <a:off x="1314450" y="5994648"/>
            <a:ext cx="496745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168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СПРОС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314450" y="6394698"/>
            <a:ext cx="4967459" cy="1173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карточка </a:t>
            </a: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базовый фактор ранжирования и конверсии; каталог растёт непрерывно.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6442025" y="5994648"/>
            <a:ext cx="9525" cy="191452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33" name="Text 31"/>
          <p:cNvSpPr/>
          <p:nvPr/>
        </p:nvSpPr>
        <p:spPr>
          <a:xfrm>
            <a:off x="6756350" y="5994648"/>
            <a:ext cx="496745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168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6756350" y="6394698"/>
            <a:ext cx="4967459" cy="1173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Партнёры присылают </a:t>
            </a: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неоднородные выгрузки </a:t>
            </a: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разные форматы, единицы, пропуски в ключевых полях.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11883926" y="5994648"/>
            <a:ext cx="9525" cy="191452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36" name="Text 34"/>
          <p:cNvSpPr/>
          <p:nvPr/>
        </p:nvSpPr>
        <p:spPr>
          <a:xfrm>
            <a:off x="12198251" y="5994648"/>
            <a:ext cx="496761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168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РАЗРЫВ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12198251" y="6394698"/>
            <a:ext cx="4967612" cy="1552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Ручной цикл </a:t>
            </a: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масштабируется </a:t>
            </a: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рост каталога; бюджет и физическая выносливость оператора — жёсткие потолки.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16333887" y="9639300"/>
            <a:ext cx="11159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52" dirty="0">
                <a:solidFill>
                  <a:srgbClr val="16203A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21</a:t>
            </a:r>
            <a:endParaRPr lang="en-US" sz="2100" dirty="0"/>
          </a:p>
        </p:txBody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16459200" y="342900"/>
            <a:ext cx="914400" cy="8804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85800"/>
            <a:ext cx="578644" cy="400050"/>
          </a:xfrm>
          <a:prstGeom prst="rect">
            <a:avLst/>
          </a:prstGeom>
          <a:solidFill>
            <a:srgbClr val="1A2438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733425"/>
            <a:ext cx="4262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F5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664494" y="733425"/>
            <a:ext cx="168518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АНАЛОГИ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444925" y="881063"/>
            <a:ext cx="133350" cy="9525"/>
          </a:xfrm>
          <a:prstGeom prst="rect">
            <a:avLst/>
          </a:prstGeom>
          <a:solidFill>
            <a:srgbClr val="2A344C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749725" y="733425"/>
            <a:ext cx="642282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СУЩЕСТВУЮЩИХ РЕШЕНИЙ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1257300"/>
            <a:ext cx="16459200" cy="9525"/>
          </a:xfrm>
          <a:prstGeom prst="rect">
            <a:avLst/>
          </a:prstGeom>
          <a:solidFill>
            <a:srgbClr val="16203A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90675"/>
            <a:ext cx="14716125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106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Существующие подходы либо не извлекают атрибуты, либо делают это дорого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914400" y="3232547"/>
            <a:ext cx="16459200" cy="520065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9162" y="3237309"/>
            <a:ext cx="4605784" cy="733425"/>
          </a:xfrm>
          <a:prstGeom prst="rect">
            <a:avLst/>
          </a:prstGeom>
          <a:solidFill>
            <a:srgbClr val="EFEAD9"/>
          </a:solidFill>
          <a:ln/>
        </p:spPr>
      </p:sp>
      <p:sp>
        <p:nvSpPr>
          <p:cNvPr id="11" name="Shape 9"/>
          <p:cNvSpPr/>
          <p:nvPr/>
        </p:nvSpPr>
        <p:spPr>
          <a:xfrm>
            <a:off x="919162" y="3961209"/>
            <a:ext cx="4605784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12" name="Text 10"/>
          <p:cNvSpPr/>
          <p:nvPr/>
        </p:nvSpPr>
        <p:spPr>
          <a:xfrm>
            <a:off x="1166812" y="3446859"/>
            <a:ext cx="42486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524946" y="3237309"/>
            <a:ext cx="6579840" cy="733425"/>
          </a:xfrm>
          <a:prstGeom prst="rect">
            <a:avLst/>
          </a:prstGeom>
          <a:solidFill>
            <a:srgbClr val="EFEAD9"/>
          </a:solidFill>
          <a:ln/>
        </p:spPr>
      </p:sp>
      <p:sp>
        <p:nvSpPr>
          <p:cNvPr id="14" name="Shape 12"/>
          <p:cNvSpPr/>
          <p:nvPr/>
        </p:nvSpPr>
        <p:spPr>
          <a:xfrm>
            <a:off x="5524946" y="3961209"/>
            <a:ext cx="6579840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15" name="Text 13"/>
          <p:cNvSpPr/>
          <p:nvPr/>
        </p:nvSpPr>
        <p:spPr>
          <a:xfrm>
            <a:off x="5772596" y="3446859"/>
            <a:ext cx="62819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ПОДХОД К ОБОГАЩЕНИЮ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2104787" y="3237309"/>
            <a:ext cx="5264051" cy="733425"/>
          </a:xfrm>
          <a:prstGeom prst="rect">
            <a:avLst/>
          </a:prstGeom>
          <a:solidFill>
            <a:srgbClr val="EFEAD9"/>
          </a:solidFill>
          <a:ln/>
        </p:spPr>
      </p:sp>
      <p:sp>
        <p:nvSpPr>
          <p:cNvPr id="17" name="Shape 15"/>
          <p:cNvSpPr/>
          <p:nvPr/>
        </p:nvSpPr>
        <p:spPr>
          <a:xfrm>
            <a:off x="12104787" y="3961209"/>
            <a:ext cx="5264051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18" name="Text 16"/>
          <p:cNvSpPr/>
          <p:nvPr/>
        </p:nvSpPr>
        <p:spPr>
          <a:xfrm>
            <a:off x="12352437" y="3446859"/>
            <a:ext cx="49266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ОГРАНИЧЕНИЕ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19162" y="4999434"/>
            <a:ext cx="4605784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20" name="Text 18"/>
          <p:cNvSpPr/>
          <p:nvPr/>
        </p:nvSpPr>
        <p:spPr>
          <a:xfrm>
            <a:off x="1166812" y="4180284"/>
            <a:ext cx="424865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Akeneo / Pimcore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5524946" y="4999434"/>
            <a:ext cx="6579840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22" name="Text 20"/>
          <p:cNvSpPr/>
          <p:nvPr/>
        </p:nvSpPr>
        <p:spPr>
          <a:xfrm>
            <a:off x="5772596" y="4180284"/>
            <a:ext cx="628193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Хранилище и редактор готовой товарной информации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2104787" y="4999434"/>
            <a:ext cx="5264051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24" name="Text 22"/>
          <p:cNvSpPr/>
          <p:nvPr/>
        </p:nvSpPr>
        <p:spPr>
          <a:xfrm>
            <a:off x="12352437" y="4180284"/>
            <a:ext cx="492667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Извлечение атрибутов из сырого ввода не решается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19162" y="6037659"/>
            <a:ext cx="4605784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26" name="Text 24"/>
          <p:cNvSpPr/>
          <p:nvPr/>
        </p:nvSpPr>
        <p:spPr>
          <a:xfrm>
            <a:off x="1166812" y="5218509"/>
            <a:ext cx="424865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Salsify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5524946" y="6037659"/>
            <a:ext cx="6579840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28" name="Text 26"/>
          <p:cNvSpPr/>
          <p:nvPr/>
        </p:nvSpPr>
        <p:spPr>
          <a:xfrm>
            <a:off x="5772596" y="5218509"/>
            <a:ext cx="628193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 с синдикацией и обменом данными с партнёрами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12104787" y="6037659"/>
            <a:ext cx="5264051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30" name="Text 28"/>
          <p:cNvSpPr/>
          <p:nvPr/>
        </p:nvSpPr>
        <p:spPr>
          <a:xfrm>
            <a:off x="12352437" y="5218509"/>
            <a:ext cx="492667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Автообогащение — внешний модуль поверх одной LLM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919162" y="7075884"/>
            <a:ext cx="4605784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32" name="Text 30"/>
          <p:cNvSpPr/>
          <p:nvPr/>
        </p:nvSpPr>
        <p:spPr>
          <a:xfrm>
            <a:off x="1166812" y="6256734"/>
            <a:ext cx="424865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Прямой вызов LLM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5524946" y="7075884"/>
            <a:ext cx="6579840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34" name="Text 32"/>
          <p:cNvSpPr/>
          <p:nvPr/>
        </p:nvSpPr>
        <p:spPr>
          <a:xfrm>
            <a:off x="5772596" y="6256734"/>
            <a:ext cx="628193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публичная LLM вызывается на каждое поле товара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12104787" y="7075884"/>
            <a:ext cx="5264051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36" name="Text 34"/>
          <p:cNvSpPr/>
          <p:nvPr/>
        </p:nvSpPr>
        <p:spPr>
          <a:xfrm>
            <a:off x="12352437" y="6256734"/>
            <a:ext cx="492667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Дорого на больших каталогах; ошибки на числах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1166812" y="7294959"/>
            <a:ext cx="4248658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Ручная разметка / краудсорсинг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5772596" y="7294959"/>
            <a:ext cx="6281935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Контент-менеджеры и внешние исполнители (Яндекс Толока и аналоги) заполняют поля вручную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12352437" y="7294959"/>
            <a:ext cx="4926672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масштабируется на миллионы SKU; неоднородное качество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16333887" y="9639300"/>
            <a:ext cx="11159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52" dirty="0">
                <a:solidFill>
                  <a:srgbClr val="16203A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21</a:t>
            </a:r>
            <a:endParaRPr lang="en-US" sz="2100" dirty="0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16459200" y="342900"/>
            <a:ext cx="914400" cy="8804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85800"/>
            <a:ext cx="578644" cy="400050"/>
          </a:xfrm>
          <a:prstGeom prst="rect">
            <a:avLst/>
          </a:prstGeom>
          <a:solidFill>
            <a:srgbClr val="1A2438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733425"/>
            <a:ext cx="4262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F5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664494" y="733425"/>
            <a:ext cx="23822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ПОСТАНОВКА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42036" y="881063"/>
            <a:ext cx="133350" cy="9525"/>
          </a:xfrm>
          <a:prstGeom prst="rect">
            <a:avLst/>
          </a:prstGeom>
          <a:solidFill>
            <a:srgbClr val="2A344C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446836" y="733425"/>
            <a:ext cx="25201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РАБОТЫ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1257300"/>
            <a:ext cx="16459200" cy="9525"/>
          </a:xfrm>
          <a:prstGeom prst="rect">
            <a:avLst/>
          </a:prstGeom>
          <a:solidFill>
            <a:srgbClr val="16203A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90675"/>
            <a:ext cx="1471612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106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Снять с контент‑менеджеров рутину обогащения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914400" y="4632127"/>
            <a:ext cx="16459200" cy="30057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7628334"/>
            <a:ext cx="16459200" cy="9525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4632127"/>
            <a:ext cx="16459200" cy="9525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4632127"/>
            <a:ext cx="57150" cy="3005733"/>
          </a:xfrm>
          <a:prstGeom prst="rect">
            <a:avLst/>
          </a:prstGeom>
          <a:solidFill>
            <a:srgbClr val="B05E2A"/>
          </a:solidFill>
          <a:ln/>
        </p:spPr>
      </p:sp>
      <p:sp>
        <p:nvSpPr>
          <p:cNvPr id="13" name="Shape 11"/>
          <p:cNvSpPr/>
          <p:nvPr/>
        </p:nvSpPr>
        <p:spPr>
          <a:xfrm>
            <a:off x="17364075" y="4632127"/>
            <a:ext cx="9525" cy="3005733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14" name="Text 12"/>
          <p:cNvSpPr/>
          <p:nvPr/>
        </p:nvSpPr>
        <p:spPr>
          <a:xfrm>
            <a:off x="1504950" y="5958780"/>
            <a:ext cx="353187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528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РАБОТЫ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391150" y="5098852"/>
            <a:ext cx="11782711" cy="2110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300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</a:t>
            </a:r>
            <a:r>
              <a:rPr lang="en-US" sz="30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гибридную каскадную систему </a:t>
            </a:r>
            <a:r>
              <a:rPr lang="en-US" sz="300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обогащения товарных данных с высокой точностью извлечения атрибутов, сокращённой стоимостью обращения к LLM и поддержкой открытых моделей.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6333887" y="9639300"/>
            <a:ext cx="11159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52" dirty="0">
                <a:solidFill>
                  <a:srgbClr val="16203A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21</a:t>
            </a:r>
            <a:endParaRPr lang="en-US" sz="21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16459200" y="342900"/>
            <a:ext cx="914400" cy="8804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85800"/>
            <a:ext cx="578644" cy="400050"/>
          </a:xfrm>
          <a:prstGeom prst="rect">
            <a:avLst/>
          </a:prstGeom>
          <a:solidFill>
            <a:srgbClr val="1A2438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733425"/>
            <a:ext cx="4262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F5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664494" y="733425"/>
            <a:ext cx="23822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ПОСТАНОВКА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42036" y="881063"/>
            <a:ext cx="133350" cy="9525"/>
          </a:xfrm>
          <a:prstGeom prst="rect">
            <a:avLst/>
          </a:prstGeom>
          <a:solidFill>
            <a:srgbClr val="2A344C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446836" y="733425"/>
            <a:ext cx="295564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РАБОТЫ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1257300"/>
            <a:ext cx="16459200" cy="9525"/>
          </a:xfrm>
          <a:prstGeom prst="rect">
            <a:avLst/>
          </a:prstGeom>
          <a:solidFill>
            <a:srgbClr val="16203A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90675"/>
            <a:ext cx="1471612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106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архитектуры до демокомплекса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914400" y="2592586"/>
            <a:ext cx="16459200" cy="6374011"/>
          </a:xfrm>
          <a:prstGeom prst="rect">
            <a:avLst/>
          </a:prstGeom>
          <a:solidFill>
            <a:srgbClr val="FFFFFF"/>
          </a:solidFill>
          <a:ln w="9525">
            <a:solidFill>
              <a:srgbClr val="DCD4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3925" y="3897511"/>
            <a:ext cx="16440150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11" name="Text 9"/>
          <p:cNvSpPr/>
          <p:nvPr/>
        </p:nvSpPr>
        <p:spPr>
          <a:xfrm>
            <a:off x="1266825" y="3002161"/>
            <a:ext cx="11239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kern="0" spc="-156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2619375" y="2929830"/>
            <a:ext cx="451294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Спроектировать архитектуру системы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305675" y="2849761"/>
            <a:ext cx="1000696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Гибридный каскад с многоуровневой фильтрацией по уверенности и явным разделением слоёв.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23925" y="5202436"/>
            <a:ext cx="16440150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15" name="Text 13"/>
          <p:cNvSpPr/>
          <p:nvPr/>
        </p:nvSpPr>
        <p:spPr>
          <a:xfrm>
            <a:off x="1266825" y="4307086"/>
            <a:ext cx="11239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kern="0" spc="-156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2619375" y="4394746"/>
            <a:ext cx="45129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слои каскада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305675" y="4154686"/>
            <a:ext cx="1000696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Регулярные выражения, классификатор ML на эмбеддингах, байесовский валидатор и запасной слой на LLM.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23925" y="6507361"/>
            <a:ext cx="16440150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19" name="Text 17"/>
          <p:cNvSpPr/>
          <p:nvPr/>
        </p:nvSpPr>
        <p:spPr>
          <a:xfrm>
            <a:off x="1266825" y="5612011"/>
            <a:ext cx="11239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kern="0" spc="-156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900" dirty="0"/>
          </a:p>
        </p:txBody>
      </p:sp>
      <p:sp>
        <p:nvSpPr>
          <p:cNvPr id="20" name="Text 18"/>
          <p:cNvSpPr/>
          <p:nvPr/>
        </p:nvSpPr>
        <p:spPr>
          <a:xfrm>
            <a:off x="2619375" y="5699671"/>
            <a:ext cx="45129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Построить эталонную выборку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305675" y="5459611"/>
            <a:ext cx="1000696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Разметка трёх категорий без пересечения брендов: слабый надзор OFF, согласие LLM, слепая ре-разметка.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23925" y="7812286"/>
            <a:ext cx="16440150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23" name="Text 21"/>
          <p:cNvSpPr/>
          <p:nvPr/>
        </p:nvSpPr>
        <p:spPr>
          <a:xfrm>
            <a:off x="1266825" y="6916936"/>
            <a:ext cx="11239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kern="0" spc="-156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900" dirty="0"/>
          </a:p>
        </p:txBody>
      </p:sp>
      <p:sp>
        <p:nvSpPr>
          <p:cNvPr id="24" name="Text 22"/>
          <p:cNvSpPr/>
          <p:nvPr/>
        </p:nvSpPr>
        <p:spPr>
          <a:xfrm>
            <a:off x="2619375" y="7004596"/>
            <a:ext cx="45129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Провести оценку качества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305675" y="6764536"/>
            <a:ext cx="1000696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Точность, покрытие и стоимость; сравнение с прямым вызовом LLM; вклад каждого слоя.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66825" y="8141791"/>
            <a:ext cx="11239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kern="0" spc="-156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900" dirty="0"/>
          </a:p>
        </p:txBody>
      </p:sp>
      <p:sp>
        <p:nvSpPr>
          <p:cNvPr id="27" name="Text 25"/>
          <p:cNvSpPr/>
          <p:nvPr/>
        </p:nvSpPr>
        <p:spPr>
          <a:xfrm>
            <a:off x="2619375" y="8069461"/>
            <a:ext cx="451294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 демонстрационный комплекс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7305675" y="8189416"/>
            <a:ext cx="1000696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Веб-интерфейс оператора и API; три сценария развёртывания Слоя 4.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6333887" y="9639300"/>
            <a:ext cx="11159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52" dirty="0">
                <a:solidFill>
                  <a:srgbClr val="16203A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21</a:t>
            </a:r>
            <a:endParaRPr lang="en-US" sz="21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16459200" y="342900"/>
            <a:ext cx="914400" cy="8804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85800"/>
            <a:ext cx="578644" cy="400050"/>
          </a:xfrm>
          <a:prstGeom prst="rect">
            <a:avLst/>
          </a:prstGeom>
          <a:solidFill>
            <a:srgbClr val="1A2438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733425"/>
            <a:ext cx="4262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F5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664494" y="733425"/>
            <a:ext cx="23822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ПОСТАНОВКА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42036" y="881063"/>
            <a:ext cx="133350" cy="9525"/>
          </a:xfrm>
          <a:prstGeom prst="rect">
            <a:avLst/>
          </a:prstGeom>
          <a:solidFill>
            <a:srgbClr val="2A344C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446836" y="733425"/>
            <a:ext cx="80831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 ТРЕБОВАНИЯ · USE CASE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1257300"/>
            <a:ext cx="16459200" cy="9525"/>
          </a:xfrm>
          <a:prstGeom prst="rect">
            <a:avLst/>
          </a:prstGeom>
          <a:solidFill>
            <a:srgbClr val="16203A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90675"/>
            <a:ext cx="1471612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106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 пользователей и функции системы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914400" y="2325886"/>
            <a:ext cx="1471612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диаграмма по UML 2.5: акторы, функции ПС и потоки данных.</a:t>
            </a:r>
            <a:endParaRPr lang="en-US" sz="2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3020764"/>
            <a:ext cx="16459200" cy="648176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333887" y="9639300"/>
            <a:ext cx="11159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52" dirty="0">
                <a:solidFill>
                  <a:srgbClr val="16203A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21</a:t>
            </a:r>
            <a:endParaRPr lang="en-US" sz="2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alphaModFix amt="92000"/>
          </a:blip>
          <a:stretch>
            <a:fillRect/>
          </a:stretch>
        </p:blipFill>
        <p:spPr>
          <a:xfrm>
            <a:off x="16459200" y="342900"/>
            <a:ext cx="914400" cy="8804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85800"/>
            <a:ext cx="578644" cy="400050"/>
          </a:xfrm>
          <a:prstGeom prst="rect">
            <a:avLst/>
          </a:prstGeom>
          <a:solidFill>
            <a:srgbClr val="1A2438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733425"/>
            <a:ext cx="4262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F5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664494" y="733425"/>
            <a:ext cx="23822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ПОСТАНОВКА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42036" y="881063"/>
            <a:ext cx="133350" cy="9525"/>
          </a:xfrm>
          <a:prstGeom prst="rect">
            <a:avLst/>
          </a:prstGeom>
          <a:solidFill>
            <a:srgbClr val="2A344C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446836" y="733425"/>
            <a:ext cx="70753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 · ПРЕДМЕТ · ПРЕДПОЛОЖЕНИЕ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1257300"/>
            <a:ext cx="16459200" cy="9525"/>
          </a:xfrm>
          <a:prstGeom prst="rect">
            <a:avLst/>
          </a:prstGeom>
          <a:solidFill>
            <a:srgbClr val="16203A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90675"/>
            <a:ext cx="14716125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106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Объект, предмет и рабочее предположение исследования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914400" y="3232547"/>
            <a:ext cx="16459200" cy="16405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4863554"/>
            <a:ext cx="16459200" cy="952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232547"/>
            <a:ext cx="16459200" cy="952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3232547"/>
            <a:ext cx="57150" cy="1640532"/>
          </a:xfrm>
          <a:prstGeom prst="rect">
            <a:avLst/>
          </a:prstGeom>
          <a:solidFill>
            <a:srgbClr val="2E7D5E"/>
          </a:solidFill>
          <a:ln/>
        </p:spPr>
      </p:sp>
      <p:sp>
        <p:nvSpPr>
          <p:cNvPr id="13" name="Shape 11"/>
          <p:cNvSpPr/>
          <p:nvPr/>
        </p:nvSpPr>
        <p:spPr>
          <a:xfrm>
            <a:off x="17364075" y="3232547"/>
            <a:ext cx="9525" cy="1640532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1352550" y="3900339"/>
            <a:ext cx="45129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168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 ИССЛЕДОВАНИЯ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076950" y="3508772"/>
            <a:ext cx="11233309" cy="112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210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Процессы наполнения карточек товаров атрибутами в каталогах интернет‑магазинов, включающие обработку партнёрских описаний и поддержание полноты атрибутивной модели.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5082629"/>
            <a:ext cx="16459200" cy="16405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6713637"/>
            <a:ext cx="16459200" cy="952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5082629"/>
            <a:ext cx="16459200" cy="952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5082629"/>
            <a:ext cx="57150" cy="1640532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20" name="Shape 18"/>
          <p:cNvSpPr/>
          <p:nvPr/>
        </p:nvSpPr>
        <p:spPr>
          <a:xfrm>
            <a:off x="17364075" y="5082629"/>
            <a:ext cx="9525" cy="1640532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21" name="Text 19"/>
          <p:cNvSpPr/>
          <p:nvPr/>
        </p:nvSpPr>
        <p:spPr>
          <a:xfrm>
            <a:off x="1352550" y="5750421"/>
            <a:ext cx="45129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168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 ИССЛЕДОВАНИЯ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076950" y="5358854"/>
            <a:ext cx="11233309" cy="112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210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и алгоритмы автоматизированного извлечения товарных атрибутов из неструктурированных партнёрских описаний на основе композиции детерминированных, вероятностных и языковых моделей.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14400" y="6932712"/>
            <a:ext cx="16459200" cy="2066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" y="8990112"/>
            <a:ext cx="16459200" cy="9525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" y="6932712"/>
            <a:ext cx="16459200" cy="9525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6932712"/>
            <a:ext cx="57150" cy="2066925"/>
          </a:xfrm>
          <a:prstGeom prst="rect">
            <a:avLst/>
          </a:prstGeom>
          <a:solidFill>
            <a:srgbClr val="B05E2A"/>
          </a:solidFill>
          <a:ln/>
        </p:spPr>
      </p:sp>
      <p:sp>
        <p:nvSpPr>
          <p:cNvPr id="27" name="Shape 25"/>
          <p:cNvSpPr/>
          <p:nvPr/>
        </p:nvSpPr>
        <p:spPr>
          <a:xfrm>
            <a:off x="17364075" y="6932712"/>
            <a:ext cx="9525" cy="2066925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28" name="Text 26"/>
          <p:cNvSpPr/>
          <p:nvPr/>
        </p:nvSpPr>
        <p:spPr>
          <a:xfrm>
            <a:off x="1352550" y="7813774"/>
            <a:ext cx="45129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168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ГИПОТЕЗА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6076950" y="7208937"/>
            <a:ext cx="11233309" cy="1552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Композиция слоёв </a:t>
            </a:r>
            <a:r>
              <a:rPr lang="en-US" sz="210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(регулярные правила → классификатор на эмбеддингах → байесовский валидатор → запасной слой LLM) </a:t>
            </a: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обеспечивает </a:t>
            </a:r>
            <a:r>
              <a:rPr lang="en-US" sz="210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точность извлечения, сравнимую с прямым вызовом LLM, при </a:t>
            </a: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кратно меньшей </a:t>
            </a:r>
            <a:r>
              <a:rPr lang="en-US" sz="210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доле LLM‑вызовов и архитектурной независимости от вендора.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6333887" y="9639300"/>
            <a:ext cx="11159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52" dirty="0">
                <a:solidFill>
                  <a:srgbClr val="16203A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21</a:t>
            </a:r>
            <a:endParaRPr lang="en-US" sz="21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16459200" y="342900"/>
            <a:ext cx="914400" cy="8804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85800"/>
            <a:ext cx="578644" cy="400050"/>
          </a:xfrm>
          <a:prstGeom prst="rect">
            <a:avLst/>
          </a:prstGeom>
          <a:solidFill>
            <a:srgbClr val="1A2438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733425"/>
            <a:ext cx="4262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F5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664494" y="733425"/>
            <a:ext cx="23822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ПОСТАНОВКА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42036" y="881063"/>
            <a:ext cx="133350" cy="9525"/>
          </a:xfrm>
          <a:prstGeom prst="rect">
            <a:avLst/>
          </a:prstGeom>
          <a:solidFill>
            <a:srgbClr val="2A344C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446836" y="733425"/>
            <a:ext cx="45199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ИССЛЕДОВАНИЯ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1257300"/>
            <a:ext cx="16459200" cy="9525"/>
          </a:xfrm>
          <a:prstGeom prst="rect">
            <a:avLst/>
          </a:prstGeom>
          <a:solidFill>
            <a:srgbClr val="16203A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90675"/>
            <a:ext cx="1471612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106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исследования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914400" y="2402086"/>
            <a:ext cx="1471612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Комплекс методов системного анализа, машинного обучения и экспериментальной оценки, обеспечивающий обоснованность результатов работы.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" y="3537347"/>
            <a:ext cx="5359301" cy="3190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718697"/>
            <a:ext cx="5359301" cy="952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3537347"/>
            <a:ext cx="5359301" cy="38100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37347"/>
            <a:ext cx="9525" cy="319087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4176" y="3537347"/>
            <a:ext cx="9525" cy="319087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1171575" y="3784997"/>
            <a:ext cx="499029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62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АНАЛИЗ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171575" y="4165997"/>
            <a:ext cx="4990299" cy="352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Системный анализ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171575" y="4575870"/>
            <a:ext cx="4990299" cy="1971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Декомпозиция процесса наполнения каталога, выявление пробелов партнёрского входа и неэффективности изолированных технологий.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464201" y="3537347"/>
            <a:ext cx="5359450" cy="3190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464201" y="6718697"/>
            <a:ext cx="5359450" cy="952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64201" y="3537347"/>
            <a:ext cx="5359450" cy="38100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21" name="Shape 19"/>
          <p:cNvSpPr/>
          <p:nvPr/>
        </p:nvSpPr>
        <p:spPr>
          <a:xfrm>
            <a:off x="6464201" y="3537347"/>
            <a:ext cx="9525" cy="319087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22" name="Shape 20"/>
          <p:cNvSpPr/>
          <p:nvPr/>
        </p:nvSpPr>
        <p:spPr>
          <a:xfrm>
            <a:off x="11814125" y="3537347"/>
            <a:ext cx="9525" cy="319087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23" name="Text 21"/>
          <p:cNvSpPr/>
          <p:nvPr/>
        </p:nvSpPr>
        <p:spPr>
          <a:xfrm>
            <a:off x="6721376" y="3784997"/>
            <a:ext cx="49904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62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ТРЕБОВАНИЯ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721376" y="4165997"/>
            <a:ext cx="4990453" cy="352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требованиями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721376" y="4575870"/>
            <a:ext cx="4990453" cy="158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Функционально‑технические требования к каскаду, формальная постановка задачи извлечения атрибутов.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2014150" y="3537347"/>
            <a:ext cx="5359450" cy="3190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12014150" y="6718697"/>
            <a:ext cx="5359450" cy="952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28" name="Shape 26"/>
          <p:cNvSpPr/>
          <p:nvPr/>
        </p:nvSpPr>
        <p:spPr>
          <a:xfrm>
            <a:off x="12014150" y="3537347"/>
            <a:ext cx="5359450" cy="38100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29" name="Shape 27"/>
          <p:cNvSpPr/>
          <p:nvPr/>
        </p:nvSpPr>
        <p:spPr>
          <a:xfrm>
            <a:off x="12014150" y="3537347"/>
            <a:ext cx="9525" cy="319087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30" name="Shape 28"/>
          <p:cNvSpPr/>
          <p:nvPr/>
        </p:nvSpPr>
        <p:spPr>
          <a:xfrm>
            <a:off x="17364075" y="3537347"/>
            <a:ext cx="9525" cy="319087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31" name="Text 29"/>
          <p:cNvSpPr/>
          <p:nvPr/>
        </p:nvSpPr>
        <p:spPr>
          <a:xfrm>
            <a:off x="12271325" y="3784997"/>
            <a:ext cx="49904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62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ПРОЕКТИРОВАНИЕ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2271325" y="4165997"/>
            <a:ext cx="4990453" cy="352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Теория проектирования ПО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2271325" y="4575870"/>
            <a:ext cx="4990453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Архитектурное проектирование многослойных систем; разделение ответственности по уровням C4.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14400" y="6918722"/>
            <a:ext cx="5359301" cy="28042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914400" y="9713416"/>
            <a:ext cx="5359301" cy="952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36" name="Shape 34"/>
          <p:cNvSpPr/>
          <p:nvPr/>
        </p:nvSpPr>
        <p:spPr>
          <a:xfrm>
            <a:off x="914400" y="6918722"/>
            <a:ext cx="5359301" cy="3810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37" name="Shape 35"/>
          <p:cNvSpPr/>
          <p:nvPr/>
        </p:nvSpPr>
        <p:spPr>
          <a:xfrm>
            <a:off x="914400" y="6918722"/>
            <a:ext cx="9525" cy="2804220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38" name="Shape 36"/>
          <p:cNvSpPr/>
          <p:nvPr/>
        </p:nvSpPr>
        <p:spPr>
          <a:xfrm>
            <a:off x="6264176" y="6918722"/>
            <a:ext cx="9525" cy="2804220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39" name="Text 37"/>
          <p:cNvSpPr/>
          <p:nvPr/>
        </p:nvSpPr>
        <p:spPr>
          <a:xfrm>
            <a:off x="1171575" y="7166372"/>
            <a:ext cx="499029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62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ML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1171575" y="7547372"/>
            <a:ext cx="4990299" cy="352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Машинное обучение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1171575" y="7957245"/>
            <a:ext cx="4990299" cy="158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 на эмбеддингах (XGBoost), байесовская валидация апостериорных вероятностей, few‑shot prompting LLM.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6464201" y="6918722"/>
            <a:ext cx="5359450" cy="28042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6464201" y="9713416"/>
            <a:ext cx="5359450" cy="952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44" name="Shape 42"/>
          <p:cNvSpPr/>
          <p:nvPr/>
        </p:nvSpPr>
        <p:spPr>
          <a:xfrm>
            <a:off x="6464201" y="6918722"/>
            <a:ext cx="5359450" cy="38100"/>
          </a:xfrm>
          <a:prstGeom prst="rect">
            <a:avLst/>
          </a:prstGeom>
          <a:solidFill>
            <a:srgbClr val="2E7D5E"/>
          </a:solidFill>
          <a:ln/>
        </p:spPr>
      </p:sp>
      <p:sp>
        <p:nvSpPr>
          <p:cNvPr id="45" name="Shape 43"/>
          <p:cNvSpPr/>
          <p:nvPr/>
        </p:nvSpPr>
        <p:spPr>
          <a:xfrm>
            <a:off x="6464201" y="6918722"/>
            <a:ext cx="9525" cy="2804220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46" name="Shape 44"/>
          <p:cNvSpPr/>
          <p:nvPr/>
        </p:nvSpPr>
        <p:spPr>
          <a:xfrm>
            <a:off x="11814125" y="6918722"/>
            <a:ext cx="9525" cy="2804220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47" name="Text 45"/>
          <p:cNvSpPr/>
          <p:nvPr/>
        </p:nvSpPr>
        <p:spPr>
          <a:xfrm>
            <a:off x="6721376" y="7166372"/>
            <a:ext cx="49904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62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СТАТИСТИКА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6721376" y="7547372"/>
            <a:ext cx="4990453" cy="352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Статистический анализ</a:t>
            </a:r>
            <a:endParaRPr lang="en-US" sz="2100" dirty="0"/>
          </a:p>
        </p:txBody>
      </p:sp>
      <p:sp>
        <p:nvSpPr>
          <p:cNvPr id="49" name="Text 47"/>
          <p:cNvSpPr/>
          <p:nvPr/>
        </p:nvSpPr>
        <p:spPr>
          <a:xfrm>
            <a:off x="6721376" y="7957245"/>
            <a:ext cx="4990453" cy="158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Бутстрэп с кластеризацией по брендам; 95 %‑й доверительный интервал; контроль на структурную утечку.</a:t>
            </a:r>
            <a:endParaRPr lang="en-US" sz="2100" dirty="0"/>
          </a:p>
        </p:txBody>
      </p:sp>
      <p:sp>
        <p:nvSpPr>
          <p:cNvPr id="50" name="Shape 48"/>
          <p:cNvSpPr/>
          <p:nvPr/>
        </p:nvSpPr>
        <p:spPr>
          <a:xfrm>
            <a:off x="12014150" y="6918722"/>
            <a:ext cx="5359450" cy="28042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12014150" y="9713416"/>
            <a:ext cx="5359450" cy="952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52" name="Shape 50"/>
          <p:cNvSpPr/>
          <p:nvPr/>
        </p:nvSpPr>
        <p:spPr>
          <a:xfrm>
            <a:off x="12014150" y="6918722"/>
            <a:ext cx="5359450" cy="38100"/>
          </a:xfrm>
          <a:prstGeom prst="rect">
            <a:avLst/>
          </a:prstGeom>
          <a:solidFill>
            <a:srgbClr val="B05E2A"/>
          </a:solidFill>
          <a:ln/>
        </p:spPr>
      </p:sp>
      <p:sp>
        <p:nvSpPr>
          <p:cNvPr id="53" name="Shape 51"/>
          <p:cNvSpPr/>
          <p:nvPr/>
        </p:nvSpPr>
        <p:spPr>
          <a:xfrm>
            <a:off x="12014150" y="6918722"/>
            <a:ext cx="9525" cy="2804220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54" name="Shape 52"/>
          <p:cNvSpPr/>
          <p:nvPr/>
        </p:nvSpPr>
        <p:spPr>
          <a:xfrm>
            <a:off x="17364075" y="6918722"/>
            <a:ext cx="9525" cy="2804220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55" name="Text 53"/>
          <p:cNvSpPr/>
          <p:nvPr/>
        </p:nvSpPr>
        <p:spPr>
          <a:xfrm>
            <a:off x="12271325" y="7166372"/>
            <a:ext cx="49904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62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ЭКСПЕРИМЕНТ</a:t>
            </a:r>
            <a:endParaRPr lang="en-US" sz="2100" dirty="0"/>
          </a:p>
        </p:txBody>
      </p:sp>
      <p:sp>
        <p:nvSpPr>
          <p:cNvPr id="56" name="Text 54"/>
          <p:cNvSpPr/>
          <p:nvPr/>
        </p:nvSpPr>
        <p:spPr>
          <a:xfrm>
            <a:off x="12271325" y="7547372"/>
            <a:ext cx="4990453" cy="352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Экспериментальная оценка</a:t>
            </a:r>
            <a:endParaRPr lang="en-US" sz="2100" dirty="0"/>
          </a:p>
        </p:txBody>
      </p:sp>
      <p:sp>
        <p:nvSpPr>
          <p:cNvPr id="57" name="Text 55"/>
          <p:cNvSpPr/>
          <p:nvPr/>
        </p:nvSpPr>
        <p:spPr>
          <a:xfrm>
            <a:off x="12271325" y="7957245"/>
            <a:ext cx="4990453" cy="158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Воспроизводимая разметка на открытом каталоге Open Food Facts; точность и стоимость на трёх категориях товаров.</a:t>
            </a:r>
            <a:endParaRPr lang="en-US" sz="2100" dirty="0"/>
          </a:p>
        </p:txBody>
      </p:sp>
      <p:sp>
        <p:nvSpPr>
          <p:cNvPr id="58" name="Text 56"/>
          <p:cNvSpPr/>
          <p:nvPr/>
        </p:nvSpPr>
        <p:spPr>
          <a:xfrm>
            <a:off x="16333887" y="9639300"/>
            <a:ext cx="11159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52" dirty="0">
                <a:solidFill>
                  <a:srgbClr val="16203A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21</a:t>
            </a:r>
            <a:endParaRPr lang="en-US" sz="2100" dirty="0"/>
          </a:p>
        </p:txBody>
      </p:sp>
      <p:pic>
        <p:nvPicPr>
          <p:cNvPr id="59" name="Image 0" descr="preencoded.png"/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16459200" y="342900"/>
            <a:ext cx="914400" cy="8804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85800"/>
            <a:ext cx="578644" cy="400050"/>
          </a:xfrm>
          <a:prstGeom prst="rect">
            <a:avLst/>
          </a:prstGeom>
          <a:solidFill>
            <a:srgbClr val="1A2438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733425"/>
            <a:ext cx="4262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F5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664494" y="733425"/>
            <a:ext cx="579907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1 · КОНТЕКСТ СИСТЕМЫ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1257300"/>
            <a:ext cx="16459200" cy="9525"/>
          </a:xfrm>
          <a:prstGeom prst="rect">
            <a:avLst/>
          </a:prstGeom>
          <a:solidFill>
            <a:srgbClr val="16203A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90675"/>
            <a:ext cx="1471612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106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Контекстная диаграмма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2325886"/>
            <a:ext cx="1471612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Разрабатываемое ПС, его стейкхолдеры, внешние системы и потоки данных.</a:t>
            </a:r>
            <a:endParaRPr lang="en-US" sz="2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594" y="2883991"/>
            <a:ext cx="16406664" cy="679340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333887" y="9639300"/>
            <a:ext cx="11159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52" dirty="0">
                <a:solidFill>
                  <a:srgbClr val="16203A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21</a:t>
            </a:r>
            <a:endParaRPr lang="en-US" sz="2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alphaModFix amt="92000"/>
          </a:blip>
          <a:stretch>
            <a:fillRect/>
          </a:stretch>
        </p:blipFill>
        <p:spPr>
          <a:xfrm>
            <a:off x="16459200" y="342900"/>
            <a:ext cx="914400" cy="8804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85800"/>
            <a:ext cx="578644" cy="400050"/>
          </a:xfrm>
          <a:prstGeom prst="rect">
            <a:avLst/>
          </a:prstGeom>
          <a:solidFill>
            <a:srgbClr val="1A2438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733425"/>
            <a:ext cx="4262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F5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664494" y="733425"/>
            <a:ext cx="629880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1 · АРХИТЕКТУРА КАСКАДА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1257300"/>
            <a:ext cx="16459200" cy="9525"/>
          </a:xfrm>
          <a:prstGeom prst="rect">
            <a:avLst/>
          </a:prstGeom>
          <a:solidFill>
            <a:srgbClr val="16203A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90675"/>
            <a:ext cx="1471612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106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гибридного каскада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2402086"/>
            <a:ext cx="1471612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 — партнёр-доступные поля; выход — заполненная карточка с указанием слоя-источника. Каждая ячейка проходит слои по возрастанию стоимости, пока один не закроет её с уверенностью выше калиброванного порога.</a:t>
            </a:r>
            <a:endParaRPr lang="en-US" sz="2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3480197"/>
            <a:ext cx="16459200" cy="16339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4400" y="5418981"/>
            <a:ext cx="3154561" cy="22684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7677894"/>
            <a:ext cx="3154561" cy="952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11" name="Shape 8"/>
          <p:cNvSpPr/>
          <p:nvPr/>
        </p:nvSpPr>
        <p:spPr>
          <a:xfrm>
            <a:off x="914400" y="5418981"/>
            <a:ext cx="3154561" cy="38100"/>
          </a:xfrm>
          <a:prstGeom prst="rect">
            <a:avLst/>
          </a:prstGeom>
          <a:solidFill>
            <a:srgbClr val="3A4258"/>
          </a:solidFill>
          <a:ln/>
        </p:spPr>
      </p:sp>
      <p:sp>
        <p:nvSpPr>
          <p:cNvPr id="12" name="Shape 9"/>
          <p:cNvSpPr/>
          <p:nvPr/>
        </p:nvSpPr>
        <p:spPr>
          <a:xfrm>
            <a:off x="914400" y="5418981"/>
            <a:ext cx="9525" cy="2268438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13" name="Shape 10"/>
          <p:cNvSpPr/>
          <p:nvPr/>
        </p:nvSpPr>
        <p:spPr>
          <a:xfrm>
            <a:off x="4059436" y="5418981"/>
            <a:ext cx="9525" cy="2268438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14" name="Text 11"/>
          <p:cNvSpPr/>
          <p:nvPr/>
        </p:nvSpPr>
        <p:spPr>
          <a:xfrm>
            <a:off x="1095375" y="5609481"/>
            <a:ext cx="11909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 0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95375" y="5971431"/>
            <a:ext cx="2876389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kern="0" spc="-18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Классификатор категории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95375" y="6554242"/>
            <a:ext cx="2876389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на эмбеддингах SBERT. Маршрутизация в категорию.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240411" y="5418981"/>
            <a:ext cx="3154710" cy="22684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4240411" y="7677894"/>
            <a:ext cx="3154710" cy="952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19" name="Shape 16"/>
          <p:cNvSpPr/>
          <p:nvPr/>
        </p:nvSpPr>
        <p:spPr>
          <a:xfrm>
            <a:off x="4240411" y="5418981"/>
            <a:ext cx="3154710" cy="3810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20" name="Shape 17"/>
          <p:cNvSpPr/>
          <p:nvPr/>
        </p:nvSpPr>
        <p:spPr>
          <a:xfrm>
            <a:off x="4240411" y="5418981"/>
            <a:ext cx="9525" cy="2268438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21" name="Shape 18"/>
          <p:cNvSpPr/>
          <p:nvPr/>
        </p:nvSpPr>
        <p:spPr>
          <a:xfrm>
            <a:off x="7385596" y="5418981"/>
            <a:ext cx="9525" cy="2268438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22" name="Text 19"/>
          <p:cNvSpPr/>
          <p:nvPr/>
        </p:nvSpPr>
        <p:spPr>
          <a:xfrm>
            <a:off x="4421386" y="5609481"/>
            <a:ext cx="11909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 1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421386" y="5971431"/>
            <a:ext cx="2876543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kern="0" spc="-18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Регулярные выражения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4421386" y="6291411"/>
            <a:ext cx="2876543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Грамматики словарных полей. Бесплатно.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7566571" y="5418981"/>
            <a:ext cx="3154710" cy="22684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3"/>
          <p:cNvSpPr/>
          <p:nvPr/>
        </p:nvSpPr>
        <p:spPr>
          <a:xfrm>
            <a:off x="7566571" y="7677894"/>
            <a:ext cx="3154710" cy="952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27" name="Shape 24"/>
          <p:cNvSpPr/>
          <p:nvPr/>
        </p:nvSpPr>
        <p:spPr>
          <a:xfrm>
            <a:off x="7566571" y="5418981"/>
            <a:ext cx="3154710" cy="38100"/>
          </a:xfrm>
          <a:prstGeom prst="rect">
            <a:avLst/>
          </a:prstGeom>
          <a:solidFill>
            <a:srgbClr val="2E7D5E"/>
          </a:solidFill>
          <a:ln/>
        </p:spPr>
      </p:sp>
      <p:sp>
        <p:nvSpPr>
          <p:cNvPr id="28" name="Shape 25"/>
          <p:cNvSpPr/>
          <p:nvPr/>
        </p:nvSpPr>
        <p:spPr>
          <a:xfrm>
            <a:off x="7566571" y="5418981"/>
            <a:ext cx="9525" cy="2268438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29" name="Shape 26"/>
          <p:cNvSpPr/>
          <p:nvPr/>
        </p:nvSpPr>
        <p:spPr>
          <a:xfrm>
            <a:off x="10711755" y="5418981"/>
            <a:ext cx="9525" cy="2268438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30" name="Text 27"/>
          <p:cNvSpPr/>
          <p:nvPr/>
        </p:nvSpPr>
        <p:spPr>
          <a:xfrm>
            <a:off x="7747546" y="5609481"/>
            <a:ext cx="11909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 2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7747546" y="5971431"/>
            <a:ext cx="2876543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kern="0" spc="-18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Машинное обучение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7747546" y="6291411"/>
            <a:ext cx="2876543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+ paraphrase-MiniLM. Поатрибутный порог.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10892730" y="5418981"/>
            <a:ext cx="3154710" cy="22684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1"/>
          <p:cNvSpPr/>
          <p:nvPr/>
        </p:nvSpPr>
        <p:spPr>
          <a:xfrm>
            <a:off x="10892730" y="7677894"/>
            <a:ext cx="3154710" cy="952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35" name="Shape 32"/>
          <p:cNvSpPr/>
          <p:nvPr/>
        </p:nvSpPr>
        <p:spPr>
          <a:xfrm>
            <a:off x="10892730" y="5418981"/>
            <a:ext cx="3154710" cy="38100"/>
          </a:xfrm>
          <a:prstGeom prst="rect">
            <a:avLst/>
          </a:prstGeom>
          <a:solidFill>
            <a:srgbClr val="6E4C9E"/>
          </a:solidFill>
          <a:ln/>
        </p:spPr>
      </p:sp>
      <p:sp>
        <p:nvSpPr>
          <p:cNvPr id="36" name="Shape 33"/>
          <p:cNvSpPr/>
          <p:nvPr/>
        </p:nvSpPr>
        <p:spPr>
          <a:xfrm>
            <a:off x="10892730" y="5418981"/>
            <a:ext cx="9525" cy="2268438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37" name="Shape 34"/>
          <p:cNvSpPr/>
          <p:nvPr/>
        </p:nvSpPr>
        <p:spPr>
          <a:xfrm>
            <a:off x="14037915" y="5418981"/>
            <a:ext cx="9525" cy="2268438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38" name="Text 35"/>
          <p:cNvSpPr/>
          <p:nvPr/>
        </p:nvSpPr>
        <p:spPr>
          <a:xfrm>
            <a:off x="11073705" y="5609481"/>
            <a:ext cx="11909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 3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1073705" y="5971431"/>
            <a:ext cx="2876543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kern="0" spc="-18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Байес-валидатор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11073705" y="6291411"/>
            <a:ext cx="2876543" cy="1272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Сеть условных вероятностей (pgmpy). Отбраковка несовместных.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14218890" y="5418981"/>
            <a:ext cx="3154710" cy="2268438"/>
          </a:xfrm>
          <a:prstGeom prst="rect">
            <a:avLst/>
          </a:prstGeom>
          <a:solidFill>
            <a:srgbClr val="FBF6EC"/>
          </a:solidFill>
          <a:ln/>
        </p:spPr>
      </p:sp>
      <p:sp>
        <p:nvSpPr>
          <p:cNvPr id="42" name="Shape 39"/>
          <p:cNvSpPr/>
          <p:nvPr/>
        </p:nvSpPr>
        <p:spPr>
          <a:xfrm>
            <a:off x="14218890" y="7677894"/>
            <a:ext cx="3154710" cy="952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43" name="Shape 40"/>
          <p:cNvSpPr/>
          <p:nvPr/>
        </p:nvSpPr>
        <p:spPr>
          <a:xfrm>
            <a:off x="14218890" y="5418981"/>
            <a:ext cx="3154710" cy="38100"/>
          </a:xfrm>
          <a:prstGeom prst="rect">
            <a:avLst/>
          </a:prstGeom>
          <a:solidFill>
            <a:srgbClr val="B05E2A"/>
          </a:solidFill>
          <a:ln/>
        </p:spPr>
      </p:sp>
      <p:sp>
        <p:nvSpPr>
          <p:cNvPr id="44" name="Shape 41"/>
          <p:cNvSpPr/>
          <p:nvPr/>
        </p:nvSpPr>
        <p:spPr>
          <a:xfrm>
            <a:off x="14218890" y="5418981"/>
            <a:ext cx="9525" cy="2268438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45" name="Shape 42"/>
          <p:cNvSpPr/>
          <p:nvPr/>
        </p:nvSpPr>
        <p:spPr>
          <a:xfrm>
            <a:off x="17364075" y="5418981"/>
            <a:ext cx="9525" cy="2268438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46" name="Text 43"/>
          <p:cNvSpPr/>
          <p:nvPr/>
        </p:nvSpPr>
        <p:spPr>
          <a:xfrm>
            <a:off x="14399865" y="5609481"/>
            <a:ext cx="11909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 4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14399865" y="5971431"/>
            <a:ext cx="2876543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kern="0" spc="-18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Запасной слой на LLM</a:t>
            </a:r>
            <a:endParaRPr lang="en-US" sz="1800" dirty="0"/>
          </a:p>
        </p:txBody>
      </p:sp>
      <p:sp>
        <p:nvSpPr>
          <p:cNvPr id="48" name="Text 45"/>
          <p:cNvSpPr/>
          <p:nvPr/>
        </p:nvSpPr>
        <p:spPr>
          <a:xfrm>
            <a:off x="14399865" y="6291411"/>
            <a:ext cx="2876543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JSON-протокол. Gemini · Sonnet · gpt-oss-120b.</a:t>
            </a:r>
            <a:endParaRPr lang="en-US" sz="1800" dirty="0"/>
          </a:p>
        </p:txBody>
      </p:sp>
      <p:sp>
        <p:nvSpPr>
          <p:cNvPr id="49" name="Shape 46"/>
          <p:cNvSpPr/>
          <p:nvPr/>
        </p:nvSpPr>
        <p:spPr>
          <a:xfrm>
            <a:off x="914400" y="7916019"/>
            <a:ext cx="5334000" cy="1619250"/>
          </a:xfrm>
          <a:prstGeom prst="rect">
            <a:avLst/>
          </a:prstGeom>
          <a:solidFill>
            <a:srgbClr val="EFEAD9"/>
          </a:solidFill>
          <a:ln w="9525">
            <a:solidFill>
              <a:srgbClr val="DCD4BF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152525" y="8116044"/>
            <a:ext cx="50034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 МАРШРУТА</a:t>
            </a:r>
            <a:endParaRPr lang="en-US" sz="1800" dirty="0"/>
          </a:p>
        </p:txBody>
      </p:sp>
      <p:sp>
        <p:nvSpPr>
          <p:cNvPr id="51" name="Text 48"/>
          <p:cNvSpPr/>
          <p:nvPr/>
        </p:nvSpPr>
        <p:spPr>
          <a:xfrm>
            <a:off x="1152525" y="8458944"/>
            <a:ext cx="5003483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Слои проходятся по возрастанию стоимости, пока conf не превысит калиброванный порог.</a:t>
            </a:r>
            <a:endParaRPr lang="en-US" sz="1800" dirty="0"/>
          </a:p>
        </p:txBody>
      </p:sp>
      <p:sp>
        <p:nvSpPr>
          <p:cNvPr id="52" name="Shape 49"/>
          <p:cNvSpPr/>
          <p:nvPr/>
        </p:nvSpPr>
        <p:spPr>
          <a:xfrm>
            <a:off x="6477000" y="7916019"/>
            <a:ext cx="5334000" cy="1619250"/>
          </a:xfrm>
          <a:prstGeom prst="rect">
            <a:avLst/>
          </a:prstGeom>
          <a:solidFill>
            <a:srgbClr val="EFEAD9"/>
          </a:solidFill>
          <a:ln w="9525">
            <a:solidFill>
              <a:srgbClr val="DCD4BF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715125" y="8116044"/>
            <a:ext cx="50034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ВЫХОД ПО ЯЧЕЙКЕ</a:t>
            </a:r>
            <a:endParaRPr lang="en-US" sz="1800" dirty="0"/>
          </a:p>
        </p:txBody>
      </p:sp>
      <p:sp>
        <p:nvSpPr>
          <p:cNvPr id="54" name="Text 51"/>
          <p:cNvSpPr/>
          <p:nvPr/>
        </p:nvSpPr>
        <p:spPr>
          <a:xfrm>
            <a:off x="6715125" y="8458944"/>
            <a:ext cx="5003483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 · уверенность · слой-источник </a:t>
            </a:r>
            <a:r>
              <a:rPr lang="en-US" sz="18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для аудита и приоритезации.</a:t>
            </a:r>
            <a:endParaRPr lang="en-US" sz="1800" dirty="0"/>
          </a:p>
        </p:txBody>
      </p:sp>
      <p:sp>
        <p:nvSpPr>
          <p:cNvPr id="55" name="Shape 52"/>
          <p:cNvSpPr/>
          <p:nvPr/>
        </p:nvSpPr>
        <p:spPr>
          <a:xfrm>
            <a:off x="12039600" y="7916019"/>
            <a:ext cx="5334000" cy="1619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3"/>
          <p:cNvSpPr/>
          <p:nvPr/>
        </p:nvSpPr>
        <p:spPr>
          <a:xfrm>
            <a:off x="12039600" y="9525744"/>
            <a:ext cx="5334000" cy="9525"/>
          </a:xfrm>
          <a:prstGeom prst="rect">
            <a:avLst/>
          </a:prstGeom>
          <a:solidFill>
            <a:srgbClr val="B05E2A"/>
          </a:solidFill>
          <a:ln/>
        </p:spPr>
      </p:sp>
      <p:sp>
        <p:nvSpPr>
          <p:cNvPr id="57" name="Shape 54"/>
          <p:cNvSpPr/>
          <p:nvPr/>
        </p:nvSpPr>
        <p:spPr>
          <a:xfrm>
            <a:off x="12039600" y="7916019"/>
            <a:ext cx="5334000" cy="9525"/>
          </a:xfrm>
          <a:prstGeom prst="rect">
            <a:avLst/>
          </a:prstGeom>
          <a:solidFill>
            <a:srgbClr val="B05E2A"/>
          </a:solidFill>
          <a:ln/>
        </p:spPr>
      </p:sp>
      <p:sp>
        <p:nvSpPr>
          <p:cNvPr id="58" name="Shape 55"/>
          <p:cNvSpPr/>
          <p:nvPr/>
        </p:nvSpPr>
        <p:spPr>
          <a:xfrm>
            <a:off x="12039600" y="7916019"/>
            <a:ext cx="57150" cy="1619250"/>
          </a:xfrm>
          <a:prstGeom prst="rect">
            <a:avLst/>
          </a:prstGeom>
          <a:solidFill>
            <a:srgbClr val="B05E2A"/>
          </a:solidFill>
          <a:ln/>
        </p:spPr>
      </p:sp>
      <p:sp>
        <p:nvSpPr>
          <p:cNvPr id="59" name="Shape 56"/>
          <p:cNvSpPr/>
          <p:nvPr/>
        </p:nvSpPr>
        <p:spPr>
          <a:xfrm>
            <a:off x="17364075" y="7916019"/>
            <a:ext cx="9525" cy="1619250"/>
          </a:xfrm>
          <a:prstGeom prst="rect">
            <a:avLst/>
          </a:prstGeom>
          <a:solidFill>
            <a:srgbClr val="B05E2A"/>
          </a:solidFill>
          <a:ln/>
        </p:spPr>
      </p:sp>
      <p:sp>
        <p:nvSpPr>
          <p:cNvPr id="60" name="Text 57"/>
          <p:cNvSpPr/>
          <p:nvPr/>
        </p:nvSpPr>
        <p:spPr>
          <a:xfrm>
            <a:off x="12325350" y="8116044"/>
            <a:ext cx="49544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ДОХОДИТ ДО LLM</a:t>
            </a:r>
            <a:endParaRPr lang="en-US" sz="1800" dirty="0"/>
          </a:p>
        </p:txBody>
      </p:sp>
      <p:sp>
        <p:nvSpPr>
          <p:cNvPr id="61" name="Text 58"/>
          <p:cNvSpPr/>
          <p:nvPr/>
        </p:nvSpPr>
        <p:spPr>
          <a:xfrm>
            <a:off x="12325350" y="8439894"/>
            <a:ext cx="4954429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kern="0" spc="-144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8,2 %</a:t>
            </a:r>
            <a:endParaRPr lang="en-US" sz="4800" dirty="0"/>
          </a:p>
        </p:txBody>
      </p:sp>
      <p:sp>
        <p:nvSpPr>
          <p:cNvPr id="62" name="Text 59"/>
          <p:cNvSpPr/>
          <p:nvPr/>
        </p:nvSpPr>
        <p:spPr>
          <a:xfrm>
            <a:off x="12325350" y="9068544"/>
            <a:ext cx="49544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ячеек</a:t>
            </a:r>
            <a:endParaRPr lang="en-US" sz="1800" dirty="0"/>
          </a:p>
        </p:txBody>
      </p:sp>
      <p:sp>
        <p:nvSpPr>
          <p:cNvPr id="63" name="Text 60"/>
          <p:cNvSpPr/>
          <p:nvPr/>
        </p:nvSpPr>
        <p:spPr>
          <a:xfrm>
            <a:off x="16333887" y="9639300"/>
            <a:ext cx="11159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52" dirty="0">
                <a:solidFill>
                  <a:srgbClr val="16203A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21</a:t>
            </a:r>
            <a:endParaRPr lang="en-US" sz="2100" dirty="0"/>
          </a:p>
        </p:txBody>
      </p:sp>
      <p:pic>
        <p:nvPicPr>
          <p:cNvPr id="64" name="Image 1" descr="preencoded.png"/>
          <p:cNvPicPr>
            <a:picLocks noChangeAspect="1"/>
          </p:cNvPicPr>
          <p:nvPr/>
        </p:nvPicPr>
        <p:blipFill>
          <a:blip r:embed="rId4">
            <a:alphaModFix amt="92000"/>
          </a:blip>
          <a:stretch>
            <a:fillRect/>
          </a:stretch>
        </p:blipFill>
        <p:spPr>
          <a:xfrm>
            <a:off x="16459200" y="342900"/>
            <a:ext cx="914400" cy="8804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85800"/>
            <a:ext cx="563910" cy="400050"/>
          </a:xfrm>
          <a:prstGeom prst="rect">
            <a:avLst/>
          </a:prstGeom>
          <a:solidFill>
            <a:srgbClr val="1A2438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733425"/>
            <a:ext cx="4115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F5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649760" y="733425"/>
            <a:ext cx="594224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1 · СТРУКТУРНАЯ СХЕМА 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1257300"/>
            <a:ext cx="16459200" cy="9525"/>
          </a:xfrm>
          <a:prstGeom prst="rect">
            <a:avLst/>
          </a:prstGeom>
          <a:solidFill>
            <a:srgbClr val="16203A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90675"/>
            <a:ext cx="1471612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106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Структурная схема программного средства</a:t>
            </a:r>
            <a:endParaRPr lang="en-US" sz="4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61221" y="2402086"/>
            <a:ext cx="12565410" cy="72753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353681" y="9639300"/>
            <a:ext cx="109611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52" dirty="0">
                <a:solidFill>
                  <a:srgbClr val="16203A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21</a:t>
            </a:r>
            <a:endParaRPr lang="en-US" sz="2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alphaModFix amt="92000"/>
          </a:blip>
          <a:stretch>
            <a:fillRect/>
          </a:stretch>
        </p:blipFill>
        <p:spPr>
          <a:xfrm>
            <a:off x="16459200" y="342900"/>
            <a:ext cx="914400" cy="8804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85800"/>
            <a:ext cx="578644" cy="400050"/>
          </a:xfrm>
          <a:prstGeom prst="rect">
            <a:avLst/>
          </a:prstGeom>
          <a:solidFill>
            <a:srgbClr val="1A2438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733425"/>
            <a:ext cx="4262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F5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664494" y="733425"/>
            <a:ext cx="446557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2 · РЕАЛИЗАЦИЯ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1257300"/>
            <a:ext cx="16459200" cy="9525"/>
          </a:xfrm>
          <a:prstGeom prst="rect">
            <a:avLst/>
          </a:prstGeom>
          <a:solidFill>
            <a:srgbClr val="16203A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90675"/>
            <a:ext cx="1471612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106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Основы технического проекта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2402086"/>
            <a:ext cx="1471612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Программная архитектура: API-слой (Go gateway + FastAPI ml_service), сервисный слой, доменный слой из пяти слоёв каскада, слой хранения.</a:t>
            </a:r>
            <a:endParaRPr lang="en-US" sz="2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08025" y="3403997"/>
            <a:ext cx="16071800" cy="62734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333887" y="9639300"/>
            <a:ext cx="11159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52" dirty="0">
                <a:solidFill>
                  <a:srgbClr val="16203A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21</a:t>
            </a:r>
            <a:endParaRPr lang="en-US" sz="2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alphaModFix amt="92000"/>
          </a:blip>
          <a:stretch>
            <a:fillRect/>
          </a:stretch>
        </p:blipFill>
        <p:spPr>
          <a:xfrm>
            <a:off x="16459200" y="342900"/>
            <a:ext cx="914400" cy="88046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85800"/>
            <a:ext cx="578644" cy="400050"/>
          </a:xfrm>
          <a:prstGeom prst="rect">
            <a:avLst/>
          </a:prstGeom>
          <a:solidFill>
            <a:srgbClr val="1A2438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733425"/>
            <a:ext cx="4262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F5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664494" y="733425"/>
            <a:ext cx="71695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000" kern="0" spc="378" dirty="0">
                <a:solidFill>
                  <a:srgbClr val="2A344C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ЗАДАЧА 2 · </a:t>
            </a:r>
            <a:r>
              <a:rPr lang="en-US" sz="2000" kern="0" spc="-106" dirty="0" err="1">
                <a:solidFill>
                  <a:srgbClr val="1620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Блок-схема</a:t>
            </a:r>
            <a:r>
              <a:rPr lang="en-US" sz="2000" kern="0" spc="-106" dirty="0">
                <a:solidFill>
                  <a:srgbClr val="1620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2000" kern="0" spc="-106" dirty="0" err="1">
                <a:solidFill>
                  <a:srgbClr val="1620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алгоритма</a:t>
            </a:r>
            <a:r>
              <a:rPr lang="en-US" sz="2000" kern="0" spc="-106" dirty="0">
                <a:solidFill>
                  <a:srgbClr val="1620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2000" kern="0" spc="-106" dirty="0" err="1">
                <a:solidFill>
                  <a:srgbClr val="1620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обработки</a:t>
            </a:r>
            <a:r>
              <a:rPr lang="en-US" sz="2000" kern="0" spc="-106" dirty="0">
                <a:solidFill>
                  <a:srgbClr val="1620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2000" kern="0" spc="-106" dirty="0" err="1">
                <a:solidFill>
                  <a:srgbClr val="1620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запроса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14400" y="1257300"/>
            <a:ext cx="16459200" cy="9525"/>
          </a:xfrm>
          <a:prstGeom prst="rect">
            <a:avLst/>
          </a:prstGeom>
          <a:solidFill>
            <a:srgbClr val="16203A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90675"/>
            <a:ext cx="1471612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endParaRPr lang="en-US" sz="4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67946" y="1517868"/>
            <a:ext cx="6710461" cy="815953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333887" y="9639300"/>
            <a:ext cx="11159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52" dirty="0">
                <a:solidFill>
                  <a:srgbClr val="16203A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21</a:t>
            </a:r>
            <a:endParaRPr lang="en-US" sz="2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alphaModFix amt="92000"/>
          </a:blip>
          <a:stretch>
            <a:fillRect/>
          </a:stretch>
        </p:blipFill>
        <p:spPr>
          <a:xfrm>
            <a:off x="16459200" y="342900"/>
            <a:ext cx="914400" cy="88046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85800"/>
            <a:ext cx="578644" cy="400050"/>
          </a:xfrm>
          <a:prstGeom prst="rect">
            <a:avLst/>
          </a:prstGeom>
          <a:solidFill>
            <a:srgbClr val="1A2438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733425"/>
            <a:ext cx="4262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F5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664494" y="733425"/>
            <a:ext cx="398699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3 · МЕТОДИКА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1257300"/>
            <a:ext cx="16459200" cy="9525"/>
          </a:xfrm>
          <a:prstGeom prst="rect">
            <a:avLst/>
          </a:prstGeom>
          <a:solidFill>
            <a:srgbClr val="16203A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90675"/>
            <a:ext cx="1471612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106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Методика экспериментальной оценки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2402086"/>
            <a:ext cx="1471612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Эталонная разметка построена на открытом каталоге Open Food Facts для трёх категорий товаров. Тестовая выборка — без пересечения брендов: ни один бренд тестовой выборки не встречается в обучающей.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3537347"/>
            <a:ext cx="3943350" cy="2687538"/>
          </a:xfrm>
          <a:prstGeom prst="rect">
            <a:avLst/>
          </a:prstGeom>
          <a:solidFill>
            <a:srgbClr val="EFEAD9"/>
          </a:solidFill>
          <a:ln w="9525">
            <a:solidFill>
              <a:srgbClr val="DC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1575" y="3794522"/>
            <a:ext cx="3531870" cy="725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5700" kern="0" spc="-256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700" dirty="0"/>
          </a:p>
        </p:txBody>
      </p:sp>
      <p:sp>
        <p:nvSpPr>
          <p:cNvPr id="10" name="Text 8"/>
          <p:cNvSpPr/>
          <p:nvPr/>
        </p:nvSpPr>
        <p:spPr>
          <a:xfrm>
            <a:off x="1171575" y="4539258"/>
            <a:ext cx="353187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Категории товаров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71575" y="4954488"/>
            <a:ext cx="353187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Паста · шоколад · сыры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5086350" y="3537347"/>
            <a:ext cx="3943350" cy="2687538"/>
          </a:xfrm>
          <a:prstGeom prst="rect">
            <a:avLst/>
          </a:prstGeom>
          <a:solidFill>
            <a:srgbClr val="EFEAD9"/>
          </a:solidFill>
          <a:ln w="9525">
            <a:solidFill>
              <a:srgbClr val="DC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3525" y="3794522"/>
            <a:ext cx="3531870" cy="725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5700" kern="0" spc="-256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5700" dirty="0"/>
          </a:p>
        </p:txBody>
      </p:sp>
      <p:sp>
        <p:nvSpPr>
          <p:cNvPr id="14" name="Text 12"/>
          <p:cNvSpPr/>
          <p:nvPr/>
        </p:nvSpPr>
        <p:spPr>
          <a:xfrm>
            <a:off x="5343525" y="4539258"/>
            <a:ext cx="353187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Целевых атрибутов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343525" y="4954488"/>
            <a:ext cx="3531870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Бинарные и категориальные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258300" y="3537347"/>
            <a:ext cx="3943350" cy="2687538"/>
          </a:xfrm>
          <a:prstGeom prst="rect">
            <a:avLst/>
          </a:prstGeom>
          <a:solidFill>
            <a:srgbClr val="EFEAD9"/>
          </a:solidFill>
          <a:ln w="9525">
            <a:solidFill>
              <a:srgbClr val="DC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15475" y="3794522"/>
            <a:ext cx="3531870" cy="725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5700" kern="0" spc="-256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4 350</a:t>
            </a:r>
            <a:endParaRPr lang="en-US" sz="5700" dirty="0"/>
          </a:p>
        </p:txBody>
      </p:sp>
      <p:sp>
        <p:nvSpPr>
          <p:cNvPr id="18" name="Text 16"/>
          <p:cNvSpPr/>
          <p:nvPr/>
        </p:nvSpPr>
        <p:spPr>
          <a:xfrm>
            <a:off x="9515475" y="4539258"/>
            <a:ext cx="353187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Тестовых ячеек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515475" y="4954488"/>
            <a:ext cx="353187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Товар × атрибут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3430250" y="3537347"/>
            <a:ext cx="3943350" cy="2687538"/>
          </a:xfrm>
          <a:prstGeom prst="rect">
            <a:avLst/>
          </a:prstGeom>
          <a:solidFill>
            <a:srgbClr val="EFEAD9"/>
          </a:solidFill>
          <a:ln w="9525">
            <a:solidFill>
              <a:srgbClr val="DC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687425" y="3727847"/>
            <a:ext cx="816322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5700" kern="0" spc="-256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5700" dirty="0"/>
          </a:p>
        </p:txBody>
      </p:sp>
      <p:sp>
        <p:nvSpPr>
          <p:cNvPr id="22" name="Text 20"/>
          <p:cNvSpPr/>
          <p:nvPr/>
        </p:nvSpPr>
        <p:spPr>
          <a:xfrm>
            <a:off x="14522797" y="4175522"/>
            <a:ext cx="310753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100" kern="0" spc="-21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3687425" y="4539258"/>
            <a:ext cx="353187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Согласованность с Opus 4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3687425" y="5274469"/>
            <a:ext cx="3531870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Слепая ре-разметка эталона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14400" y="6491585"/>
            <a:ext cx="1233364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2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НЕЗАВИСИМЫХ ИСТОЧНИКА ЭТАЛОНА СНИЖАЮТ РИСК УТЕЧКИ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14400" y="7024985"/>
            <a:ext cx="5308550" cy="26289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47775" y="7339310"/>
            <a:ext cx="478105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 1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247775" y="7739360"/>
            <a:ext cx="478105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-1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Теги каталога OFF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247775" y="8139410"/>
            <a:ext cx="4781054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Регуляторные метки и категории — внешний источник, защищённый правом ЕС.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6489650" y="7024985"/>
            <a:ext cx="5308550" cy="26289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23025" y="7339310"/>
            <a:ext cx="478105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 2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6823025" y="7739360"/>
            <a:ext cx="478105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-1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Согласие трёх LLM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6823025" y="8139410"/>
            <a:ext cx="4781054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Поатрибутное голосование независимых моделей с проверкой Opus 4 на спорных позициях.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12064901" y="7024985"/>
            <a:ext cx="5308550" cy="26289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398276" y="7339310"/>
            <a:ext cx="478105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 3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2398276" y="7739360"/>
            <a:ext cx="478105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-11" dirty="0" err="1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Слепая</a:t>
            </a:r>
            <a:r>
              <a:rPr lang="en-US" sz="2100" b="1" kern="0" spc="-1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2100" b="1" kern="0" spc="-1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</a:t>
            </a:r>
            <a:r>
              <a:rPr lang="en-US" sz="2100" b="1" kern="0" spc="-11" dirty="0" err="1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азметка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12398276" y="8139410"/>
            <a:ext cx="4781054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4 размечает только партнёр-поля, без доступа к тегам OFF и промежуточным меткам.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16333887" y="9639300"/>
            <a:ext cx="11159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52" dirty="0">
                <a:solidFill>
                  <a:srgbClr val="16203A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21</a:t>
            </a:r>
            <a:endParaRPr lang="en-US" sz="2100" dirty="0"/>
          </a:p>
        </p:txBody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16459200" y="342900"/>
            <a:ext cx="914400" cy="8804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85800"/>
            <a:ext cx="578644" cy="400050"/>
          </a:xfrm>
          <a:prstGeom prst="rect">
            <a:avLst/>
          </a:prstGeom>
          <a:solidFill>
            <a:srgbClr val="1A2438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733425"/>
            <a:ext cx="4262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F5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664493" y="733425"/>
            <a:ext cx="4457337" cy="48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4 · РЕЗУЛЬТАТЫ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1257300"/>
            <a:ext cx="16459200" cy="9525"/>
          </a:xfrm>
          <a:prstGeom prst="rect">
            <a:avLst/>
          </a:prstGeom>
          <a:solidFill>
            <a:srgbClr val="16203A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90675"/>
            <a:ext cx="1471612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106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результат: точность ↔ стоимость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2402086"/>
            <a:ext cx="1471612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конфигураций; вертикальные планки — 95 %-й доверительный интервал бутстрэпа с кластеризацией по брендам. В промышленном диапазоне стоимости каскад точнее любого прямого вызова LLM.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3346847"/>
            <a:ext cx="9669661" cy="6829276"/>
          </a:xfrm>
          <a:prstGeom prst="rect">
            <a:avLst/>
          </a:prstGeom>
          <a:solidFill>
            <a:srgbClr val="FFFFFF"/>
          </a:solidFill>
          <a:ln w="9525">
            <a:solidFill>
              <a:srgbClr val="DCD4B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52525" y="4218236"/>
            <a:ext cx="9193411" cy="508649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926961" y="3346847"/>
            <a:ext cx="6446490" cy="1683990"/>
          </a:xfrm>
          <a:prstGeom prst="rect">
            <a:avLst/>
          </a:prstGeom>
          <a:solidFill>
            <a:srgbClr val="EFEAD9"/>
          </a:solidFill>
          <a:ln w="9525">
            <a:solidFill>
              <a:srgbClr val="1620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46036" y="3527822"/>
            <a:ext cx="61885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КАСКАД + GEMINI 2.5 FLASH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1146036" y="3889772"/>
            <a:ext cx="6188590" cy="61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800" kern="0" spc="-216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93,8 </a:t>
            </a:r>
            <a:r>
              <a:rPr lang="en-US" sz="2700" kern="0" spc="-216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11146036" y="4545062"/>
            <a:ext cx="61885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6203A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точности на эталонной выборке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10926961" y="5240387"/>
            <a:ext cx="6446490" cy="1790700"/>
          </a:xfrm>
          <a:prstGeom prst="rect">
            <a:avLst/>
          </a:prstGeom>
          <a:solidFill>
            <a:srgbClr val="EFEAD9"/>
          </a:solidFill>
          <a:ln w="9525">
            <a:solidFill>
              <a:srgbClr val="DCD4B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126986" y="5402312"/>
            <a:ext cx="62278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ОТНОСИТЕЛЬНАЯ СТОИМОСТЬ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1126986" y="5783312"/>
            <a:ext cx="622783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kern="0" spc="-132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290×</a:t>
            </a:r>
            <a:endParaRPr lang="en-US" sz="3300" dirty="0"/>
          </a:p>
        </p:txBody>
      </p:sp>
      <p:sp>
        <p:nvSpPr>
          <p:cNvPr id="17" name="Text 14"/>
          <p:cNvSpPr/>
          <p:nvPr/>
        </p:nvSpPr>
        <p:spPr>
          <a:xfrm>
            <a:off x="11126986" y="6259562"/>
            <a:ext cx="622783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дешевле опорной конфигурации Sonnet 4.5 на каждое поле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10926961" y="7240637"/>
            <a:ext cx="6446490" cy="1790700"/>
          </a:xfrm>
          <a:prstGeom prst="rect">
            <a:avLst/>
          </a:prstGeom>
          <a:solidFill>
            <a:srgbClr val="EFEAD9"/>
          </a:solidFill>
          <a:ln w="9525">
            <a:solidFill>
              <a:srgbClr val="DCD4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126986" y="7402562"/>
            <a:ext cx="62278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ПРОТИВ ПРЯМОГО ВЫЗОВА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11126986" y="7783562"/>
            <a:ext cx="622783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kern="0" spc="-132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+ 10,0 п.п.</a:t>
            </a:r>
            <a:endParaRPr lang="en-US" sz="3300" dirty="0"/>
          </a:p>
        </p:txBody>
      </p:sp>
      <p:sp>
        <p:nvSpPr>
          <p:cNvPr id="21" name="Text 18"/>
          <p:cNvSpPr/>
          <p:nvPr/>
        </p:nvSpPr>
        <p:spPr>
          <a:xfrm>
            <a:off x="11126986" y="8259812"/>
            <a:ext cx="622783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точнее, чем прямой вызов Sonnet 4.5 на каждое поле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10926961" y="9240887"/>
            <a:ext cx="6446490" cy="952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23" name="Text 20"/>
          <p:cNvSpPr/>
          <p:nvPr/>
        </p:nvSpPr>
        <p:spPr>
          <a:xfrm>
            <a:off x="10926961" y="9402812"/>
            <a:ext cx="663988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гибриды точнее </a:t>
            </a: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любой промышленной конфигурации «LLM на каждое поле».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16333887" y="9639300"/>
            <a:ext cx="11159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52" dirty="0">
                <a:solidFill>
                  <a:srgbClr val="16203A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21</a:t>
            </a:r>
            <a:endParaRPr lang="en-US" sz="21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>
            <a:alphaModFix amt="92000"/>
          </a:blip>
          <a:stretch>
            <a:fillRect/>
          </a:stretch>
        </p:blipFill>
        <p:spPr>
          <a:xfrm>
            <a:off x="16459200" y="342900"/>
            <a:ext cx="914400" cy="88046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85800"/>
            <a:ext cx="578644" cy="400050"/>
          </a:xfrm>
          <a:prstGeom prst="rect">
            <a:avLst/>
          </a:prstGeom>
          <a:solidFill>
            <a:srgbClr val="1A2438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733425"/>
            <a:ext cx="4262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F5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664494" y="733425"/>
            <a:ext cx="45615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4 · ВКЛАД СЛОЁВ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1257300"/>
            <a:ext cx="16459200" cy="9525"/>
          </a:xfrm>
          <a:prstGeom prst="rect">
            <a:avLst/>
          </a:prstGeom>
          <a:solidFill>
            <a:srgbClr val="16203A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90675"/>
            <a:ext cx="1471612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106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Послойный вклад каскада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2402086"/>
            <a:ext cx="1471612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Распределение финальных предсказаний по слоям каскада на трёх категориях товаров эталонной выборки.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3055441"/>
            <a:ext cx="16459200" cy="6621959"/>
          </a:xfrm>
          <a:prstGeom prst="rect">
            <a:avLst/>
          </a:prstGeom>
          <a:solidFill>
            <a:srgbClr val="FFFFFF"/>
          </a:solidFill>
          <a:ln w="9525">
            <a:solidFill>
              <a:srgbClr val="DCD4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43025" y="3869978"/>
            <a:ext cx="193030" cy="20955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0" name="Text 8"/>
          <p:cNvSpPr/>
          <p:nvPr/>
        </p:nvSpPr>
        <p:spPr>
          <a:xfrm>
            <a:off x="1650355" y="3669953"/>
            <a:ext cx="1518196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 1 · REGEX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646265" y="3869978"/>
            <a:ext cx="193179" cy="209550"/>
          </a:xfrm>
          <a:prstGeom prst="rect">
            <a:avLst/>
          </a:prstGeom>
          <a:solidFill>
            <a:srgbClr val="2E7D5E"/>
          </a:solidFill>
          <a:ln/>
        </p:spPr>
      </p:sp>
      <p:sp>
        <p:nvSpPr>
          <p:cNvPr id="12" name="Text 10"/>
          <p:cNvSpPr/>
          <p:nvPr/>
        </p:nvSpPr>
        <p:spPr>
          <a:xfrm>
            <a:off x="4953744" y="3669953"/>
            <a:ext cx="206499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 2 · ML (XGBOOST)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112895" y="3869978"/>
            <a:ext cx="192881" cy="209550"/>
          </a:xfrm>
          <a:prstGeom prst="rect">
            <a:avLst/>
          </a:prstGeom>
          <a:solidFill>
            <a:srgbClr val="B05E2A"/>
          </a:solidFill>
          <a:ln/>
        </p:spPr>
      </p:sp>
      <p:sp>
        <p:nvSpPr>
          <p:cNvPr id="14" name="Text 12"/>
          <p:cNvSpPr/>
          <p:nvPr/>
        </p:nvSpPr>
        <p:spPr>
          <a:xfrm>
            <a:off x="9420076" y="3669953"/>
            <a:ext cx="1518196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 4 · LLM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1963846" y="3669953"/>
            <a:ext cx="513056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финальных предсказаний, 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66825" y="4670078"/>
            <a:ext cx="1981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kern="0" spc="336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КАТЕГОРИЯ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66825" y="5012978"/>
            <a:ext cx="19812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Паста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3552825" y="4622453"/>
            <a:ext cx="13392150" cy="838200"/>
          </a:xfrm>
          <a:prstGeom prst="rect">
            <a:avLst/>
          </a:prstGeom>
          <a:ln w="9525">
            <a:solidFill>
              <a:srgbClr val="E7E0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62350" y="4631978"/>
            <a:ext cx="2407146" cy="81915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20" name="Text 18"/>
          <p:cNvSpPr/>
          <p:nvPr/>
        </p:nvSpPr>
        <p:spPr>
          <a:xfrm>
            <a:off x="3524250" y="4631978"/>
            <a:ext cx="2483346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18 %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5969496" y="4631978"/>
            <a:ext cx="9896029" cy="819150"/>
          </a:xfrm>
          <a:prstGeom prst="rect">
            <a:avLst/>
          </a:prstGeom>
          <a:solidFill>
            <a:srgbClr val="2E7D5E"/>
          </a:solidFill>
          <a:ln/>
        </p:spPr>
      </p:sp>
      <p:sp>
        <p:nvSpPr>
          <p:cNvPr id="22" name="Text 20"/>
          <p:cNvSpPr/>
          <p:nvPr/>
        </p:nvSpPr>
        <p:spPr>
          <a:xfrm>
            <a:off x="5821056" y="4631978"/>
            <a:ext cx="10192909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74 %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15865525" y="4631978"/>
            <a:ext cx="1069777" cy="819150"/>
          </a:xfrm>
          <a:prstGeom prst="rect">
            <a:avLst/>
          </a:prstGeom>
          <a:solidFill>
            <a:srgbClr val="B05E2A"/>
          </a:solidFill>
          <a:ln/>
        </p:spPr>
      </p:sp>
      <p:sp>
        <p:nvSpPr>
          <p:cNvPr id="24" name="Text 22"/>
          <p:cNvSpPr/>
          <p:nvPr/>
        </p:nvSpPr>
        <p:spPr>
          <a:xfrm>
            <a:off x="15827425" y="4631978"/>
            <a:ext cx="1145977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266825" y="5851178"/>
            <a:ext cx="1981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kern="0" spc="336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КАТЕГОРИЯ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66825" y="6194078"/>
            <a:ext cx="19812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Шоколад</a:t>
            </a:r>
            <a:endParaRPr lang="en-US" sz="2700" dirty="0"/>
          </a:p>
        </p:txBody>
      </p:sp>
      <p:sp>
        <p:nvSpPr>
          <p:cNvPr id="27" name="Shape 25"/>
          <p:cNvSpPr/>
          <p:nvPr/>
        </p:nvSpPr>
        <p:spPr>
          <a:xfrm>
            <a:off x="3552825" y="5803553"/>
            <a:ext cx="13392150" cy="838200"/>
          </a:xfrm>
          <a:prstGeom prst="rect">
            <a:avLst/>
          </a:prstGeom>
          <a:ln w="9525">
            <a:solidFill>
              <a:srgbClr val="E7E0C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62350" y="5813078"/>
            <a:ext cx="3075682" cy="81915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29" name="Text 27"/>
          <p:cNvSpPr/>
          <p:nvPr/>
        </p:nvSpPr>
        <p:spPr>
          <a:xfrm>
            <a:off x="3516215" y="5813078"/>
            <a:ext cx="3167952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23 %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6638032" y="5813078"/>
            <a:ext cx="9628584" cy="819150"/>
          </a:xfrm>
          <a:prstGeom prst="rect">
            <a:avLst/>
          </a:prstGeom>
          <a:solidFill>
            <a:srgbClr val="2E7D5E"/>
          </a:solidFill>
          <a:ln/>
        </p:spPr>
      </p:sp>
      <p:sp>
        <p:nvSpPr>
          <p:cNvPr id="31" name="Text 29"/>
          <p:cNvSpPr/>
          <p:nvPr/>
        </p:nvSpPr>
        <p:spPr>
          <a:xfrm>
            <a:off x="6493603" y="5813078"/>
            <a:ext cx="9917442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72 %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16266616" y="5813078"/>
            <a:ext cx="668536" cy="819150"/>
          </a:xfrm>
          <a:prstGeom prst="rect">
            <a:avLst/>
          </a:prstGeom>
          <a:solidFill>
            <a:srgbClr val="B05E2A"/>
          </a:solidFill>
          <a:ln/>
        </p:spPr>
      </p:sp>
      <p:sp>
        <p:nvSpPr>
          <p:cNvPr id="33" name="Text 31"/>
          <p:cNvSpPr/>
          <p:nvPr/>
        </p:nvSpPr>
        <p:spPr>
          <a:xfrm>
            <a:off x="16228516" y="5813078"/>
            <a:ext cx="744736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5 %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266825" y="7032278"/>
            <a:ext cx="1981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kern="0" spc="336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КАТЕГОРИЯ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266825" y="7375178"/>
            <a:ext cx="19812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Сыры</a:t>
            </a:r>
            <a:endParaRPr lang="en-US" sz="2700" dirty="0"/>
          </a:p>
        </p:txBody>
      </p:sp>
      <p:sp>
        <p:nvSpPr>
          <p:cNvPr id="36" name="Shape 34"/>
          <p:cNvSpPr/>
          <p:nvPr/>
        </p:nvSpPr>
        <p:spPr>
          <a:xfrm>
            <a:off x="3552825" y="6984653"/>
            <a:ext cx="13392150" cy="838200"/>
          </a:xfrm>
          <a:prstGeom prst="rect">
            <a:avLst/>
          </a:prstGeom>
          <a:ln w="9525">
            <a:solidFill>
              <a:srgbClr val="E7E0C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62350" y="6994178"/>
            <a:ext cx="401092" cy="81915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38" name="Text 36"/>
          <p:cNvSpPr/>
          <p:nvPr/>
        </p:nvSpPr>
        <p:spPr>
          <a:xfrm>
            <a:off x="3524250" y="6994178"/>
            <a:ext cx="477292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3963442" y="6994178"/>
            <a:ext cx="12570619" cy="819150"/>
          </a:xfrm>
          <a:prstGeom prst="rect">
            <a:avLst/>
          </a:prstGeom>
          <a:solidFill>
            <a:srgbClr val="2E7D5E"/>
          </a:solidFill>
          <a:ln/>
        </p:spPr>
      </p:sp>
      <p:sp>
        <p:nvSpPr>
          <p:cNvPr id="40" name="Text 38"/>
          <p:cNvSpPr/>
          <p:nvPr/>
        </p:nvSpPr>
        <p:spPr>
          <a:xfrm>
            <a:off x="3774883" y="6994178"/>
            <a:ext cx="12947737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94 % · ML делает почти всё</a:t>
            </a:r>
            <a:endParaRPr lang="en-US" sz="2250" dirty="0"/>
          </a:p>
        </p:txBody>
      </p:sp>
      <p:sp>
        <p:nvSpPr>
          <p:cNvPr id="41" name="Shape 39"/>
          <p:cNvSpPr/>
          <p:nvPr/>
        </p:nvSpPr>
        <p:spPr>
          <a:xfrm>
            <a:off x="16534061" y="6994178"/>
            <a:ext cx="401092" cy="819150"/>
          </a:xfrm>
          <a:prstGeom prst="rect">
            <a:avLst/>
          </a:prstGeom>
          <a:solidFill>
            <a:srgbClr val="B05E2A"/>
          </a:solidFill>
          <a:ln/>
        </p:spPr>
      </p:sp>
      <p:sp>
        <p:nvSpPr>
          <p:cNvPr id="42" name="Text 40"/>
          <p:cNvSpPr/>
          <p:nvPr/>
        </p:nvSpPr>
        <p:spPr>
          <a:xfrm>
            <a:off x="16495961" y="6994178"/>
            <a:ext cx="477292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1343025" y="8165753"/>
            <a:ext cx="15601950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44" name="Text 42"/>
          <p:cNvSpPr/>
          <p:nvPr/>
        </p:nvSpPr>
        <p:spPr>
          <a:xfrm>
            <a:off x="1343025" y="8327678"/>
            <a:ext cx="16070009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 0 (классификатор категории) делает 100 % товара; здесь не показан. На сырах Слой 1 покрывает </a:t>
            </a: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milk_source / is_pdo / is_ultra_processed </a:t>
            </a: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(3 % ячеек, 100 % precision).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16333887" y="9639300"/>
            <a:ext cx="11159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52" dirty="0">
                <a:solidFill>
                  <a:srgbClr val="16203A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21</a:t>
            </a:r>
            <a:endParaRPr lang="en-US" sz="2100" dirty="0"/>
          </a:p>
        </p:txBody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16459200" y="342900"/>
            <a:ext cx="914400" cy="88046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85800"/>
            <a:ext cx="578644" cy="400050"/>
          </a:xfrm>
          <a:prstGeom prst="rect">
            <a:avLst/>
          </a:prstGeom>
          <a:solidFill>
            <a:srgbClr val="1A2438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733425"/>
            <a:ext cx="4262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F5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664494" y="733425"/>
            <a:ext cx="56531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4 · ОТКРЫТЫЕ МОДЕЛИ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1257300"/>
            <a:ext cx="16459200" cy="9525"/>
          </a:xfrm>
          <a:prstGeom prst="rect">
            <a:avLst/>
          </a:prstGeom>
          <a:solidFill>
            <a:srgbClr val="16203A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90675"/>
            <a:ext cx="1471612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106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Развёртывание на открытых моделях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2402086"/>
            <a:ext cx="1471612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Каскад архитектурно независим от поставщика LLM. С открытой моделью gpt-oss-120b в роли Слоя 4 возможно полностью локальное развёртывание без передачи данных во внешние сервисы.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3403997"/>
            <a:ext cx="16459200" cy="2686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90625" y="3623072"/>
            <a:ext cx="163839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2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ПРИРОСТ ОТ КАСКАДНОЙ АРХИТЕКТУРЫ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90625" y="4270772"/>
            <a:ext cx="488575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36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ПРЯМОЙ GPT-OSS-120B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90625" y="4632722"/>
            <a:ext cx="4885754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kern="0" spc="-27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69,3 </a:t>
            </a:r>
            <a:r>
              <a:rPr lang="en-US" sz="2100" kern="0" spc="-27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1190625" y="5413772"/>
            <a:ext cx="488575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точность на эталоне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200775" y="4689872"/>
            <a:ext cx="8382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7305675" y="4270772"/>
            <a:ext cx="488575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36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КАСКАД + GPT-OSS-120B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305675" y="4632722"/>
            <a:ext cx="4885754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0" kern="0" spc="-27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93,3 </a:t>
            </a:r>
            <a:r>
              <a:rPr lang="en-US" sz="2100" kern="0" spc="-27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7305675" y="5413772"/>
            <a:ext cx="488575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точность на эталоне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2353925" y="4118372"/>
            <a:ext cx="4743450" cy="1752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11100" y="4337447"/>
            <a:ext cx="435597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3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ДЕЛЬТА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611100" y="4699397"/>
            <a:ext cx="435597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kern="0" spc="-216" dirty="0">
                <a:solidFill>
                  <a:srgbClr val="1A1A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+24,0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12611100" y="5347097"/>
            <a:ext cx="435597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пунктов точности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14400" y="6356747"/>
            <a:ext cx="5745659" cy="3819525"/>
          </a:xfrm>
          <a:prstGeom prst="rect">
            <a:avLst/>
          </a:prstGeom>
          <a:solidFill>
            <a:srgbClr val="EFEAD9"/>
          </a:solidFill>
          <a:ln w="9525">
            <a:solidFill>
              <a:srgbClr val="DCD4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52525" y="6948339"/>
            <a:ext cx="542749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ЛОКАЛЬНОСТИ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152525" y="7310289"/>
            <a:ext cx="5427491" cy="6895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5400" kern="0" spc="-243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−0,5 </a:t>
            </a:r>
            <a:r>
              <a:rPr lang="en-US" sz="2100" kern="0" spc="-243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п.п.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1152525" y="8037909"/>
            <a:ext cx="5427491" cy="158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всего на столько каскад + gpt-oss-120b уступает коммерческой конфигурации — при полной независимости от внешних API.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926759" y="6356747"/>
            <a:ext cx="755151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2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СЦЕНАРИЯ РАЗВЁРТЫВАНИЯ СЛОЯ 4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6926759" y="6794897"/>
            <a:ext cx="3380631" cy="3381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926759" y="10166747"/>
            <a:ext cx="3380631" cy="952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28" name="Shape 26"/>
          <p:cNvSpPr/>
          <p:nvPr/>
        </p:nvSpPr>
        <p:spPr>
          <a:xfrm>
            <a:off x="6926759" y="6794897"/>
            <a:ext cx="3380631" cy="38100"/>
          </a:xfrm>
          <a:prstGeom prst="rect">
            <a:avLst/>
          </a:prstGeom>
          <a:solidFill>
            <a:srgbClr val="3A4258"/>
          </a:solidFill>
          <a:ln/>
        </p:spPr>
      </p:sp>
      <p:sp>
        <p:nvSpPr>
          <p:cNvPr id="29" name="Shape 27"/>
          <p:cNvSpPr/>
          <p:nvPr/>
        </p:nvSpPr>
        <p:spPr>
          <a:xfrm>
            <a:off x="6926759" y="6794897"/>
            <a:ext cx="9525" cy="338137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30" name="Shape 28"/>
          <p:cNvSpPr/>
          <p:nvPr/>
        </p:nvSpPr>
        <p:spPr>
          <a:xfrm>
            <a:off x="10297864" y="6794897"/>
            <a:ext cx="9525" cy="338137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31" name="Text 29"/>
          <p:cNvSpPr/>
          <p:nvPr/>
        </p:nvSpPr>
        <p:spPr>
          <a:xfrm>
            <a:off x="7126784" y="7004447"/>
            <a:ext cx="306999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36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МАКСИМАЛЬНАЯ ТОЧНОСТЬ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7126784" y="7652147"/>
            <a:ext cx="30699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-1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4.5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7126784" y="7995047"/>
            <a:ext cx="3069998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Точность 93,8 %; коммерческое API с гарантией качества обслуживания вендора.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10459789" y="6794897"/>
            <a:ext cx="3380631" cy="3381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0459789" y="10166747"/>
            <a:ext cx="3380631" cy="952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36" name="Shape 34"/>
          <p:cNvSpPr/>
          <p:nvPr/>
        </p:nvSpPr>
        <p:spPr>
          <a:xfrm>
            <a:off x="10459789" y="6794897"/>
            <a:ext cx="3380631" cy="38100"/>
          </a:xfrm>
          <a:prstGeom prst="rect">
            <a:avLst/>
          </a:prstGeom>
          <a:solidFill>
            <a:srgbClr val="3A4258"/>
          </a:solidFill>
          <a:ln/>
        </p:spPr>
      </p:sp>
      <p:sp>
        <p:nvSpPr>
          <p:cNvPr id="37" name="Shape 35"/>
          <p:cNvSpPr/>
          <p:nvPr/>
        </p:nvSpPr>
        <p:spPr>
          <a:xfrm>
            <a:off x="10459789" y="6794897"/>
            <a:ext cx="9525" cy="338137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38" name="Shape 36"/>
          <p:cNvSpPr/>
          <p:nvPr/>
        </p:nvSpPr>
        <p:spPr>
          <a:xfrm>
            <a:off x="13830895" y="6794897"/>
            <a:ext cx="9525" cy="338137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39" name="Text 37"/>
          <p:cNvSpPr/>
          <p:nvPr/>
        </p:nvSpPr>
        <p:spPr>
          <a:xfrm>
            <a:off x="10659814" y="7004447"/>
            <a:ext cx="306999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36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ОПТИМАЛЬНОЕ СООТНОШЕНИЕ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10659814" y="7652147"/>
            <a:ext cx="30699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-1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10659814" y="7995047"/>
            <a:ext cx="3069998" cy="2038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Точность 93,8 % при минимальной стоимости вызова; парето-оптимальная конфигурация.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13992820" y="6794897"/>
            <a:ext cx="3380780" cy="3381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13992820" y="10166747"/>
            <a:ext cx="3380780" cy="952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44" name="Shape 42"/>
          <p:cNvSpPr/>
          <p:nvPr/>
        </p:nvSpPr>
        <p:spPr>
          <a:xfrm>
            <a:off x="13992820" y="6794897"/>
            <a:ext cx="3380780" cy="38100"/>
          </a:xfrm>
          <a:prstGeom prst="rect">
            <a:avLst/>
          </a:prstGeom>
          <a:solidFill>
            <a:srgbClr val="3A4258"/>
          </a:solidFill>
          <a:ln/>
        </p:spPr>
      </p:sp>
      <p:sp>
        <p:nvSpPr>
          <p:cNvPr id="45" name="Shape 43"/>
          <p:cNvSpPr/>
          <p:nvPr/>
        </p:nvSpPr>
        <p:spPr>
          <a:xfrm>
            <a:off x="13992820" y="6794897"/>
            <a:ext cx="9525" cy="338137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46" name="Shape 44"/>
          <p:cNvSpPr/>
          <p:nvPr/>
        </p:nvSpPr>
        <p:spPr>
          <a:xfrm>
            <a:off x="17364075" y="6794897"/>
            <a:ext cx="9525" cy="3381375"/>
          </a:xfrm>
          <a:prstGeom prst="rect">
            <a:avLst/>
          </a:prstGeom>
          <a:solidFill>
            <a:srgbClr val="DCD4BF"/>
          </a:solidFill>
          <a:ln/>
        </p:spPr>
      </p:sp>
      <p:sp>
        <p:nvSpPr>
          <p:cNvPr id="47" name="Text 45"/>
          <p:cNvSpPr/>
          <p:nvPr/>
        </p:nvSpPr>
        <p:spPr>
          <a:xfrm>
            <a:off x="14192845" y="7004447"/>
            <a:ext cx="307015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36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ПОЛНОСТЬЮ ЛОКАЛЬНО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14192845" y="7652147"/>
            <a:ext cx="307015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-1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gpt-oss-120b</a:t>
            </a:r>
            <a:endParaRPr lang="en-US" sz="2100" dirty="0"/>
          </a:p>
        </p:txBody>
      </p:sp>
      <p:sp>
        <p:nvSpPr>
          <p:cNvPr id="49" name="Text 47"/>
          <p:cNvSpPr/>
          <p:nvPr/>
        </p:nvSpPr>
        <p:spPr>
          <a:xfrm>
            <a:off x="14192845" y="7995047"/>
            <a:ext cx="3070152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Точность 93,3 %; открытая модель, данные не покидают контур компании.</a:t>
            </a:r>
            <a:endParaRPr lang="en-US" sz="2100" dirty="0"/>
          </a:p>
        </p:txBody>
      </p:sp>
      <p:sp>
        <p:nvSpPr>
          <p:cNvPr id="50" name="Text 48"/>
          <p:cNvSpPr/>
          <p:nvPr/>
        </p:nvSpPr>
        <p:spPr>
          <a:xfrm>
            <a:off x="16333887" y="9639300"/>
            <a:ext cx="11159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52" dirty="0">
                <a:solidFill>
                  <a:srgbClr val="16203A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21</a:t>
            </a:r>
            <a:endParaRPr lang="en-US" sz="2100" dirty="0"/>
          </a:p>
        </p:txBody>
      </p:sp>
      <p:pic>
        <p:nvPicPr>
          <p:cNvPr id="51" name="Image 0" descr="preencoded.png"/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16459200" y="342900"/>
            <a:ext cx="914400" cy="88046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85800"/>
            <a:ext cx="578644" cy="400050"/>
          </a:xfrm>
          <a:prstGeom prst="rect">
            <a:avLst/>
          </a:prstGeom>
          <a:solidFill>
            <a:srgbClr val="1A2438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733425"/>
            <a:ext cx="4262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F5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664494" y="733425"/>
            <a:ext cx="51895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4 · ДОСТОВЕРНОСТЬ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1257300"/>
            <a:ext cx="16459200" cy="9525"/>
          </a:xfrm>
          <a:prstGeom prst="rect">
            <a:avLst/>
          </a:prstGeom>
          <a:solidFill>
            <a:srgbClr val="16203A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90675"/>
            <a:ext cx="1471612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106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Достоверность результата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2402086"/>
            <a:ext cx="1471612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на структурную утечку между эталоном и признаками: точность приведена в разрезе типа эталонного сигнала. При утечке выше был бы «текстовый» ярус — наблюдается обратное.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3403997"/>
            <a:ext cx="16459200" cy="5583436"/>
          </a:xfrm>
          <a:prstGeom prst="rect">
            <a:avLst/>
          </a:prstGeom>
          <a:solidFill>
            <a:srgbClr val="FFFFFF"/>
          </a:solidFill>
          <a:ln w="9525">
            <a:solidFill>
              <a:srgbClr val="DC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7775" y="3699272"/>
            <a:ext cx="1626622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2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ТОЧНОСТЬ КАСКАДА ПО ТИПУ ЭТАЛОННОГО СИГНАЛА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47775" y="4289822"/>
            <a:ext cx="27470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ЯРУС 0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47775" y="4632722"/>
            <a:ext cx="274701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Числовое поле → детерм. правило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086225" y="4594622"/>
            <a:ext cx="11258550" cy="342900"/>
          </a:xfrm>
          <a:prstGeom prst="rect">
            <a:avLst/>
          </a:prstGeom>
          <a:solidFill>
            <a:srgbClr val="EFEAD9"/>
          </a:solidFill>
          <a:ln/>
        </p:spPr>
      </p:sp>
      <p:sp>
        <p:nvSpPr>
          <p:cNvPr id="13" name="Shape 11"/>
          <p:cNvSpPr/>
          <p:nvPr/>
        </p:nvSpPr>
        <p:spPr>
          <a:xfrm>
            <a:off x="4086225" y="4594622"/>
            <a:ext cx="9378255" cy="342900"/>
          </a:xfrm>
          <a:prstGeom prst="rect">
            <a:avLst/>
          </a:prstGeom>
          <a:solidFill>
            <a:srgbClr val="2E7D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2991654" y="4756547"/>
            <a:ext cx="912168" cy="19050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15" name="Shape 13"/>
          <p:cNvSpPr/>
          <p:nvPr/>
        </p:nvSpPr>
        <p:spPr>
          <a:xfrm>
            <a:off x="12991654" y="4697462"/>
            <a:ext cx="19050" cy="137220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16" name="Shape 14"/>
          <p:cNvSpPr/>
          <p:nvPr/>
        </p:nvSpPr>
        <p:spPr>
          <a:xfrm>
            <a:off x="13903672" y="4697462"/>
            <a:ext cx="19050" cy="137220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17" name="Text 15"/>
          <p:cNvSpPr/>
          <p:nvPr/>
        </p:nvSpPr>
        <p:spPr>
          <a:xfrm>
            <a:off x="15440025" y="4289822"/>
            <a:ext cx="1600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40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83,3 %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440025" y="4632722"/>
            <a:ext cx="16002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kern="0" spc="84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[79,1 ; 87,2]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47775" y="5451872"/>
            <a:ext cx="27470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ЯРУС 1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47775" y="5794772"/>
            <a:ext cx="274701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Регуляторные теги OFF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4086225" y="5756672"/>
            <a:ext cx="11258550" cy="342900"/>
          </a:xfrm>
          <a:prstGeom prst="rect">
            <a:avLst/>
          </a:prstGeom>
          <a:solidFill>
            <a:srgbClr val="EFEAD9"/>
          </a:solidFill>
          <a:ln/>
        </p:spPr>
      </p:sp>
      <p:sp>
        <p:nvSpPr>
          <p:cNvPr id="22" name="Shape 20"/>
          <p:cNvSpPr/>
          <p:nvPr/>
        </p:nvSpPr>
        <p:spPr>
          <a:xfrm>
            <a:off x="4086225" y="5756672"/>
            <a:ext cx="10537924" cy="34290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23" name="Shape 21"/>
          <p:cNvSpPr/>
          <p:nvPr/>
        </p:nvSpPr>
        <p:spPr>
          <a:xfrm>
            <a:off x="14489013" y="5918597"/>
            <a:ext cx="259110" cy="19050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24" name="Shape 22"/>
          <p:cNvSpPr/>
          <p:nvPr/>
        </p:nvSpPr>
        <p:spPr>
          <a:xfrm>
            <a:off x="14489013" y="5859512"/>
            <a:ext cx="19050" cy="137220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25" name="Shape 23"/>
          <p:cNvSpPr/>
          <p:nvPr/>
        </p:nvSpPr>
        <p:spPr>
          <a:xfrm>
            <a:off x="14747974" y="5859512"/>
            <a:ext cx="19050" cy="137220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26" name="Text 24"/>
          <p:cNvSpPr/>
          <p:nvPr/>
        </p:nvSpPr>
        <p:spPr>
          <a:xfrm>
            <a:off x="15440025" y="5451872"/>
            <a:ext cx="1600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40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93,6 %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5440025" y="5794772"/>
            <a:ext cx="16002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kern="0" spc="84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[92,4 ; 94,7]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247775" y="6613922"/>
            <a:ext cx="27470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ЯРУС 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247775" y="6956822"/>
            <a:ext cx="274701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Текст этикетки — возможна утечка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4086225" y="6918722"/>
            <a:ext cx="11258550" cy="342900"/>
          </a:xfrm>
          <a:prstGeom prst="rect">
            <a:avLst/>
          </a:prstGeom>
          <a:solidFill>
            <a:srgbClr val="EFEAD9"/>
          </a:solidFill>
          <a:ln/>
        </p:spPr>
      </p:sp>
      <p:sp>
        <p:nvSpPr>
          <p:cNvPr id="31" name="Shape 29"/>
          <p:cNvSpPr/>
          <p:nvPr/>
        </p:nvSpPr>
        <p:spPr>
          <a:xfrm>
            <a:off x="4086225" y="6918722"/>
            <a:ext cx="9209484" cy="342900"/>
          </a:xfrm>
          <a:prstGeom prst="rect">
            <a:avLst/>
          </a:prstGeom>
          <a:solidFill>
            <a:srgbClr val="B05E2A"/>
          </a:solidFill>
          <a:ln/>
        </p:spPr>
      </p:sp>
      <p:sp>
        <p:nvSpPr>
          <p:cNvPr id="32" name="Shape 30"/>
          <p:cNvSpPr/>
          <p:nvPr/>
        </p:nvSpPr>
        <p:spPr>
          <a:xfrm>
            <a:off x="13104316" y="7080647"/>
            <a:ext cx="394097" cy="19050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33" name="Shape 31"/>
          <p:cNvSpPr/>
          <p:nvPr/>
        </p:nvSpPr>
        <p:spPr>
          <a:xfrm>
            <a:off x="13104316" y="7021562"/>
            <a:ext cx="19050" cy="137220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34" name="Shape 32"/>
          <p:cNvSpPr/>
          <p:nvPr/>
        </p:nvSpPr>
        <p:spPr>
          <a:xfrm>
            <a:off x="13498264" y="7021562"/>
            <a:ext cx="19050" cy="137220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35" name="Text 33"/>
          <p:cNvSpPr/>
          <p:nvPr/>
        </p:nvSpPr>
        <p:spPr>
          <a:xfrm>
            <a:off x="15440025" y="6613922"/>
            <a:ext cx="1600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40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81,8 %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5440025" y="6956822"/>
            <a:ext cx="16002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kern="0" spc="84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[80,1 ; 83,6]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1247775" y="7775972"/>
            <a:ext cx="15792450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38" name="Text 36"/>
          <p:cNvSpPr/>
          <p:nvPr/>
        </p:nvSpPr>
        <p:spPr>
          <a:xfrm>
            <a:off x="1247775" y="7918847"/>
            <a:ext cx="16266224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ОПРОВЕРЖЕНИЕ ПРЕТЕНЗИИ ОБ УТЕЧКЕ — </a:t>
            </a: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«текстовый» ярус, делящий сигнал с признаками модели, — </a:t>
            </a: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самый низкий (81,8 %)</a:t>
            </a: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на 11,8 п.п. ниже тег-ярусного. Завышения за счёт утечки нет.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14400" y="9254133"/>
            <a:ext cx="5308550" cy="1123950"/>
          </a:xfrm>
          <a:prstGeom prst="rect">
            <a:avLst/>
          </a:prstGeom>
          <a:solidFill>
            <a:srgbClr val="EFEAD9"/>
          </a:solidFill>
          <a:ln w="9525">
            <a:solidFill>
              <a:srgbClr val="DCD4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57275" y="9339858"/>
            <a:ext cx="517348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Выборка без пересечения брендов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1057275" y="9682758"/>
            <a:ext cx="517348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Бренды теста не пересекаются с обучающими.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6489650" y="9254133"/>
            <a:ext cx="5308550" cy="1123950"/>
          </a:xfrm>
          <a:prstGeom prst="rect">
            <a:avLst/>
          </a:prstGeom>
          <a:solidFill>
            <a:srgbClr val="EFEAD9"/>
          </a:solidFill>
          <a:ln w="9525">
            <a:solidFill>
              <a:srgbClr val="DCD4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32525" y="9339858"/>
            <a:ext cx="517348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Абляция по расстоянию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6632525" y="9682758"/>
            <a:ext cx="517348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Точность не падает на семантически дальних товарах.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12064901" y="9254133"/>
            <a:ext cx="5308550" cy="1123950"/>
          </a:xfrm>
          <a:prstGeom prst="rect">
            <a:avLst/>
          </a:prstGeom>
          <a:solidFill>
            <a:srgbClr val="EFEAD9"/>
          </a:solidFill>
          <a:ln w="9525">
            <a:solidFill>
              <a:srgbClr val="DCD4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207776" y="9339858"/>
            <a:ext cx="517348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Робастность к языку</a:t>
            </a:r>
            <a:endParaRPr lang="en-US" sz="2100" dirty="0"/>
          </a:p>
        </p:txBody>
      </p:sp>
      <p:sp>
        <p:nvSpPr>
          <p:cNvPr id="47" name="Text 45"/>
          <p:cNvSpPr/>
          <p:nvPr/>
        </p:nvSpPr>
        <p:spPr>
          <a:xfrm>
            <a:off x="12207776" y="9682758"/>
            <a:ext cx="517348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Сопоставимая точность на 5 языках этикеток.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16333887" y="9639300"/>
            <a:ext cx="11159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52" dirty="0">
                <a:solidFill>
                  <a:srgbClr val="16203A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21</a:t>
            </a:r>
            <a:endParaRPr lang="en-US" sz="2100" dirty="0"/>
          </a:p>
        </p:txBody>
      </p:sp>
      <p:pic>
        <p:nvPicPr>
          <p:cNvPr id="49" name="Image 0" descr="preencoded.png"/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16459200" y="342900"/>
            <a:ext cx="914400" cy="88046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85800"/>
            <a:ext cx="578644" cy="400050"/>
          </a:xfrm>
          <a:prstGeom prst="rect">
            <a:avLst/>
          </a:prstGeom>
          <a:solidFill>
            <a:srgbClr val="1A2438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733425"/>
            <a:ext cx="4262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F5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664494" y="733425"/>
            <a:ext cx="501038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5 · ДЕМОКОМПЛЕКС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1257300"/>
            <a:ext cx="16459200" cy="9525"/>
          </a:xfrm>
          <a:prstGeom prst="rect">
            <a:avLst/>
          </a:prstGeom>
          <a:solidFill>
            <a:srgbClr val="16203A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90675"/>
            <a:ext cx="14716125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50" kern="0" spc="-76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Демонстрационный комплекс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914400" y="2222153"/>
            <a:ext cx="1471612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Каскад обёрнут в комплекс для оператора каталога: ввод партнёрских полей и результат каскада с явной отметкой слоя-источника.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3109764"/>
            <a:ext cx="10510838" cy="6567636"/>
          </a:xfrm>
          <a:prstGeom prst="rect">
            <a:avLst/>
          </a:prstGeom>
          <a:solidFill>
            <a:srgbClr val="FFFFFF"/>
          </a:solidFill>
          <a:ln w="9525">
            <a:solidFill>
              <a:srgbClr val="DCD4B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19175" y="3214539"/>
            <a:ext cx="10301288" cy="635808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1691938" y="3109764"/>
            <a:ext cx="5681663" cy="7148513"/>
          </a:xfrm>
          <a:prstGeom prst="rect">
            <a:avLst/>
          </a:prstGeom>
          <a:solidFill>
            <a:srgbClr val="FFFFFF"/>
          </a:solidFill>
          <a:ln w="9525">
            <a:solidFill>
              <a:srgbClr val="DCD4B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701463" y="5658296"/>
            <a:ext cx="5662613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12" name="Text 9"/>
          <p:cNvSpPr/>
          <p:nvPr/>
        </p:nvSpPr>
        <p:spPr>
          <a:xfrm>
            <a:off x="11891963" y="3252639"/>
            <a:ext cx="544006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ИНТЕРФЕЙС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1891963" y="3614589"/>
            <a:ext cx="5440061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kern="0" spc="-1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видит оператор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1891963" y="3978325"/>
            <a:ext cx="5440061" cy="158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Слева — ввод партнёрских полей, справа — результат каскада: значение, уверенность и слой-источник ( </a:t>
            </a: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· ML · LLM-FALLBACK </a:t>
            </a: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11701463" y="7953524"/>
            <a:ext cx="5662613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16" name="Text 13"/>
          <p:cNvSpPr/>
          <p:nvPr/>
        </p:nvSpPr>
        <p:spPr>
          <a:xfrm>
            <a:off x="11891963" y="5934521"/>
            <a:ext cx="544006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ВАЛИДАЦИЯ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1891963" y="6296471"/>
            <a:ext cx="5440061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kern="0" spc="-1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Сигнал байес-валидатора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11891963" y="6660207"/>
            <a:ext cx="5440061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Подозрительные предсказания помечаются </a:t>
            </a: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</a:t>
            </a: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PMI-разложением и направляются на приоритетную проверку.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11891963" y="8229749"/>
            <a:ext cx="544006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ЭФФЕКТ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11891963" y="8591699"/>
            <a:ext cx="5440061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kern="0" spc="-1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Выборочная верификация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11891963" y="8955435"/>
            <a:ext cx="5440061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Ручная проверка с </a:t>
            </a: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 → 5–10 % </a:t>
            </a: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ячеек, нагрузка оператора меньше </a:t>
            </a: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10–20 раз </a:t>
            </a: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16333887" y="9639300"/>
            <a:ext cx="11159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52" dirty="0">
                <a:solidFill>
                  <a:srgbClr val="16203A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21</a:t>
            </a:r>
            <a:endParaRPr lang="en-US" sz="21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>
            <a:alphaModFix amt="92000"/>
          </a:blip>
          <a:stretch>
            <a:fillRect/>
          </a:stretch>
        </p:blipFill>
        <p:spPr>
          <a:xfrm>
            <a:off x="16459200" y="342900"/>
            <a:ext cx="914400" cy="8804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85800"/>
            <a:ext cx="578644" cy="400050"/>
          </a:xfrm>
          <a:prstGeom prst="rect">
            <a:avLst/>
          </a:prstGeom>
          <a:solidFill>
            <a:srgbClr val="1A2438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733425"/>
            <a:ext cx="4262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F5F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664494" y="733425"/>
            <a:ext cx="12025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962275" y="881063"/>
            <a:ext cx="133350" cy="9525"/>
          </a:xfrm>
          <a:prstGeom prst="rect">
            <a:avLst/>
          </a:prstGeom>
          <a:solidFill>
            <a:srgbClr val="2A344C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267075" y="733425"/>
            <a:ext cx="498738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ДОСТИГНУТЫЕ РЕЗУЛЬТАТЫ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1257300"/>
            <a:ext cx="16459200" cy="9525"/>
          </a:xfrm>
          <a:prstGeom prst="rect">
            <a:avLst/>
          </a:prstGeom>
          <a:solidFill>
            <a:srgbClr val="16203A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90675"/>
            <a:ext cx="1471612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106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Достигнутые результаты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914400" y="2402086"/>
            <a:ext cx="1471612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числовые значения подтверждены воспроизводимыми артефактами эталонной выборки.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" y="3150691"/>
            <a:ext cx="16459200" cy="4410075"/>
          </a:xfrm>
          <a:prstGeom prst="rect">
            <a:avLst/>
          </a:prstGeom>
          <a:solidFill>
            <a:srgbClr val="FFFFFF"/>
          </a:solidFill>
          <a:ln w="9525">
            <a:solidFill>
              <a:srgbClr val="DCD4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9162" y="3155454"/>
            <a:ext cx="4605784" cy="733425"/>
          </a:xfrm>
          <a:prstGeom prst="rect">
            <a:avLst/>
          </a:prstGeom>
          <a:solidFill>
            <a:srgbClr val="EFEAD9"/>
          </a:solidFill>
          <a:ln/>
        </p:spPr>
      </p:sp>
      <p:sp>
        <p:nvSpPr>
          <p:cNvPr id="12" name="Shape 10"/>
          <p:cNvSpPr/>
          <p:nvPr/>
        </p:nvSpPr>
        <p:spPr>
          <a:xfrm>
            <a:off x="919162" y="3879354"/>
            <a:ext cx="4605784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13" name="Text 11"/>
          <p:cNvSpPr/>
          <p:nvPr/>
        </p:nvSpPr>
        <p:spPr>
          <a:xfrm>
            <a:off x="1166812" y="3365004"/>
            <a:ext cx="42486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ПОКАЗАТЕЛЬ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524946" y="3155454"/>
            <a:ext cx="4934843" cy="733425"/>
          </a:xfrm>
          <a:prstGeom prst="rect">
            <a:avLst/>
          </a:prstGeom>
          <a:solidFill>
            <a:srgbClr val="EFEAD9"/>
          </a:solidFill>
          <a:ln/>
        </p:spPr>
      </p:sp>
      <p:sp>
        <p:nvSpPr>
          <p:cNvPr id="15" name="Shape 13"/>
          <p:cNvSpPr/>
          <p:nvPr/>
        </p:nvSpPr>
        <p:spPr>
          <a:xfrm>
            <a:off x="5524946" y="3879354"/>
            <a:ext cx="4934843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16" name="Text 14"/>
          <p:cNvSpPr/>
          <p:nvPr/>
        </p:nvSpPr>
        <p:spPr>
          <a:xfrm>
            <a:off x="5772596" y="3365004"/>
            <a:ext cx="458758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БЫЛО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0459789" y="3155454"/>
            <a:ext cx="6909048" cy="733425"/>
          </a:xfrm>
          <a:prstGeom prst="rect">
            <a:avLst/>
          </a:prstGeom>
          <a:solidFill>
            <a:srgbClr val="EFEAD9"/>
          </a:solidFill>
          <a:ln/>
        </p:spPr>
      </p:sp>
      <p:sp>
        <p:nvSpPr>
          <p:cNvPr id="18" name="Shape 16"/>
          <p:cNvSpPr/>
          <p:nvPr/>
        </p:nvSpPr>
        <p:spPr>
          <a:xfrm>
            <a:off x="10459789" y="3879354"/>
            <a:ext cx="6909048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19" name="Text 17"/>
          <p:cNvSpPr/>
          <p:nvPr/>
        </p:nvSpPr>
        <p:spPr>
          <a:xfrm>
            <a:off x="10707439" y="3365004"/>
            <a:ext cx="662101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СТАЛО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9162" y="4612779"/>
            <a:ext cx="4605784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21" name="Text 19"/>
          <p:cNvSpPr/>
          <p:nvPr/>
        </p:nvSpPr>
        <p:spPr>
          <a:xfrm>
            <a:off x="1166812" y="4098429"/>
            <a:ext cx="42486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Точность обогащения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5524946" y="4612779"/>
            <a:ext cx="4934843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23" name="Text 21"/>
          <p:cNvSpPr/>
          <p:nvPr/>
        </p:nvSpPr>
        <p:spPr>
          <a:xfrm>
            <a:off x="5772596" y="4098429"/>
            <a:ext cx="458758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 ручной труд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0459789" y="4612779"/>
            <a:ext cx="6909048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25" name="Text 23"/>
          <p:cNvSpPr/>
          <p:nvPr/>
        </p:nvSpPr>
        <p:spPr>
          <a:xfrm>
            <a:off x="10707439" y="4098429"/>
            <a:ext cx="662101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каскад </a:t>
            </a: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93,8 % </a:t>
            </a: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автоматически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19162" y="5346204"/>
            <a:ext cx="4605784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27" name="Text 25"/>
          <p:cNvSpPr/>
          <p:nvPr/>
        </p:nvSpPr>
        <p:spPr>
          <a:xfrm>
            <a:off x="1166812" y="4831854"/>
            <a:ext cx="42486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обращений к LLM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5524946" y="5346204"/>
            <a:ext cx="4934843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29" name="Text 27"/>
          <p:cNvSpPr/>
          <p:nvPr/>
        </p:nvSpPr>
        <p:spPr>
          <a:xfrm>
            <a:off x="5772596" y="4831854"/>
            <a:ext cx="458758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 ячеек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0459789" y="5346204"/>
            <a:ext cx="6909048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31" name="Text 29"/>
          <p:cNvSpPr/>
          <p:nvPr/>
        </p:nvSpPr>
        <p:spPr>
          <a:xfrm>
            <a:off x="10707439" y="4831854"/>
            <a:ext cx="662101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8,2 % </a:t>
            </a: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ячеек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919162" y="6079629"/>
            <a:ext cx="4605784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33" name="Text 31"/>
          <p:cNvSpPr/>
          <p:nvPr/>
        </p:nvSpPr>
        <p:spPr>
          <a:xfrm>
            <a:off x="1166812" y="5565279"/>
            <a:ext cx="42486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Открытая модель · локально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5524946" y="6079629"/>
            <a:ext cx="4934843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35" name="Text 33"/>
          <p:cNvSpPr/>
          <p:nvPr/>
        </p:nvSpPr>
        <p:spPr>
          <a:xfrm>
            <a:off x="5772596" y="5565279"/>
            <a:ext cx="458758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прямой gpt-oss-120b — 69,3 %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10459789" y="6079629"/>
            <a:ext cx="6909048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37" name="Text 35"/>
          <p:cNvSpPr/>
          <p:nvPr/>
        </p:nvSpPr>
        <p:spPr>
          <a:xfrm>
            <a:off x="10707439" y="5565279"/>
            <a:ext cx="662101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каскад + gpt-oss — </a:t>
            </a: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93,3 % </a:t>
            </a:r>
            <a:r>
              <a:rPr lang="en-US" sz="210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(+ 24,0 п.п.)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919162" y="6813054"/>
            <a:ext cx="4605784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39" name="Text 37"/>
          <p:cNvSpPr/>
          <p:nvPr/>
        </p:nvSpPr>
        <p:spPr>
          <a:xfrm>
            <a:off x="1166812" y="6298704"/>
            <a:ext cx="42486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Ручная верификация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5524946" y="6813054"/>
            <a:ext cx="4934843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41" name="Text 39"/>
          <p:cNvSpPr/>
          <p:nvPr/>
        </p:nvSpPr>
        <p:spPr>
          <a:xfrm>
            <a:off x="5772596" y="6298704"/>
            <a:ext cx="458758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~100 % ячеек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10459789" y="6813054"/>
            <a:ext cx="6909048" cy="9525"/>
          </a:xfrm>
          <a:prstGeom prst="rect">
            <a:avLst/>
          </a:prstGeom>
          <a:solidFill>
            <a:srgbClr val="E7E0CB"/>
          </a:solidFill>
          <a:ln/>
        </p:spPr>
      </p:sp>
      <p:sp>
        <p:nvSpPr>
          <p:cNvPr id="43" name="Text 41"/>
          <p:cNvSpPr/>
          <p:nvPr/>
        </p:nvSpPr>
        <p:spPr>
          <a:xfrm>
            <a:off x="10707439" y="6298704"/>
            <a:ext cx="662101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~5–10 % </a:t>
            </a: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ячеек · в 10–20 раз меньше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1166812" y="7032129"/>
            <a:ext cx="424865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Независимость от вендора LLM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5772596" y="7032129"/>
            <a:ext cx="458758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привязка к одному поставщику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10707439" y="7032129"/>
            <a:ext cx="662101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моделей </a:t>
            </a:r>
            <a:r>
              <a:rPr lang="en-US" sz="2100" dirty="0">
                <a:solidFill>
                  <a:srgbClr val="2A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близкой точностью</a:t>
            </a:r>
            <a:endParaRPr lang="en-US" sz="2100" dirty="0"/>
          </a:p>
        </p:txBody>
      </p:sp>
      <p:sp>
        <p:nvSpPr>
          <p:cNvPr id="47" name="Text 45"/>
          <p:cNvSpPr/>
          <p:nvPr/>
        </p:nvSpPr>
        <p:spPr>
          <a:xfrm>
            <a:off x="16333887" y="9639300"/>
            <a:ext cx="11159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52" dirty="0">
                <a:solidFill>
                  <a:srgbClr val="16203A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21</a:t>
            </a:r>
            <a:endParaRPr lang="en-US" sz="2100" dirty="0"/>
          </a:p>
        </p:txBody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16459200" y="342900"/>
            <a:ext cx="914400" cy="88046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481388"/>
            <a:ext cx="10497503" cy="2369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000" kern="0" spc="-225" dirty="0">
                <a:solidFill>
                  <a:srgbClr val="16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 ответить на ваши вопросы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914400" y="5700713"/>
            <a:ext cx="1049750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kern="0" spc="462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1868150" y="3481388"/>
            <a:ext cx="5124450" cy="512445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B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4375" y="3757613"/>
            <a:ext cx="457200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137265" y="8834438"/>
            <a:ext cx="458621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kern="0" spc="462" dirty="0">
                <a:solidFill>
                  <a:srgbClr val="6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РЕПОЗИТОРИЙ ПРОЕКТА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333887" y="9639300"/>
            <a:ext cx="11159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52" dirty="0">
                <a:solidFill>
                  <a:srgbClr val="16203A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21</a:t>
            </a:r>
            <a:endParaRPr lang="en-US" sz="2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alphaModFix amt="95000"/>
          </a:blip>
          <a:stretch>
            <a:fillRect/>
          </a:stretch>
        </p:blipFill>
        <p:spPr>
          <a:xfrm>
            <a:off x="914400" y="533400"/>
            <a:ext cx="1714500" cy="1650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1770</Words>
  <Application>Microsoft Macintosh PowerPoint</Application>
  <PresentationFormat>Custom</PresentationFormat>
  <Paragraphs>352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Mikhail Frolov</cp:lastModifiedBy>
  <cp:revision>6</cp:revision>
  <dcterms:created xsi:type="dcterms:W3CDTF">2026-05-21T13:52:53Z</dcterms:created>
  <dcterms:modified xsi:type="dcterms:W3CDTF">2026-05-21T14:01:32Z</dcterms:modified>
</cp:coreProperties>
</file>