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6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7"/>
    <p:restoredTop sz="94610"/>
  </p:normalViewPr>
  <p:slideViewPr>
    <p:cSldViewPr snapToGrid="0" snapToObjects="1">
      <p:cViewPr varScale="1">
        <p:scale>
          <a:sx n="83" d="100"/>
          <a:sy n="83" d="100"/>
        </p:scale>
        <p:origin x="36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890555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1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15144750" y="838200"/>
            <a:ext cx="2095500" cy="201788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47750" y="1371600"/>
            <a:ext cx="1667827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117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МОСКОВСКИЙ АВИАЦИОННЫЙ ИНСТИТУТ</a:t>
            </a:r>
            <a:endParaRPr lang="en-US" sz="1950" dirty="0"/>
          </a:p>
        </p:txBody>
      </p:sp>
      <p:sp>
        <p:nvSpPr>
          <p:cNvPr id="4" name="Text 1"/>
          <p:cNvSpPr/>
          <p:nvPr/>
        </p:nvSpPr>
        <p:spPr>
          <a:xfrm>
            <a:off x="1047750" y="1766888"/>
            <a:ext cx="1667827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НАЦИОНАЛЬНЫЙ ИССЛЕДОВАТЕЛЬСКИЙ УНИВЕРСИТЕТ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1047750" y="2176463"/>
            <a:ext cx="1667827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ИНСТИТУТ № 8 «ИНФОРМАЦИОННЫЕ ТЕХНОЛОГИИ И ПРИКЛАДНАЯ МАТЕМАТИКА» · КАФЕДРА 806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804862" y="3669506"/>
            <a:ext cx="16678275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800" kern="0" spc="360" dirty="0">
                <a:solidFill>
                  <a:srgbClr val="B05E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ВЫПУСКНАЯ КВАЛИФИКАЦИОННАЯ РАБОТА МАГИСТРА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785938" y="4231481"/>
            <a:ext cx="14716125" cy="27194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6900" kern="0" spc="-172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Система автоматизированного обогащения товарных данных для интернет-магазина</a:t>
            </a:r>
            <a:endParaRPr lang="en-US" sz="6900" dirty="0"/>
          </a:p>
        </p:txBody>
      </p:sp>
      <p:sp>
        <p:nvSpPr>
          <p:cNvPr id="8" name="Shape 5"/>
          <p:cNvSpPr/>
          <p:nvPr/>
        </p:nvSpPr>
        <p:spPr>
          <a:xfrm>
            <a:off x="1047750" y="8148638"/>
            <a:ext cx="16192500" cy="9525"/>
          </a:xfrm>
          <a:prstGeom prst="rect">
            <a:avLst/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047750" y="8424863"/>
            <a:ext cx="80644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kern="0" spc="257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СТУДЕНТ</a:t>
            </a:r>
            <a:endParaRPr lang="en-US" sz="1425" dirty="0"/>
          </a:p>
        </p:txBody>
      </p:sp>
      <p:sp>
        <p:nvSpPr>
          <p:cNvPr id="10" name="Text 7"/>
          <p:cNvSpPr/>
          <p:nvPr/>
        </p:nvSpPr>
        <p:spPr>
          <a:xfrm>
            <a:off x="1047750" y="8763000"/>
            <a:ext cx="8064437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Фролов Михаил Александрович</a:t>
            </a:r>
            <a:endParaRPr lang="en-US" sz="2250" dirty="0"/>
          </a:p>
        </p:txBody>
      </p:sp>
      <p:sp>
        <p:nvSpPr>
          <p:cNvPr id="11" name="Text 8"/>
          <p:cNvSpPr/>
          <p:nvPr/>
        </p:nvSpPr>
        <p:spPr>
          <a:xfrm>
            <a:off x="1047750" y="9186863"/>
            <a:ext cx="806443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Группа М8О-206СВ-24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9410700" y="8424863"/>
            <a:ext cx="8064437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kern="0" spc="257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НАУЧНЫЙ РУКОВОДИТЕЛЬ</a:t>
            </a:r>
            <a:endParaRPr lang="en-US" sz="1425" dirty="0"/>
          </a:p>
        </p:txBody>
      </p:sp>
      <p:sp>
        <p:nvSpPr>
          <p:cNvPr id="13" name="Text 10"/>
          <p:cNvSpPr/>
          <p:nvPr/>
        </p:nvSpPr>
        <p:spPr>
          <a:xfrm>
            <a:off x="9410700" y="8763000"/>
            <a:ext cx="8064437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Судаков Владимир Анатольевич</a:t>
            </a:r>
            <a:endParaRPr lang="en-US" sz="2250" dirty="0"/>
          </a:p>
        </p:txBody>
      </p:sp>
      <p:sp>
        <p:nvSpPr>
          <p:cNvPr id="14" name="Text 11"/>
          <p:cNvSpPr/>
          <p:nvPr/>
        </p:nvSpPr>
        <p:spPr>
          <a:xfrm>
            <a:off x="9410700" y="9186863"/>
            <a:ext cx="806443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д.т.н., профессор кафедры 806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685800"/>
            <a:ext cx="508695" cy="357188"/>
          </a:xfrm>
          <a:prstGeom prst="rect">
            <a:avLst/>
          </a:prstGeom>
          <a:solidFill>
            <a:srgbClr val="1A2438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28700" y="733425"/>
            <a:ext cx="35629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b="1" kern="0" spc="158" dirty="0">
                <a:solidFill>
                  <a:srgbClr val="F5F1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75" dirty="0"/>
          </a:p>
        </p:txBody>
      </p:sp>
      <p:sp>
        <p:nvSpPr>
          <p:cNvPr id="4" name="Text 2"/>
          <p:cNvSpPr/>
          <p:nvPr/>
        </p:nvSpPr>
        <p:spPr>
          <a:xfrm>
            <a:off x="1594545" y="733425"/>
            <a:ext cx="132442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284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КОНТЕКСТ</a:t>
            </a:r>
            <a:endParaRPr lang="en-US" sz="1575" dirty="0"/>
          </a:p>
        </p:txBody>
      </p:sp>
      <p:sp>
        <p:nvSpPr>
          <p:cNvPr id="5" name="Shape 3"/>
          <p:cNvSpPr/>
          <p:nvPr/>
        </p:nvSpPr>
        <p:spPr>
          <a:xfrm>
            <a:off x="3014216" y="859631"/>
            <a:ext cx="133350" cy="9525"/>
          </a:xfrm>
          <a:prstGeom prst="rect">
            <a:avLst/>
          </a:prstGeom>
          <a:solidFill>
            <a:srgbClr val="2A344C">
              <a:alpha val="50000"/>
            </a:srgbClr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319016" y="733425"/>
            <a:ext cx="273191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284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АКТУАЛЬНОСТЬ ТЕМЫ</a:t>
            </a:r>
            <a:endParaRPr lang="en-US" sz="1575" dirty="0"/>
          </a:p>
        </p:txBody>
      </p:sp>
      <p:sp>
        <p:nvSpPr>
          <p:cNvPr id="7" name="Shape 5"/>
          <p:cNvSpPr/>
          <p:nvPr/>
        </p:nvSpPr>
        <p:spPr>
          <a:xfrm>
            <a:off x="914400" y="1214438"/>
            <a:ext cx="16459200" cy="9525"/>
          </a:xfrm>
          <a:prstGeom prst="rect">
            <a:avLst/>
          </a:prstGeom>
          <a:solidFill>
            <a:srgbClr val="16203A">
              <a:alpha val="85000"/>
            </a:srgbClr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14400" y="1547813"/>
            <a:ext cx="14716125" cy="6781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kern="0" spc="-106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Карточка товара — центр цифровой витрины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914400" y="2359298"/>
            <a:ext cx="14716125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полноты карточки зависят поиск, ранжирование и конверсия. Партнёрский ввод неоднороден, пробелы исторически закрывают контент-менеджеры вручную — и этот подход не масштабируется.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3384128"/>
            <a:ext cx="5308550" cy="1723058"/>
          </a:xfrm>
          <a:prstGeom prst="rect">
            <a:avLst/>
          </a:prstGeom>
          <a:solidFill>
            <a:srgbClr val="EFEAD9"/>
          </a:solidFill>
          <a:ln w="9525">
            <a:solidFill>
              <a:srgbClr val="DCD4B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228725" y="3560341"/>
            <a:ext cx="71058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4500" kern="0" spc="-203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4500" dirty="0"/>
          </a:p>
        </p:txBody>
      </p:sp>
      <p:sp>
        <p:nvSpPr>
          <p:cNvPr id="12" name="Text 10"/>
          <p:cNvSpPr/>
          <p:nvPr/>
        </p:nvSpPr>
        <p:spPr>
          <a:xfrm>
            <a:off x="1958355" y="3898478"/>
            <a:ext cx="1234008" cy="327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2400" kern="0" spc="-24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трлн ₽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228725" y="4260428"/>
            <a:ext cx="4820297" cy="233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16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ГОДОВОЙ ОБЪЁМ E-COMMERCE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228725" y="4550941"/>
            <a:ext cx="4820297" cy="31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75" dirty="0">
                <a:solidFill>
                  <a:srgbClr val="6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Россия, 2024–2025</a:t>
            </a:r>
            <a:endParaRPr lang="en-US" sz="1575" dirty="0"/>
          </a:p>
        </p:txBody>
      </p:sp>
      <p:sp>
        <p:nvSpPr>
          <p:cNvPr id="15" name="Shape 13"/>
          <p:cNvSpPr/>
          <p:nvPr/>
        </p:nvSpPr>
        <p:spPr>
          <a:xfrm>
            <a:off x="6489650" y="3384128"/>
            <a:ext cx="5308625" cy="1723058"/>
          </a:xfrm>
          <a:prstGeom prst="rect">
            <a:avLst/>
          </a:prstGeom>
          <a:solidFill>
            <a:srgbClr val="EFEAD9"/>
          </a:solidFill>
          <a:ln w="9525">
            <a:solidFill>
              <a:srgbClr val="DCD4BF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803975" y="3560341"/>
            <a:ext cx="1020961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4500" kern="0" spc="-203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3–7</a:t>
            </a:r>
            <a:endParaRPr lang="en-US" sz="4500" dirty="0"/>
          </a:p>
        </p:txBody>
      </p:sp>
      <p:sp>
        <p:nvSpPr>
          <p:cNvPr id="17" name="Text 15"/>
          <p:cNvSpPr/>
          <p:nvPr/>
        </p:nvSpPr>
        <p:spPr>
          <a:xfrm>
            <a:off x="7843986" y="3898478"/>
            <a:ext cx="615255" cy="327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2400" kern="0" spc="-24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803975" y="4260428"/>
            <a:ext cx="4820374" cy="233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16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РУЧНОЙ ТРУД ОПЕРАТОРА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803975" y="4550941"/>
            <a:ext cx="4820374" cy="31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75" dirty="0">
                <a:solidFill>
                  <a:srgbClr val="6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одну карточку товара</a:t>
            </a:r>
            <a:endParaRPr lang="en-US" sz="1575" dirty="0"/>
          </a:p>
        </p:txBody>
      </p:sp>
      <p:sp>
        <p:nvSpPr>
          <p:cNvPr id="20" name="Shape 18"/>
          <p:cNvSpPr/>
          <p:nvPr/>
        </p:nvSpPr>
        <p:spPr>
          <a:xfrm>
            <a:off x="12064975" y="3384128"/>
            <a:ext cx="5308550" cy="1723058"/>
          </a:xfrm>
          <a:prstGeom prst="rect">
            <a:avLst/>
          </a:prstGeom>
          <a:solidFill>
            <a:srgbClr val="EFEAD9"/>
          </a:solidFill>
          <a:ln w="9525">
            <a:solidFill>
              <a:srgbClr val="DCD4BF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2379300" y="3660353"/>
            <a:ext cx="843855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4500" kern="0" spc="-203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r>
              <a:rPr lang="en-US" sz="2250" kern="0" spc="-203" baseline="30000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4500" dirty="0"/>
          </a:p>
        </p:txBody>
      </p:sp>
      <p:sp>
        <p:nvSpPr>
          <p:cNvPr id="22" name="Text 20"/>
          <p:cNvSpPr/>
          <p:nvPr/>
        </p:nvSpPr>
        <p:spPr>
          <a:xfrm>
            <a:off x="13242206" y="3898478"/>
            <a:ext cx="1211163" cy="327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2400" kern="0" spc="-24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позиций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2379300" y="4260428"/>
            <a:ext cx="4820297" cy="233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16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КАТАЛОГИ КРУПНЫХ МАГАЗИНОВ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2379300" y="4550941"/>
            <a:ext cx="4820297" cy="31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75" dirty="0">
                <a:solidFill>
                  <a:srgbClr val="6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тысячи новинок ежедневно</a:t>
            </a:r>
            <a:endParaRPr lang="en-US" sz="1575" dirty="0"/>
          </a:p>
        </p:txBody>
      </p:sp>
      <p:sp>
        <p:nvSpPr>
          <p:cNvPr id="25" name="Shape 23"/>
          <p:cNvSpPr/>
          <p:nvPr/>
        </p:nvSpPr>
        <p:spPr>
          <a:xfrm>
            <a:off x="914400" y="5354836"/>
            <a:ext cx="16459200" cy="168778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914400" y="7033096"/>
            <a:ext cx="16459200" cy="9525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914400" y="5354836"/>
            <a:ext cx="16459200" cy="9525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914400" y="5354836"/>
            <a:ext cx="57150" cy="1687785"/>
          </a:xfrm>
          <a:prstGeom prst="rect">
            <a:avLst/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17364075" y="5354836"/>
            <a:ext cx="9525" cy="1687785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314450" y="5650111"/>
            <a:ext cx="4967459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b="1" kern="0" spc="225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СПРОС</a:t>
            </a:r>
            <a:endParaRPr lang="en-US" sz="1125" dirty="0"/>
          </a:p>
        </p:txBody>
      </p:sp>
      <p:sp>
        <p:nvSpPr>
          <p:cNvPr id="31" name="Text 29"/>
          <p:cNvSpPr/>
          <p:nvPr/>
        </p:nvSpPr>
        <p:spPr>
          <a:xfrm>
            <a:off x="1314450" y="5931098"/>
            <a:ext cx="4967459" cy="5838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500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Полная карточка </a:t>
            </a:r>
            <a:r>
              <a:rPr lang="en-US" sz="150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базовый фактор ранжирования и конверсии; каталог растёт непрерывно.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6442025" y="5650111"/>
            <a:ext cx="9525" cy="1097235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756350" y="5650111"/>
            <a:ext cx="4967535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b="1" kern="0" spc="225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ВХОД</a:t>
            </a:r>
            <a:endParaRPr lang="en-US" sz="1125" dirty="0"/>
          </a:p>
        </p:txBody>
      </p:sp>
      <p:sp>
        <p:nvSpPr>
          <p:cNvPr id="34" name="Text 32"/>
          <p:cNvSpPr/>
          <p:nvPr/>
        </p:nvSpPr>
        <p:spPr>
          <a:xfrm>
            <a:off x="6756350" y="5931098"/>
            <a:ext cx="4967535" cy="8543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50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Партнёры присылают </a:t>
            </a:r>
            <a:r>
              <a:rPr lang="en-US" sz="1500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неоднородные выгрузки </a:t>
            </a:r>
            <a:r>
              <a:rPr lang="en-US" sz="150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разные форматы, единицы, пропуски в ключевых полях.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11884000" y="5650111"/>
            <a:ext cx="9525" cy="1097235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12198325" y="5650111"/>
            <a:ext cx="4967535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b="1" kern="0" spc="225" dirty="0">
                <a:solidFill>
                  <a:srgbClr val="B05E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РАЗРЫВ</a:t>
            </a:r>
            <a:endParaRPr lang="en-US" sz="1125" dirty="0"/>
          </a:p>
        </p:txBody>
      </p:sp>
      <p:sp>
        <p:nvSpPr>
          <p:cNvPr id="37" name="Text 35"/>
          <p:cNvSpPr/>
          <p:nvPr/>
        </p:nvSpPr>
        <p:spPr>
          <a:xfrm>
            <a:off x="12198325" y="5931098"/>
            <a:ext cx="4967535" cy="8543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50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Ручной цикл </a:t>
            </a:r>
            <a:r>
              <a:rPr lang="en-US" sz="1500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масштабируется </a:t>
            </a:r>
            <a:r>
              <a:rPr lang="en-US" sz="150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рост каталога; бюджет и физическая выносливость оператора — жёсткие потолки.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914400" y="9782175"/>
            <a:ext cx="6824526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АВТОМАТИЗИРОВАННОГО ОБОГАЩЕНИЯ ТОВАРНЫХ ДАННЫХ · ВКР МАГИСТРА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16701492" y="9767888"/>
            <a:ext cx="74830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16203A">
                    <a:alpha val="9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20</a:t>
            </a:r>
            <a:endParaRPr lang="en-US" sz="1050" dirty="0"/>
          </a:p>
        </p:txBody>
      </p:sp>
      <p:pic>
        <p:nvPicPr>
          <p:cNvPr id="40" name="Image 0" descr="preencoded.png"/>
          <p:cNvPicPr>
            <a:picLocks noChangeAspect="1"/>
          </p:cNvPicPr>
          <p:nvPr/>
        </p:nvPicPr>
        <p:blipFill>
          <a:blip r:embed="rId3">
            <a:alphaModFix amt="92000"/>
          </a:blip>
          <a:stretch>
            <a:fillRect/>
          </a:stretch>
        </p:blipFill>
        <p:spPr>
          <a:xfrm>
            <a:off x="16459200" y="342900"/>
            <a:ext cx="914400" cy="88046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1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685800"/>
            <a:ext cx="508695" cy="357188"/>
          </a:xfrm>
          <a:prstGeom prst="rect">
            <a:avLst/>
          </a:prstGeom>
          <a:solidFill>
            <a:srgbClr val="1A2438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28700" y="733425"/>
            <a:ext cx="35629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b="1" kern="0" spc="158" dirty="0">
                <a:solidFill>
                  <a:srgbClr val="F5F1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75" dirty="0"/>
          </a:p>
        </p:txBody>
      </p:sp>
      <p:sp>
        <p:nvSpPr>
          <p:cNvPr id="4" name="Text 2"/>
          <p:cNvSpPr/>
          <p:nvPr/>
        </p:nvSpPr>
        <p:spPr>
          <a:xfrm>
            <a:off x="1594545" y="733425"/>
            <a:ext cx="116837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284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АНАЛОГИ</a:t>
            </a:r>
            <a:endParaRPr lang="en-US" sz="1575" dirty="0"/>
          </a:p>
        </p:txBody>
      </p:sp>
      <p:sp>
        <p:nvSpPr>
          <p:cNvPr id="5" name="Shape 3"/>
          <p:cNvSpPr/>
          <p:nvPr/>
        </p:nvSpPr>
        <p:spPr>
          <a:xfrm>
            <a:off x="2858170" y="859631"/>
            <a:ext cx="133350" cy="9525"/>
          </a:xfrm>
          <a:prstGeom prst="rect">
            <a:avLst/>
          </a:prstGeom>
          <a:solidFill>
            <a:srgbClr val="2A344C">
              <a:alpha val="50000"/>
            </a:srgbClr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162970" y="733425"/>
            <a:ext cx="433895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284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АНАЛИЗ СУЩЕСТВУЮЩИХ РЕШЕНИЙ</a:t>
            </a:r>
            <a:endParaRPr lang="en-US" sz="1575" dirty="0"/>
          </a:p>
        </p:txBody>
      </p:sp>
      <p:sp>
        <p:nvSpPr>
          <p:cNvPr id="7" name="Shape 5"/>
          <p:cNvSpPr/>
          <p:nvPr/>
        </p:nvSpPr>
        <p:spPr>
          <a:xfrm>
            <a:off x="914400" y="1214438"/>
            <a:ext cx="16459200" cy="9525"/>
          </a:xfrm>
          <a:prstGeom prst="rect">
            <a:avLst/>
          </a:prstGeom>
          <a:solidFill>
            <a:srgbClr val="16203A">
              <a:alpha val="85000"/>
            </a:srgbClr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14400" y="1547813"/>
            <a:ext cx="14716125" cy="13181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kern="0" spc="-106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Существующие подходы либо не извлекают атрибуты, либо делают это дорого</a:t>
            </a:r>
            <a:endParaRPr lang="en-US" sz="4800" dirty="0"/>
          </a:p>
        </p:txBody>
      </p:sp>
      <p:sp>
        <p:nvSpPr>
          <p:cNvPr id="9" name="Shape 7"/>
          <p:cNvSpPr/>
          <p:nvPr/>
        </p:nvSpPr>
        <p:spPr>
          <a:xfrm>
            <a:off x="914400" y="3189833"/>
            <a:ext cx="16459200" cy="4257675"/>
          </a:xfrm>
          <a:prstGeom prst="rect">
            <a:avLst/>
          </a:prstGeom>
          <a:solidFill>
            <a:srgbClr val="FFFFFF"/>
          </a:solidFill>
          <a:ln w="9525">
            <a:solidFill>
              <a:srgbClr val="DCD4BF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19162" y="3194596"/>
            <a:ext cx="4605858" cy="628650"/>
          </a:xfrm>
          <a:prstGeom prst="rect">
            <a:avLst/>
          </a:prstGeom>
          <a:solidFill>
            <a:srgbClr val="EFEAD9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19162" y="3813721"/>
            <a:ext cx="4605858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166812" y="3404146"/>
            <a:ext cx="424873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68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РЕШЕНИЕ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525021" y="3194596"/>
            <a:ext cx="6579840" cy="628650"/>
          </a:xfrm>
          <a:prstGeom prst="rect">
            <a:avLst/>
          </a:prstGeom>
          <a:solidFill>
            <a:srgbClr val="EFEAD9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525021" y="3813721"/>
            <a:ext cx="6579840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772671" y="3404146"/>
            <a:ext cx="628193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68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ПОДХОД К ОБОГАЩЕНИЮ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2104861" y="3194596"/>
            <a:ext cx="5263976" cy="628650"/>
          </a:xfrm>
          <a:prstGeom prst="rect">
            <a:avLst/>
          </a:prstGeom>
          <a:solidFill>
            <a:srgbClr val="EFEAD9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2104861" y="3813721"/>
            <a:ext cx="5263976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2352511" y="3404146"/>
            <a:ext cx="4926596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68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ОГРАНИЧЕНИЕ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9162" y="4718596"/>
            <a:ext cx="4605858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166812" y="4032796"/>
            <a:ext cx="4248734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Akeneo / Pimcore</a:t>
            </a:r>
            <a:endParaRPr lang="en-US" sz="1725" dirty="0"/>
          </a:p>
        </p:txBody>
      </p:sp>
      <p:sp>
        <p:nvSpPr>
          <p:cNvPr id="21" name="Shape 19"/>
          <p:cNvSpPr/>
          <p:nvPr/>
        </p:nvSpPr>
        <p:spPr>
          <a:xfrm>
            <a:off x="5525021" y="4718596"/>
            <a:ext cx="6579840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772671" y="4032796"/>
            <a:ext cx="6281935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Хранилище и редактор готовой товарной информации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2104861" y="4718596"/>
            <a:ext cx="5263976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2352511" y="4032796"/>
            <a:ext cx="4926596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6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Извлечение атрибутов из сырого ввода не решается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919162" y="5623471"/>
            <a:ext cx="4605858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1166812" y="4937671"/>
            <a:ext cx="4248734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Salsify</a:t>
            </a:r>
            <a:endParaRPr lang="en-US" sz="1725" dirty="0"/>
          </a:p>
        </p:txBody>
      </p:sp>
      <p:sp>
        <p:nvSpPr>
          <p:cNvPr id="27" name="Shape 25"/>
          <p:cNvSpPr/>
          <p:nvPr/>
        </p:nvSpPr>
        <p:spPr>
          <a:xfrm>
            <a:off x="5525021" y="5623471"/>
            <a:ext cx="6579840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772671" y="4937671"/>
            <a:ext cx="6281935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PIM с синдикацией и обменом данными с партнёрами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2104861" y="5623471"/>
            <a:ext cx="5263976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2352511" y="4937671"/>
            <a:ext cx="4926596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6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Автообогащение — внешний модуль поверх одной LLM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919162" y="6528346"/>
            <a:ext cx="4605858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166812" y="5842546"/>
            <a:ext cx="4248734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Прямой вызов LLM</a:t>
            </a:r>
            <a:endParaRPr lang="en-US" sz="1725" dirty="0"/>
          </a:p>
        </p:txBody>
      </p:sp>
      <p:sp>
        <p:nvSpPr>
          <p:cNvPr id="33" name="Shape 31"/>
          <p:cNvSpPr/>
          <p:nvPr/>
        </p:nvSpPr>
        <p:spPr>
          <a:xfrm>
            <a:off x="5525021" y="6528346"/>
            <a:ext cx="6579840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5772671" y="5842546"/>
            <a:ext cx="6281935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Одна публичная LLM вызывается на каждое поле товара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2104861" y="6528346"/>
            <a:ext cx="5263976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12352511" y="5842546"/>
            <a:ext cx="4926596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6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Дорого на больших каталогах; ошибки на числах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166812" y="6747421"/>
            <a:ext cx="4248734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Ручная разметка / краудсорсинг</a:t>
            </a:r>
            <a:endParaRPr lang="en-US" sz="1725" dirty="0"/>
          </a:p>
        </p:txBody>
      </p:sp>
      <p:sp>
        <p:nvSpPr>
          <p:cNvPr id="38" name="Text 36"/>
          <p:cNvSpPr/>
          <p:nvPr/>
        </p:nvSpPr>
        <p:spPr>
          <a:xfrm>
            <a:off x="5772671" y="6747421"/>
            <a:ext cx="6281935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Контент-менеджеры и внешние исполнители (Яндекс Толока и аналоги) заполняют поля вручную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12352511" y="6747421"/>
            <a:ext cx="4926596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6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масштабируется на миллионы SKU; неоднородное качество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914400" y="9782175"/>
            <a:ext cx="6824526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АВТОМАТИЗИРОВАННОГО ОБОГАЩЕНИЯ ТОВАРНЫХ ДАННЫХ · ВКР МАГИСТРА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16701492" y="9767888"/>
            <a:ext cx="74830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16203A">
                    <a:alpha val="9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20</a:t>
            </a:r>
            <a:endParaRPr lang="en-US" sz="1050" dirty="0"/>
          </a:p>
        </p:txBody>
      </p:sp>
      <p:pic>
        <p:nvPicPr>
          <p:cNvPr id="42" name="Image 0" descr="preencoded.png"/>
          <p:cNvPicPr>
            <a:picLocks noChangeAspect="1"/>
          </p:cNvPicPr>
          <p:nvPr/>
        </p:nvPicPr>
        <p:blipFill>
          <a:blip r:embed="rId3">
            <a:alphaModFix amt="92000"/>
          </a:blip>
          <a:stretch>
            <a:fillRect/>
          </a:stretch>
        </p:blipFill>
        <p:spPr>
          <a:xfrm>
            <a:off x="16459200" y="342900"/>
            <a:ext cx="914400" cy="88046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1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685800"/>
            <a:ext cx="508695" cy="357188"/>
          </a:xfrm>
          <a:prstGeom prst="rect">
            <a:avLst/>
          </a:prstGeom>
          <a:solidFill>
            <a:srgbClr val="1A2438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28700" y="733425"/>
            <a:ext cx="35629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b="1" kern="0" spc="158" dirty="0">
                <a:solidFill>
                  <a:srgbClr val="F5F1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75" dirty="0"/>
          </a:p>
        </p:txBody>
      </p:sp>
      <p:sp>
        <p:nvSpPr>
          <p:cNvPr id="4" name="Text 2"/>
          <p:cNvSpPr/>
          <p:nvPr/>
        </p:nvSpPr>
        <p:spPr>
          <a:xfrm>
            <a:off x="1594545" y="733425"/>
            <a:ext cx="163644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284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ПОСТАНОВКА</a:t>
            </a:r>
            <a:endParaRPr lang="en-US" sz="1575" dirty="0"/>
          </a:p>
        </p:txBody>
      </p:sp>
      <p:sp>
        <p:nvSpPr>
          <p:cNvPr id="5" name="Shape 3"/>
          <p:cNvSpPr/>
          <p:nvPr/>
        </p:nvSpPr>
        <p:spPr>
          <a:xfrm>
            <a:off x="3326234" y="859631"/>
            <a:ext cx="133350" cy="9525"/>
          </a:xfrm>
          <a:prstGeom prst="rect">
            <a:avLst/>
          </a:prstGeom>
          <a:solidFill>
            <a:srgbClr val="2A344C">
              <a:alpha val="50000"/>
            </a:srgbClr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631034" y="733425"/>
            <a:ext cx="179248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284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ЦЕЛЬ РАБОТЫ</a:t>
            </a:r>
            <a:endParaRPr lang="en-US" sz="1575" dirty="0"/>
          </a:p>
        </p:txBody>
      </p:sp>
      <p:sp>
        <p:nvSpPr>
          <p:cNvPr id="7" name="Shape 5"/>
          <p:cNvSpPr/>
          <p:nvPr/>
        </p:nvSpPr>
        <p:spPr>
          <a:xfrm>
            <a:off x="914400" y="1214438"/>
            <a:ext cx="16459200" cy="9525"/>
          </a:xfrm>
          <a:prstGeom prst="rect">
            <a:avLst/>
          </a:prstGeom>
          <a:solidFill>
            <a:srgbClr val="16203A">
              <a:alpha val="85000"/>
            </a:srgbClr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14400" y="1547813"/>
            <a:ext cx="14716125" cy="6781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kern="0" spc="-106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Снять с контент‑менеджеров рутину обогащения</a:t>
            </a:r>
            <a:endParaRPr lang="en-US" sz="4800" dirty="0"/>
          </a:p>
        </p:txBody>
      </p:sp>
      <p:sp>
        <p:nvSpPr>
          <p:cNvPr id="9" name="Shape 7"/>
          <p:cNvSpPr/>
          <p:nvPr/>
        </p:nvSpPr>
        <p:spPr>
          <a:xfrm>
            <a:off x="914400" y="2549798"/>
            <a:ext cx="16459200" cy="16405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14400" y="4180805"/>
            <a:ext cx="16459200" cy="9525"/>
          </a:xfrm>
          <a:prstGeom prst="rect">
            <a:avLst/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14400" y="2549798"/>
            <a:ext cx="16459200" cy="9525"/>
          </a:xfrm>
          <a:prstGeom prst="rect">
            <a:avLst/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914400" y="2549798"/>
            <a:ext cx="57150" cy="1640532"/>
          </a:xfrm>
          <a:prstGeom prst="rect">
            <a:avLst/>
          </a:prstGeom>
          <a:solidFill>
            <a:srgbClr val="B05E2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7364075" y="2549798"/>
            <a:ext cx="9525" cy="1640532"/>
          </a:xfrm>
          <a:prstGeom prst="rect">
            <a:avLst/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428750" y="2921273"/>
            <a:ext cx="2171700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363" dirty="0">
                <a:solidFill>
                  <a:srgbClr val="B05E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ЦЕЛЬ РАБОТЫ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3867150" y="2826023"/>
            <a:ext cx="13430917" cy="11261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2100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Разработать </a:t>
            </a:r>
            <a:r>
              <a:rPr lang="en-US" sz="2100" b="1" dirty="0">
                <a:solidFill>
                  <a:srgbClr val="B05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гибридную каскадную систему </a:t>
            </a:r>
            <a:r>
              <a:rPr lang="en-US" sz="2100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обогащения товарных данных с высокой точностью извлечения атрибутов, сокращённой стоимостью обращения к LLM и поддержкой открытых моделей.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14400" y="4418930"/>
            <a:ext cx="16952976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363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КАЧЕСТВА ПРОДУКТА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914400" y="4823743"/>
            <a:ext cx="16459200" cy="912465"/>
          </a:xfrm>
          <a:prstGeom prst="rect">
            <a:avLst/>
          </a:prstGeom>
          <a:solidFill>
            <a:srgbClr val="EFEAD9"/>
          </a:solidFill>
          <a:ln w="9525">
            <a:solidFill>
              <a:srgbClr val="DCD4B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190625" y="5004718"/>
            <a:ext cx="11149764" cy="5886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50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Качество описано </a:t>
            </a:r>
            <a:r>
              <a:rPr lang="en-US" sz="1500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показателями </a:t>
            </a:r>
            <a:r>
              <a:rPr lang="en-US" sz="150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(точность, полнота, доля LLM‑вызовов, стоимость, время), сведёнными в </a:t>
            </a:r>
            <a:r>
              <a:rPr lang="en-US" sz="1500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интегральный критерий Q</a:t>
            </a:r>
            <a:r>
              <a:rPr lang="en-US" sz="150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320439" y="5139928"/>
            <a:ext cx="4920244" cy="31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17" dirty="0">
                <a:solidFill>
                  <a:srgbClr val="162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= w₁·P</a:t>
            </a:r>
            <a:r>
              <a:rPr lang="en-US" sz="1050" kern="0" spc="17" baseline="-40000" dirty="0">
                <a:solidFill>
                  <a:srgbClr val="162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 </a:t>
            </a:r>
            <a:r>
              <a:rPr lang="en-US" sz="1650" kern="0" spc="17" dirty="0">
                <a:solidFill>
                  <a:srgbClr val="162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w₂·P</a:t>
            </a:r>
            <a:r>
              <a:rPr lang="en-US" sz="1050" kern="0" spc="17" baseline="-40000" dirty="0">
                <a:solidFill>
                  <a:srgbClr val="162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cov </a:t>
            </a:r>
            <a:r>
              <a:rPr lang="en-US" sz="1650" kern="0" spc="17" dirty="0">
                <a:solidFill>
                  <a:srgbClr val="162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 w₃·R</a:t>
            </a:r>
            <a:r>
              <a:rPr lang="en-US" sz="1050" kern="0" spc="17" baseline="-40000" dirty="0">
                <a:solidFill>
                  <a:srgbClr val="162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</a:t>
            </a:r>
            <a:r>
              <a:rPr lang="en-US" sz="1650" kern="0" spc="17" dirty="0">
                <a:solidFill>
                  <a:srgbClr val="162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 w₄·C</a:t>
            </a:r>
            <a:r>
              <a:rPr lang="en-US" sz="1050" kern="0" spc="17" baseline="-40000" dirty="0">
                <a:solidFill>
                  <a:srgbClr val="162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914400" y="5945758"/>
            <a:ext cx="16952976" cy="2619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43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ЦЕЛЕВЫЕ ЗНАЧЕНИЯ ОСНОВНЫХ ПОКАЗАТЕЛЕЙ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914400" y="6283896"/>
            <a:ext cx="5308550" cy="1979265"/>
          </a:xfrm>
          <a:prstGeom prst="rect">
            <a:avLst/>
          </a:prstGeom>
          <a:solidFill>
            <a:srgbClr val="FFFFFF"/>
          </a:solidFill>
          <a:ln w="9525">
            <a:solidFill>
              <a:srgbClr val="DCD4B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171575" y="6388671"/>
            <a:ext cx="1292423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5250" kern="0" spc="-236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90</a:t>
            </a:r>
            <a:endParaRPr lang="en-US" sz="5250" dirty="0"/>
          </a:p>
        </p:txBody>
      </p:sp>
      <p:sp>
        <p:nvSpPr>
          <p:cNvPr id="23" name="Text 21"/>
          <p:cNvSpPr/>
          <p:nvPr/>
        </p:nvSpPr>
        <p:spPr>
          <a:xfrm>
            <a:off x="2483048" y="6822058"/>
            <a:ext cx="344239" cy="327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2400" kern="0" spc="-24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1171575" y="7193533"/>
            <a:ext cx="4938026" cy="233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16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ТОЧНОСТЬ ИЗВЛЕЧЕНИЯ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171575" y="7484046"/>
            <a:ext cx="4938026" cy="31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75" dirty="0">
                <a:solidFill>
                  <a:srgbClr val="6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сравнимо с прямым вызовом LLM на каждое поле</a:t>
            </a:r>
            <a:endParaRPr lang="en-US" sz="1575" dirty="0"/>
          </a:p>
        </p:txBody>
      </p:sp>
      <p:sp>
        <p:nvSpPr>
          <p:cNvPr id="26" name="Shape 24"/>
          <p:cNvSpPr/>
          <p:nvPr/>
        </p:nvSpPr>
        <p:spPr>
          <a:xfrm>
            <a:off x="6489650" y="6283896"/>
            <a:ext cx="5308625" cy="1979265"/>
          </a:xfrm>
          <a:prstGeom prst="rect">
            <a:avLst/>
          </a:prstGeom>
          <a:solidFill>
            <a:srgbClr val="FFFFFF"/>
          </a:solidFill>
          <a:ln w="9525">
            <a:solidFill>
              <a:srgbClr val="DCD4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746825" y="6388671"/>
            <a:ext cx="1292423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5250" kern="0" spc="-236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10</a:t>
            </a:r>
            <a:endParaRPr lang="en-US" sz="5250" dirty="0"/>
          </a:p>
        </p:txBody>
      </p:sp>
      <p:sp>
        <p:nvSpPr>
          <p:cNvPr id="28" name="Text 26"/>
          <p:cNvSpPr/>
          <p:nvPr/>
        </p:nvSpPr>
        <p:spPr>
          <a:xfrm>
            <a:off x="8058299" y="6822058"/>
            <a:ext cx="344239" cy="327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2400" kern="0" spc="-24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6746825" y="7193533"/>
            <a:ext cx="4938103" cy="233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16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ДОЛЯ LLM‑ВЫЗОВОВ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746825" y="7484046"/>
            <a:ext cx="4938103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75" dirty="0">
                <a:solidFill>
                  <a:srgbClr val="6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основную работу выполняют локальные слои каскада</a:t>
            </a:r>
            <a:endParaRPr lang="en-US" sz="1575" dirty="0"/>
          </a:p>
        </p:txBody>
      </p:sp>
      <p:sp>
        <p:nvSpPr>
          <p:cNvPr id="31" name="Shape 29"/>
          <p:cNvSpPr/>
          <p:nvPr/>
        </p:nvSpPr>
        <p:spPr>
          <a:xfrm>
            <a:off x="12064975" y="6283896"/>
            <a:ext cx="5308550" cy="1979265"/>
          </a:xfrm>
          <a:prstGeom prst="rect">
            <a:avLst/>
          </a:prstGeom>
          <a:solidFill>
            <a:srgbClr val="FFFFFF"/>
          </a:solidFill>
          <a:ln w="9525">
            <a:solidFill>
              <a:srgbClr val="DCD4BF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2322150" y="6388671"/>
            <a:ext cx="1292423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5250" kern="0" spc="-236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75</a:t>
            </a:r>
            <a:endParaRPr lang="en-US" sz="5250" dirty="0"/>
          </a:p>
        </p:txBody>
      </p:sp>
      <p:sp>
        <p:nvSpPr>
          <p:cNvPr id="33" name="Text 31"/>
          <p:cNvSpPr/>
          <p:nvPr/>
        </p:nvSpPr>
        <p:spPr>
          <a:xfrm>
            <a:off x="13633624" y="6822058"/>
            <a:ext cx="344239" cy="327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2400" kern="0" spc="-24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12322150" y="7193533"/>
            <a:ext cx="4938026" cy="233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16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ПОЛНОТА ОХВАТА АТРИБУТОВ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12322150" y="7484046"/>
            <a:ext cx="4938026" cy="31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75" dirty="0">
                <a:solidFill>
                  <a:srgbClr val="6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доля заполненных ключевых полей карточки</a:t>
            </a:r>
            <a:endParaRPr lang="en-US" sz="1575" dirty="0"/>
          </a:p>
        </p:txBody>
      </p:sp>
      <p:sp>
        <p:nvSpPr>
          <p:cNvPr id="36" name="Text 34"/>
          <p:cNvSpPr/>
          <p:nvPr/>
        </p:nvSpPr>
        <p:spPr>
          <a:xfrm>
            <a:off x="914400" y="9782175"/>
            <a:ext cx="6824526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АВТОМАТИЗИРОВАННОГО ОБОГАЩЕНИЯ ТОВАРНЫХ ДАННЫХ · ВКР МАГИСТРА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16701492" y="9767888"/>
            <a:ext cx="74830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16203A">
                    <a:alpha val="9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20</a:t>
            </a:r>
            <a:endParaRPr lang="en-US" sz="1050" dirty="0"/>
          </a:p>
        </p:txBody>
      </p:sp>
      <p:pic>
        <p:nvPicPr>
          <p:cNvPr id="38" name="Image 0" descr="preencoded.png"/>
          <p:cNvPicPr>
            <a:picLocks noChangeAspect="1"/>
          </p:cNvPicPr>
          <p:nvPr/>
        </p:nvPicPr>
        <p:blipFill>
          <a:blip r:embed="rId3">
            <a:alphaModFix amt="92000"/>
          </a:blip>
          <a:stretch>
            <a:fillRect/>
          </a:stretch>
        </p:blipFill>
        <p:spPr>
          <a:xfrm>
            <a:off x="16459200" y="342900"/>
            <a:ext cx="914400" cy="88046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685800"/>
            <a:ext cx="508695" cy="357188"/>
          </a:xfrm>
          <a:prstGeom prst="rect">
            <a:avLst/>
          </a:prstGeom>
          <a:solidFill>
            <a:srgbClr val="1A2438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28700" y="733425"/>
            <a:ext cx="35629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b="1" kern="0" spc="158" dirty="0">
                <a:solidFill>
                  <a:srgbClr val="F5F1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575" dirty="0"/>
          </a:p>
        </p:txBody>
      </p:sp>
      <p:sp>
        <p:nvSpPr>
          <p:cNvPr id="4" name="Text 2"/>
          <p:cNvSpPr/>
          <p:nvPr/>
        </p:nvSpPr>
        <p:spPr>
          <a:xfrm>
            <a:off x="1594545" y="733425"/>
            <a:ext cx="163644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284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ПОСТАНОВКА</a:t>
            </a:r>
            <a:endParaRPr lang="en-US" sz="1575" dirty="0"/>
          </a:p>
        </p:txBody>
      </p:sp>
      <p:sp>
        <p:nvSpPr>
          <p:cNvPr id="5" name="Shape 3"/>
          <p:cNvSpPr/>
          <p:nvPr/>
        </p:nvSpPr>
        <p:spPr>
          <a:xfrm>
            <a:off x="3326234" y="859631"/>
            <a:ext cx="133350" cy="9525"/>
          </a:xfrm>
          <a:prstGeom prst="rect">
            <a:avLst/>
          </a:prstGeom>
          <a:solidFill>
            <a:srgbClr val="2A344C">
              <a:alpha val="50000"/>
            </a:srgbClr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631034" y="733425"/>
            <a:ext cx="210450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284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ЗАДАЧИ РАБОТЫ</a:t>
            </a:r>
            <a:endParaRPr lang="en-US" sz="1575" dirty="0"/>
          </a:p>
        </p:txBody>
      </p:sp>
      <p:sp>
        <p:nvSpPr>
          <p:cNvPr id="7" name="Shape 5"/>
          <p:cNvSpPr/>
          <p:nvPr/>
        </p:nvSpPr>
        <p:spPr>
          <a:xfrm>
            <a:off x="914400" y="1214438"/>
            <a:ext cx="16459200" cy="9525"/>
          </a:xfrm>
          <a:prstGeom prst="rect">
            <a:avLst/>
          </a:prstGeom>
          <a:solidFill>
            <a:srgbClr val="16203A">
              <a:alpha val="85000"/>
            </a:srgbClr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14400" y="1547813"/>
            <a:ext cx="14716125" cy="6781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kern="0" spc="-106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архитектуры до демокомплекса</a:t>
            </a:r>
            <a:endParaRPr lang="en-US" sz="4800" dirty="0"/>
          </a:p>
        </p:txBody>
      </p:sp>
      <p:sp>
        <p:nvSpPr>
          <p:cNvPr id="9" name="Shape 7"/>
          <p:cNvSpPr/>
          <p:nvPr/>
        </p:nvSpPr>
        <p:spPr>
          <a:xfrm>
            <a:off x="914400" y="2549798"/>
            <a:ext cx="16459200" cy="5474791"/>
          </a:xfrm>
          <a:prstGeom prst="rect">
            <a:avLst/>
          </a:prstGeom>
          <a:solidFill>
            <a:srgbClr val="FFFFFF"/>
          </a:solidFill>
          <a:ln w="9525">
            <a:solidFill>
              <a:srgbClr val="DCD4BF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23925" y="3648894"/>
            <a:ext cx="16440150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266825" y="2856458"/>
            <a:ext cx="11239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kern="0" spc="-156" dirty="0">
                <a:solidFill>
                  <a:srgbClr val="162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2619375" y="2806973"/>
            <a:ext cx="4512945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950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Спроектировать архитектуру системы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7305675" y="2946946"/>
            <a:ext cx="1000696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5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Гибридный каскад с многоуровневой фильтрацией по уверенности и явным разделением слоёв.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923925" y="4782369"/>
            <a:ext cx="16440150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266825" y="3972744"/>
            <a:ext cx="11239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kern="0" spc="-156" dirty="0">
                <a:solidFill>
                  <a:srgbClr val="162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2619375" y="4071789"/>
            <a:ext cx="4512945" cy="3352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950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Реализовать слои каскада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7305675" y="3906069"/>
            <a:ext cx="10006965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5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Регулярные выражения, классификатор ML на эмбеддингах, байесовский валидатор и запасной слой на LLM.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923925" y="5915844"/>
            <a:ext cx="16440150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266825" y="5106219"/>
            <a:ext cx="11239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kern="0" spc="-156" dirty="0">
                <a:solidFill>
                  <a:srgbClr val="162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2619375" y="5205264"/>
            <a:ext cx="4512945" cy="3352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950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Построить эталонную выборку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7305675" y="5039544"/>
            <a:ext cx="10006965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5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Разметка трёх категорий без пересечения брендов: слабый надзор OFF, согласие LLM, слепая ре-разметка.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923925" y="6915969"/>
            <a:ext cx="16440150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266825" y="6173019"/>
            <a:ext cx="11239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kern="0" spc="-156" dirty="0">
                <a:solidFill>
                  <a:srgbClr val="162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3900" dirty="0"/>
          </a:p>
        </p:txBody>
      </p:sp>
      <p:sp>
        <p:nvSpPr>
          <p:cNvPr id="24" name="Text 22"/>
          <p:cNvSpPr/>
          <p:nvPr/>
        </p:nvSpPr>
        <p:spPr>
          <a:xfrm>
            <a:off x="2619375" y="6272064"/>
            <a:ext cx="4512945" cy="3352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950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Провести оценку качества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7305675" y="6263506"/>
            <a:ext cx="1000696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5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Точность, покрытие и стоимость; сравнение с прямым вызовом LLM; вклад каждого слоя.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266825" y="7222629"/>
            <a:ext cx="11239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kern="0" spc="-156" dirty="0">
                <a:solidFill>
                  <a:srgbClr val="162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3900" dirty="0"/>
          </a:p>
        </p:txBody>
      </p:sp>
      <p:sp>
        <p:nvSpPr>
          <p:cNvPr id="27" name="Text 25"/>
          <p:cNvSpPr/>
          <p:nvPr/>
        </p:nvSpPr>
        <p:spPr>
          <a:xfrm>
            <a:off x="2619375" y="7173144"/>
            <a:ext cx="4512945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950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Создать демонстрационный комплекс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7305675" y="7313116"/>
            <a:ext cx="1000696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5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Веб-интерфейс оператора и API; три сценария развёртывания Слоя 4.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914400" y="9782175"/>
            <a:ext cx="6824526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АВТОМАТИЗИРОВАННОГО ОБОГАЩЕНИЯ ТОВАРНЫХ ДАННЫХ · ВКР МАГИСТРА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6701492" y="9767888"/>
            <a:ext cx="74830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16203A">
                    <a:alpha val="9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20</a:t>
            </a:r>
            <a:endParaRPr lang="en-US" sz="1050" dirty="0"/>
          </a:p>
        </p:txBody>
      </p:sp>
      <p:pic>
        <p:nvPicPr>
          <p:cNvPr id="31" name="Image 0" descr="preencoded.png"/>
          <p:cNvPicPr>
            <a:picLocks noChangeAspect="1"/>
          </p:cNvPicPr>
          <p:nvPr/>
        </p:nvPicPr>
        <p:blipFill>
          <a:blip r:embed="rId3">
            <a:alphaModFix amt="92000"/>
          </a:blip>
          <a:stretch>
            <a:fillRect/>
          </a:stretch>
        </p:blipFill>
        <p:spPr>
          <a:xfrm>
            <a:off x="16459200" y="342900"/>
            <a:ext cx="914400" cy="8804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1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685800"/>
            <a:ext cx="508695" cy="357188"/>
          </a:xfrm>
          <a:prstGeom prst="rect">
            <a:avLst/>
          </a:prstGeom>
          <a:solidFill>
            <a:srgbClr val="1A2438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28700" y="733425"/>
            <a:ext cx="35629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b="1" kern="0" spc="158" dirty="0">
                <a:solidFill>
                  <a:srgbClr val="F5F1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575" dirty="0"/>
          </a:p>
        </p:txBody>
      </p:sp>
      <p:sp>
        <p:nvSpPr>
          <p:cNvPr id="4" name="Text 2"/>
          <p:cNvSpPr/>
          <p:nvPr/>
        </p:nvSpPr>
        <p:spPr>
          <a:xfrm>
            <a:off x="1594545" y="733425"/>
            <a:ext cx="163644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284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ПОСТАНОВКА</a:t>
            </a:r>
            <a:endParaRPr lang="en-US" sz="1575" dirty="0"/>
          </a:p>
        </p:txBody>
      </p:sp>
      <p:sp>
        <p:nvSpPr>
          <p:cNvPr id="5" name="Shape 3"/>
          <p:cNvSpPr/>
          <p:nvPr/>
        </p:nvSpPr>
        <p:spPr>
          <a:xfrm>
            <a:off x="3326234" y="859631"/>
            <a:ext cx="133350" cy="9525"/>
          </a:xfrm>
          <a:prstGeom prst="rect">
            <a:avLst/>
          </a:prstGeom>
          <a:solidFill>
            <a:srgbClr val="2A344C">
              <a:alpha val="50000"/>
            </a:srgbClr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631034" y="733425"/>
            <a:ext cx="578527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284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ФУНКЦИОНАЛЬНЫЕ ТРЕБОВАНИЯ · USE CASE</a:t>
            </a:r>
            <a:endParaRPr lang="en-US" sz="1575" dirty="0"/>
          </a:p>
        </p:txBody>
      </p:sp>
      <p:sp>
        <p:nvSpPr>
          <p:cNvPr id="7" name="Shape 5"/>
          <p:cNvSpPr/>
          <p:nvPr/>
        </p:nvSpPr>
        <p:spPr>
          <a:xfrm>
            <a:off x="914400" y="1214438"/>
            <a:ext cx="16459200" cy="9525"/>
          </a:xfrm>
          <a:prstGeom prst="rect">
            <a:avLst/>
          </a:prstGeom>
          <a:solidFill>
            <a:srgbClr val="16203A">
              <a:alpha val="85000"/>
            </a:srgbClr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14400" y="1547813"/>
            <a:ext cx="14716125" cy="6781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kern="0" spc="-106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Роли пользователей и функции системы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914400" y="2359298"/>
            <a:ext cx="14716125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 диаграмма по UML 2.5: акторы, функции ПС и потоки данных между ними. Семь функций разбиты на две операционные группы — обогащение и администрирование.</a:t>
            </a:r>
            <a:endParaRPr lang="en-US" sz="18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93628"/>
            <a:ext cx="16459200" cy="648377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14400" y="9782175"/>
            <a:ext cx="6824526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АВТОМАТИЗИРОВАННОГО ОБОГАЩЕНИЯ ТОВАРНЫХ ДАННЫХ · ВКР МАГИСТРА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6701492" y="9767888"/>
            <a:ext cx="74830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16203A">
                    <a:alpha val="9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20</a:t>
            </a:r>
            <a:endParaRPr lang="en-US" sz="105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>
            <a:alphaModFix amt="92000"/>
          </a:blip>
          <a:stretch>
            <a:fillRect/>
          </a:stretch>
        </p:blipFill>
        <p:spPr>
          <a:xfrm>
            <a:off x="16459200" y="342900"/>
            <a:ext cx="914400" cy="88046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1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685800"/>
            <a:ext cx="508695" cy="357188"/>
          </a:xfrm>
          <a:prstGeom prst="rect">
            <a:avLst/>
          </a:prstGeom>
          <a:solidFill>
            <a:srgbClr val="1A2438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28700" y="733425"/>
            <a:ext cx="35629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b="1" kern="0" spc="158" dirty="0">
                <a:solidFill>
                  <a:srgbClr val="F5F1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575" dirty="0"/>
          </a:p>
        </p:txBody>
      </p:sp>
      <p:sp>
        <p:nvSpPr>
          <p:cNvPr id="4" name="Text 2"/>
          <p:cNvSpPr/>
          <p:nvPr/>
        </p:nvSpPr>
        <p:spPr>
          <a:xfrm>
            <a:off x="1594545" y="733425"/>
            <a:ext cx="163644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284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ПОСТАНОВКА</a:t>
            </a:r>
            <a:endParaRPr lang="en-US" sz="1575" dirty="0"/>
          </a:p>
        </p:txBody>
      </p:sp>
      <p:sp>
        <p:nvSpPr>
          <p:cNvPr id="5" name="Shape 3"/>
          <p:cNvSpPr/>
          <p:nvPr/>
        </p:nvSpPr>
        <p:spPr>
          <a:xfrm>
            <a:off x="3326234" y="859631"/>
            <a:ext cx="133350" cy="9525"/>
          </a:xfrm>
          <a:prstGeom prst="rect">
            <a:avLst/>
          </a:prstGeom>
          <a:solidFill>
            <a:srgbClr val="2A344C">
              <a:alpha val="50000"/>
            </a:srgbClr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631034" y="733425"/>
            <a:ext cx="514244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284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ОБЪЕКТ · ПРЕДМЕТ · ПРЕДПОЛОЖЕНИЕ</a:t>
            </a:r>
            <a:endParaRPr lang="en-US" sz="1575" dirty="0"/>
          </a:p>
        </p:txBody>
      </p:sp>
      <p:sp>
        <p:nvSpPr>
          <p:cNvPr id="7" name="Shape 5"/>
          <p:cNvSpPr/>
          <p:nvPr/>
        </p:nvSpPr>
        <p:spPr>
          <a:xfrm>
            <a:off x="914400" y="1214438"/>
            <a:ext cx="16459200" cy="9525"/>
          </a:xfrm>
          <a:prstGeom prst="rect">
            <a:avLst/>
          </a:prstGeom>
          <a:solidFill>
            <a:srgbClr val="16203A">
              <a:alpha val="85000"/>
            </a:srgbClr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14400" y="1547813"/>
            <a:ext cx="14716125" cy="13181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kern="0" spc="-106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Объект, предмет и рабочее предположение исследования</a:t>
            </a:r>
            <a:endParaRPr lang="en-US" sz="4800" dirty="0"/>
          </a:p>
        </p:txBody>
      </p:sp>
      <p:sp>
        <p:nvSpPr>
          <p:cNvPr id="9" name="Shape 7"/>
          <p:cNvSpPr/>
          <p:nvPr/>
        </p:nvSpPr>
        <p:spPr>
          <a:xfrm>
            <a:off x="914400" y="3189833"/>
            <a:ext cx="16459200" cy="16405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14400" y="4820841"/>
            <a:ext cx="16459200" cy="9525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14400" y="3189833"/>
            <a:ext cx="16459200" cy="9525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914400" y="3189833"/>
            <a:ext cx="57150" cy="1640532"/>
          </a:xfrm>
          <a:prstGeom prst="rect">
            <a:avLst/>
          </a:prstGeom>
          <a:solidFill>
            <a:srgbClr val="2E7D5E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7364075" y="3189833"/>
            <a:ext cx="9525" cy="1640532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352550" y="3874368"/>
            <a:ext cx="3728085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363" dirty="0">
                <a:solidFill>
                  <a:srgbClr val="2E7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ОБЪЕКТ ИССЛЕДОВАНИЯ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5429250" y="3466058"/>
            <a:ext cx="11900440" cy="11261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2100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Процессы наполнения карточек товаров атрибутами в каталогах интернет‑магазинов, включающие обработку партнёрских описаний и поддержание полноты атрибутивной модели.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5039916"/>
            <a:ext cx="16459200" cy="16405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914400" y="6670923"/>
            <a:ext cx="16459200" cy="9525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14400" y="5039916"/>
            <a:ext cx="16459200" cy="9525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14400" y="5039916"/>
            <a:ext cx="57150" cy="1640532"/>
          </a:xfrm>
          <a:prstGeom prst="rect">
            <a:avLst/>
          </a:prstGeom>
          <a:solidFill>
            <a:srgbClr val="4A6FA5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7364075" y="5039916"/>
            <a:ext cx="9525" cy="1640532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352550" y="5724451"/>
            <a:ext cx="3728085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363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ПРЕДМЕТ ИССЛЕДОВАНИЯ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5429250" y="5316141"/>
            <a:ext cx="11900440" cy="11261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2100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Методы и алгоритмы автоматизированного извлечения товарных атрибутов из неструктурированных партнёрских описаний на основе композиции детерминированных, вероятностных и языковых моделей.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14400" y="6889998"/>
            <a:ext cx="16459200" cy="19588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914400" y="8839349"/>
            <a:ext cx="16459200" cy="9525"/>
          </a:xfrm>
          <a:prstGeom prst="rect">
            <a:avLst/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914400" y="6889998"/>
            <a:ext cx="16459200" cy="9525"/>
          </a:xfrm>
          <a:prstGeom prst="rect">
            <a:avLst/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914400" y="6889998"/>
            <a:ext cx="57150" cy="1958876"/>
          </a:xfrm>
          <a:prstGeom prst="rect">
            <a:avLst/>
          </a:prstGeom>
          <a:solidFill>
            <a:srgbClr val="B05E2A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7364075" y="6889998"/>
            <a:ext cx="9525" cy="1958876"/>
          </a:xfrm>
          <a:prstGeom prst="rect">
            <a:avLst/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352550" y="7733705"/>
            <a:ext cx="3728085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kern="0" spc="363" dirty="0">
                <a:solidFill>
                  <a:srgbClr val="B05E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ГИПОТЕЗА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5429250" y="7166223"/>
            <a:ext cx="11900440" cy="14445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950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Композиция слоёв </a:t>
            </a:r>
            <a:r>
              <a:rPr lang="en-US" sz="1950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(регулярные правила → классификатор на эмбеддингах → байесовский валидатор → запасной слой LLM) </a:t>
            </a:r>
            <a:r>
              <a:rPr lang="en-US" sz="1950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обеспечивает </a:t>
            </a:r>
            <a:r>
              <a:rPr lang="en-US" sz="1950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извлечения, сравнимую с прямым вызовом LLM, при </a:t>
            </a:r>
            <a:r>
              <a:rPr lang="en-US" sz="1950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кратно меньшей </a:t>
            </a:r>
            <a:r>
              <a:rPr lang="en-US" sz="1950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доле LLM‑вызовов и архитектурной независимости от вендора.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914400" y="9782175"/>
            <a:ext cx="6824526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АВТОМАТИЗИРОВАННОГО ОБОГАЩЕНИЯ ТОВАРНЫХ ДАННЫХ · ВКР МАГИСТРА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6701492" y="9767888"/>
            <a:ext cx="74830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16203A">
                    <a:alpha val="9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20</a:t>
            </a:r>
            <a:endParaRPr lang="en-US" sz="1050" dirty="0"/>
          </a:p>
        </p:txBody>
      </p:sp>
      <p:pic>
        <p:nvPicPr>
          <p:cNvPr id="32" name="Image 0" descr="preencoded.png"/>
          <p:cNvPicPr>
            <a:picLocks noChangeAspect="1"/>
          </p:cNvPicPr>
          <p:nvPr/>
        </p:nvPicPr>
        <p:blipFill>
          <a:blip r:embed="rId3">
            <a:alphaModFix amt="92000"/>
          </a:blip>
          <a:stretch>
            <a:fillRect/>
          </a:stretch>
        </p:blipFill>
        <p:spPr>
          <a:xfrm>
            <a:off x="16459200" y="342900"/>
            <a:ext cx="914400" cy="88046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1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685800"/>
            <a:ext cx="508695" cy="357188"/>
          </a:xfrm>
          <a:prstGeom prst="rect">
            <a:avLst/>
          </a:prstGeom>
          <a:solidFill>
            <a:srgbClr val="1A2438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28700" y="733425"/>
            <a:ext cx="35629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b="1" kern="0" spc="158" dirty="0">
                <a:solidFill>
                  <a:srgbClr val="F5F1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575" dirty="0"/>
          </a:p>
        </p:txBody>
      </p:sp>
      <p:sp>
        <p:nvSpPr>
          <p:cNvPr id="4" name="Text 2"/>
          <p:cNvSpPr/>
          <p:nvPr/>
        </p:nvSpPr>
        <p:spPr>
          <a:xfrm>
            <a:off x="1594545" y="733425"/>
            <a:ext cx="163644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284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ПОСТАНОВКА</a:t>
            </a:r>
            <a:endParaRPr lang="en-US" sz="1575" dirty="0"/>
          </a:p>
        </p:txBody>
      </p:sp>
      <p:sp>
        <p:nvSpPr>
          <p:cNvPr id="5" name="Shape 3"/>
          <p:cNvSpPr/>
          <p:nvPr/>
        </p:nvSpPr>
        <p:spPr>
          <a:xfrm>
            <a:off x="3326234" y="859631"/>
            <a:ext cx="133350" cy="9525"/>
          </a:xfrm>
          <a:prstGeom prst="rect">
            <a:avLst/>
          </a:prstGeom>
          <a:solidFill>
            <a:srgbClr val="2A344C">
              <a:alpha val="50000"/>
            </a:srgbClr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631034" y="733425"/>
            <a:ext cx="305336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284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МЕТОДЫ ИССЛЕДОВАНИЯ</a:t>
            </a:r>
            <a:endParaRPr lang="en-US" sz="1575" dirty="0"/>
          </a:p>
        </p:txBody>
      </p:sp>
      <p:sp>
        <p:nvSpPr>
          <p:cNvPr id="7" name="Shape 5"/>
          <p:cNvSpPr/>
          <p:nvPr/>
        </p:nvSpPr>
        <p:spPr>
          <a:xfrm>
            <a:off x="914400" y="1214438"/>
            <a:ext cx="16459200" cy="9525"/>
          </a:xfrm>
          <a:prstGeom prst="rect">
            <a:avLst/>
          </a:prstGeom>
          <a:solidFill>
            <a:srgbClr val="16203A">
              <a:alpha val="85000"/>
            </a:srgbClr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14400" y="1547813"/>
            <a:ext cx="14716125" cy="6781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kern="0" spc="-106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Методы исследования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914400" y="2359298"/>
            <a:ext cx="14716125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Комплекс методов системного анализа, машинного обучения и экспериментальной оценки, обеспечивающий обоснованность результатов работы.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3384128"/>
            <a:ext cx="5359375" cy="281724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14400" y="6191845"/>
            <a:ext cx="5359375" cy="9525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914400" y="3384128"/>
            <a:ext cx="5359375" cy="38100"/>
          </a:xfrm>
          <a:prstGeom prst="rect">
            <a:avLst/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14400" y="3384128"/>
            <a:ext cx="9525" cy="2817242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264250" y="3384128"/>
            <a:ext cx="9525" cy="2817242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304925" y="3765128"/>
            <a:ext cx="4715675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kern="0" spc="281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АНАЛИЗ</a:t>
            </a:r>
            <a:endParaRPr lang="en-US" sz="1275" dirty="0"/>
          </a:p>
        </p:txBody>
      </p:sp>
      <p:sp>
        <p:nvSpPr>
          <p:cNvPr id="16" name="Text 14"/>
          <p:cNvSpPr/>
          <p:nvPr/>
        </p:nvSpPr>
        <p:spPr>
          <a:xfrm>
            <a:off x="1304925" y="4108028"/>
            <a:ext cx="4715675" cy="3752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2250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Системный анализ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304925" y="4578548"/>
            <a:ext cx="4715675" cy="13084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725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Декомпозиция процесса наполнения каталога, выявление пробелов партнёрского входа и неэффективности изолированных технологий.</a:t>
            </a:r>
            <a:endParaRPr lang="en-US" sz="1725" dirty="0"/>
          </a:p>
        </p:txBody>
      </p:sp>
      <p:sp>
        <p:nvSpPr>
          <p:cNvPr id="18" name="Shape 16"/>
          <p:cNvSpPr/>
          <p:nvPr/>
        </p:nvSpPr>
        <p:spPr>
          <a:xfrm>
            <a:off x="6464275" y="3384128"/>
            <a:ext cx="5359375" cy="281724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464275" y="6191845"/>
            <a:ext cx="5359375" cy="9525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464275" y="3384128"/>
            <a:ext cx="5359375" cy="38100"/>
          </a:xfrm>
          <a:prstGeom prst="rect">
            <a:avLst/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464275" y="3384128"/>
            <a:ext cx="9525" cy="2817242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11814125" y="3384128"/>
            <a:ext cx="9525" cy="2817242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854800" y="3765128"/>
            <a:ext cx="4715675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kern="0" spc="281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ТРЕБОВАНИЯ</a:t>
            </a:r>
            <a:endParaRPr lang="en-US" sz="1275" dirty="0"/>
          </a:p>
        </p:txBody>
      </p:sp>
      <p:sp>
        <p:nvSpPr>
          <p:cNvPr id="24" name="Text 22"/>
          <p:cNvSpPr/>
          <p:nvPr/>
        </p:nvSpPr>
        <p:spPr>
          <a:xfrm>
            <a:off x="6854800" y="4108028"/>
            <a:ext cx="4715675" cy="3752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2250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Управление требованиями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6854800" y="4578548"/>
            <a:ext cx="4715675" cy="9908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725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Функционально‑технические требования к каскаду, формальная постановка задачи извлечения атрибутов.</a:t>
            </a:r>
            <a:endParaRPr lang="en-US" sz="1725" dirty="0"/>
          </a:p>
        </p:txBody>
      </p:sp>
      <p:sp>
        <p:nvSpPr>
          <p:cNvPr id="26" name="Shape 24"/>
          <p:cNvSpPr/>
          <p:nvPr/>
        </p:nvSpPr>
        <p:spPr>
          <a:xfrm>
            <a:off x="12014150" y="3384128"/>
            <a:ext cx="5359450" cy="281724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2014150" y="6191845"/>
            <a:ext cx="5359450" cy="9525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2014150" y="3384128"/>
            <a:ext cx="5359450" cy="38100"/>
          </a:xfrm>
          <a:prstGeom prst="rect">
            <a:avLst/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12014150" y="3384128"/>
            <a:ext cx="9525" cy="2817242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17364075" y="3384128"/>
            <a:ext cx="9525" cy="2817242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12404675" y="3765128"/>
            <a:ext cx="4715752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kern="0" spc="281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ПРОЕКТИРОВАНИЕ</a:t>
            </a:r>
            <a:endParaRPr lang="en-US" sz="1275" dirty="0"/>
          </a:p>
        </p:txBody>
      </p:sp>
      <p:sp>
        <p:nvSpPr>
          <p:cNvPr id="32" name="Text 30"/>
          <p:cNvSpPr/>
          <p:nvPr/>
        </p:nvSpPr>
        <p:spPr>
          <a:xfrm>
            <a:off x="12404675" y="4108028"/>
            <a:ext cx="4715752" cy="3752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2250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Теория проектирования ПО</a:t>
            </a:r>
            <a:endParaRPr lang="en-US" sz="2250" dirty="0"/>
          </a:p>
        </p:txBody>
      </p:sp>
      <p:sp>
        <p:nvSpPr>
          <p:cNvPr id="33" name="Text 31"/>
          <p:cNvSpPr/>
          <p:nvPr/>
        </p:nvSpPr>
        <p:spPr>
          <a:xfrm>
            <a:off x="12404675" y="4578548"/>
            <a:ext cx="4715752" cy="9908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725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Архитектурное проектирование многослойных систем; разделение ответственности по уровням C4.</a:t>
            </a:r>
            <a:endParaRPr lang="en-US" sz="1725" dirty="0"/>
          </a:p>
        </p:txBody>
      </p:sp>
      <p:sp>
        <p:nvSpPr>
          <p:cNvPr id="34" name="Shape 32"/>
          <p:cNvSpPr/>
          <p:nvPr/>
        </p:nvSpPr>
        <p:spPr>
          <a:xfrm>
            <a:off x="914400" y="6391870"/>
            <a:ext cx="5359375" cy="2499643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914400" y="8881988"/>
            <a:ext cx="5359375" cy="9525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914400" y="6391870"/>
            <a:ext cx="5359375" cy="38100"/>
          </a:xfrm>
          <a:prstGeom prst="rect">
            <a:avLst/>
          </a:prstGeom>
          <a:solidFill>
            <a:srgbClr val="4A6FA5"/>
          </a:solidFill>
          <a:ln/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914400" y="6391870"/>
            <a:ext cx="9525" cy="2499643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6264250" y="6391870"/>
            <a:ext cx="9525" cy="2499643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304925" y="6772870"/>
            <a:ext cx="4715675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kern="0" spc="281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ML</a:t>
            </a:r>
            <a:endParaRPr lang="en-US" sz="1275" dirty="0"/>
          </a:p>
        </p:txBody>
      </p:sp>
      <p:sp>
        <p:nvSpPr>
          <p:cNvPr id="40" name="Text 38"/>
          <p:cNvSpPr/>
          <p:nvPr/>
        </p:nvSpPr>
        <p:spPr>
          <a:xfrm>
            <a:off x="1304925" y="7115770"/>
            <a:ext cx="4715675" cy="3752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2250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Машинное обучение</a:t>
            </a:r>
            <a:endParaRPr lang="en-US" sz="2250" dirty="0"/>
          </a:p>
        </p:txBody>
      </p:sp>
      <p:sp>
        <p:nvSpPr>
          <p:cNvPr id="41" name="Text 39"/>
          <p:cNvSpPr/>
          <p:nvPr/>
        </p:nvSpPr>
        <p:spPr>
          <a:xfrm>
            <a:off x="1304925" y="7586290"/>
            <a:ext cx="4715675" cy="9908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725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Классификация на эмбеддингах (XGBoost), байесовская валидация апостериорных вероятностей, few‑shot prompting LLM.</a:t>
            </a:r>
            <a:endParaRPr lang="en-US" sz="1725" dirty="0"/>
          </a:p>
        </p:txBody>
      </p:sp>
      <p:sp>
        <p:nvSpPr>
          <p:cNvPr id="42" name="Shape 40"/>
          <p:cNvSpPr/>
          <p:nvPr/>
        </p:nvSpPr>
        <p:spPr>
          <a:xfrm>
            <a:off x="6464275" y="6391870"/>
            <a:ext cx="5359375" cy="2499643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6464275" y="8881988"/>
            <a:ext cx="5359375" cy="9525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6464275" y="6391870"/>
            <a:ext cx="5359375" cy="38100"/>
          </a:xfrm>
          <a:prstGeom prst="rect">
            <a:avLst/>
          </a:prstGeom>
          <a:solidFill>
            <a:srgbClr val="2E7D5E"/>
          </a:solidFill>
          <a:ln/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6464275" y="6391870"/>
            <a:ext cx="9525" cy="2499643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11814125" y="6391870"/>
            <a:ext cx="9525" cy="2499643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6854800" y="6772870"/>
            <a:ext cx="4715675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kern="0" spc="281" dirty="0">
                <a:solidFill>
                  <a:srgbClr val="2E7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СТАТИСТИКА</a:t>
            </a:r>
            <a:endParaRPr lang="en-US" sz="1275" dirty="0"/>
          </a:p>
        </p:txBody>
      </p:sp>
      <p:sp>
        <p:nvSpPr>
          <p:cNvPr id="48" name="Text 46"/>
          <p:cNvSpPr/>
          <p:nvPr/>
        </p:nvSpPr>
        <p:spPr>
          <a:xfrm>
            <a:off x="6854800" y="7115770"/>
            <a:ext cx="4715675" cy="3752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2250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Статистический анализ</a:t>
            </a:r>
            <a:endParaRPr lang="en-US" sz="2250" dirty="0"/>
          </a:p>
        </p:txBody>
      </p:sp>
      <p:sp>
        <p:nvSpPr>
          <p:cNvPr id="49" name="Text 47"/>
          <p:cNvSpPr/>
          <p:nvPr/>
        </p:nvSpPr>
        <p:spPr>
          <a:xfrm>
            <a:off x="6854800" y="7586290"/>
            <a:ext cx="4715675" cy="9908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725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Бутстрэп с кластеризацией по брендам; 95 %‑й доверительный интервал; контроль на структурную утечку.</a:t>
            </a:r>
            <a:endParaRPr lang="en-US" sz="1725" dirty="0"/>
          </a:p>
        </p:txBody>
      </p:sp>
      <p:sp>
        <p:nvSpPr>
          <p:cNvPr id="50" name="Shape 48"/>
          <p:cNvSpPr/>
          <p:nvPr/>
        </p:nvSpPr>
        <p:spPr>
          <a:xfrm>
            <a:off x="12014150" y="6391870"/>
            <a:ext cx="5359450" cy="2499643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12014150" y="8881988"/>
            <a:ext cx="5359450" cy="9525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12014150" y="6391870"/>
            <a:ext cx="5359450" cy="38100"/>
          </a:xfrm>
          <a:prstGeom prst="rect">
            <a:avLst/>
          </a:prstGeom>
          <a:solidFill>
            <a:srgbClr val="B05E2A"/>
          </a:solidFill>
          <a:ln/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12014150" y="6391870"/>
            <a:ext cx="9525" cy="2499643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17364075" y="6391870"/>
            <a:ext cx="9525" cy="2499643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12404675" y="6772870"/>
            <a:ext cx="4715752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kern="0" spc="281" dirty="0">
                <a:solidFill>
                  <a:srgbClr val="B05E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ЭКСПЕРИМЕНТ</a:t>
            </a:r>
            <a:endParaRPr lang="en-US" sz="1275" dirty="0"/>
          </a:p>
        </p:txBody>
      </p:sp>
      <p:sp>
        <p:nvSpPr>
          <p:cNvPr id="56" name="Text 54"/>
          <p:cNvSpPr/>
          <p:nvPr/>
        </p:nvSpPr>
        <p:spPr>
          <a:xfrm>
            <a:off x="12404675" y="7115770"/>
            <a:ext cx="4715752" cy="3752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2250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Экспериментальная оценка</a:t>
            </a:r>
            <a:endParaRPr lang="en-US" sz="2250" dirty="0"/>
          </a:p>
        </p:txBody>
      </p:sp>
      <p:sp>
        <p:nvSpPr>
          <p:cNvPr id="57" name="Text 55"/>
          <p:cNvSpPr/>
          <p:nvPr/>
        </p:nvSpPr>
        <p:spPr>
          <a:xfrm>
            <a:off x="12404675" y="7586290"/>
            <a:ext cx="4715752" cy="9908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725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Воспроизводимая разметка на открытом каталоге Open Food Facts; точность ↔ стоимость на трёх категориях товаров.</a:t>
            </a:r>
            <a:endParaRPr lang="en-US" sz="1725" dirty="0"/>
          </a:p>
        </p:txBody>
      </p:sp>
      <p:sp>
        <p:nvSpPr>
          <p:cNvPr id="58" name="Text 56"/>
          <p:cNvSpPr/>
          <p:nvPr/>
        </p:nvSpPr>
        <p:spPr>
          <a:xfrm>
            <a:off x="914400" y="9782175"/>
            <a:ext cx="6824526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АВТОМАТИЗИРОВАННОГО ОБОГАЩЕНИЯ ТОВАРНЫХ ДАННЫХ · ВКР МАГИСТРА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16701492" y="9767888"/>
            <a:ext cx="74830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16203A">
                    <a:alpha val="9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20</a:t>
            </a:r>
            <a:endParaRPr lang="en-US" sz="1050" dirty="0"/>
          </a:p>
        </p:txBody>
      </p:sp>
      <p:pic>
        <p:nvPicPr>
          <p:cNvPr id="60" name="Image 0" descr="preencoded.png"/>
          <p:cNvPicPr>
            <a:picLocks noChangeAspect="1"/>
          </p:cNvPicPr>
          <p:nvPr/>
        </p:nvPicPr>
        <p:blipFill>
          <a:blip r:embed="rId3">
            <a:alphaModFix amt="92000"/>
          </a:blip>
          <a:stretch>
            <a:fillRect/>
          </a:stretch>
        </p:blipFill>
        <p:spPr>
          <a:xfrm>
            <a:off x="16459200" y="342900"/>
            <a:ext cx="914400" cy="88046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1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685800"/>
            <a:ext cx="508695" cy="357188"/>
          </a:xfrm>
          <a:prstGeom prst="rect">
            <a:avLst/>
          </a:prstGeom>
          <a:solidFill>
            <a:srgbClr val="1A2438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28700" y="733425"/>
            <a:ext cx="35629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b="1" kern="0" spc="158" dirty="0">
                <a:solidFill>
                  <a:srgbClr val="F5F1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575" dirty="0"/>
          </a:p>
        </p:txBody>
      </p:sp>
      <p:sp>
        <p:nvSpPr>
          <p:cNvPr id="4" name="Text 2"/>
          <p:cNvSpPr/>
          <p:nvPr/>
        </p:nvSpPr>
        <p:spPr>
          <a:xfrm>
            <a:off x="1594545" y="733425"/>
            <a:ext cx="433895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284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ЗАДАЧА 1 · КОНТЕКСТ СИСТЕМЫ</a:t>
            </a:r>
            <a:endParaRPr lang="en-US" sz="1575" dirty="0"/>
          </a:p>
        </p:txBody>
      </p:sp>
      <p:sp>
        <p:nvSpPr>
          <p:cNvPr id="5" name="Shape 3"/>
          <p:cNvSpPr/>
          <p:nvPr/>
        </p:nvSpPr>
        <p:spPr>
          <a:xfrm>
            <a:off x="914400" y="1214438"/>
            <a:ext cx="16459200" cy="9525"/>
          </a:xfrm>
          <a:prstGeom prst="rect">
            <a:avLst/>
          </a:prstGeom>
          <a:solidFill>
            <a:srgbClr val="16203A">
              <a:alpha val="85000"/>
            </a:srgbClr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1547813"/>
            <a:ext cx="14716125" cy="6781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kern="0" spc="-106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 программного средства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914400" y="2359298"/>
            <a:ext cx="1471612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Контекстная диаграмма: исследуемая система, заинтересованные стороны, внешние системы и хранилища данных.</a:t>
            </a:r>
            <a:endParaRPr lang="en-US" sz="18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862188"/>
            <a:ext cx="16459200" cy="68152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4400" y="9782175"/>
            <a:ext cx="6824526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АВТОМАТИЗИРОВАННОГО ОБОГАЩЕНИЯ ТОВАРНЫХ ДАННЫХ · ВКР МАГИСТРА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6701492" y="9767888"/>
            <a:ext cx="74830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16203A">
                    <a:alpha val="9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20</a:t>
            </a:r>
            <a:endParaRPr lang="en-US" sz="10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>
            <a:alphaModFix amt="92000"/>
          </a:blip>
          <a:stretch>
            <a:fillRect/>
          </a:stretch>
        </p:blipFill>
        <p:spPr>
          <a:xfrm>
            <a:off x="16459200" y="342900"/>
            <a:ext cx="914400" cy="88046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1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685800"/>
            <a:ext cx="508695" cy="357188"/>
          </a:xfrm>
          <a:prstGeom prst="rect">
            <a:avLst/>
          </a:prstGeom>
          <a:solidFill>
            <a:srgbClr val="1A2438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28700" y="733425"/>
            <a:ext cx="35629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b="1" kern="0" spc="158" dirty="0">
                <a:solidFill>
                  <a:srgbClr val="F5F1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575" dirty="0"/>
          </a:p>
        </p:txBody>
      </p:sp>
      <p:sp>
        <p:nvSpPr>
          <p:cNvPr id="4" name="Text 2"/>
          <p:cNvSpPr/>
          <p:nvPr/>
        </p:nvSpPr>
        <p:spPr>
          <a:xfrm>
            <a:off x="1594545" y="733425"/>
            <a:ext cx="482106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284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ЗАДАЧА 1 · АРХИТЕКТУРА КАСКАДА</a:t>
            </a:r>
            <a:endParaRPr lang="en-US" sz="1575" dirty="0"/>
          </a:p>
        </p:txBody>
      </p:sp>
      <p:sp>
        <p:nvSpPr>
          <p:cNvPr id="5" name="Shape 3"/>
          <p:cNvSpPr/>
          <p:nvPr/>
        </p:nvSpPr>
        <p:spPr>
          <a:xfrm>
            <a:off x="914400" y="1214438"/>
            <a:ext cx="16459200" cy="9525"/>
          </a:xfrm>
          <a:prstGeom prst="rect">
            <a:avLst/>
          </a:prstGeom>
          <a:solidFill>
            <a:srgbClr val="16203A">
              <a:alpha val="85000"/>
            </a:srgbClr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1547813"/>
            <a:ext cx="14716125" cy="6781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kern="0" spc="-106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 гибридного каскада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914400" y="2359298"/>
            <a:ext cx="14716125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Вход — партнёр-доступные поля; выход — заполненная карточка с указанием слоя-источника. Каждая ячейка проходит слои по возрастанию стоимости, пока один не закроет её с уверенностью выше калиброванного порога.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3250778"/>
            <a:ext cx="3154635" cy="3075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914400" y="6317159"/>
            <a:ext cx="3154635" cy="9525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14400" y="3250778"/>
            <a:ext cx="3154635" cy="38100"/>
          </a:xfrm>
          <a:prstGeom prst="rect">
            <a:avLst/>
          </a:prstGeom>
          <a:solidFill>
            <a:srgbClr val="3A4258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14400" y="3250778"/>
            <a:ext cx="9525" cy="3075905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059510" y="3250778"/>
            <a:ext cx="9525" cy="3075905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133475" y="3498428"/>
            <a:ext cx="762149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225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СЛОЙ 0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1133475" y="3774653"/>
            <a:ext cx="2797980" cy="6514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100" b="1" kern="0" spc="-2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Классификатор категории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133475" y="4464174"/>
            <a:ext cx="2797980" cy="16815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75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XGBoost на векторных представлениях SBERT + детектор аномальных входов. Маршрутизирует товар в одну из категорий и подключает соответствующие модели слоёв 2–3.</a:t>
            </a:r>
            <a:endParaRPr lang="en-US" sz="1275" dirty="0"/>
          </a:p>
        </p:txBody>
      </p:sp>
      <p:sp>
        <p:nvSpPr>
          <p:cNvPr id="16" name="Shape 14"/>
          <p:cNvSpPr/>
          <p:nvPr/>
        </p:nvSpPr>
        <p:spPr>
          <a:xfrm>
            <a:off x="4240485" y="3250778"/>
            <a:ext cx="3154710" cy="3075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240485" y="6317159"/>
            <a:ext cx="3154710" cy="9525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240485" y="3250778"/>
            <a:ext cx="3154710" cy="38100"/>
          </a:xfrm>
          <a:prstGeom prst="rect">
            <a:avLst/>
          </a:prstGeom>
          <a:solidFill>
            <a:srgbClr val="4A6FA5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240485" y="3250778"/>
            <a:ext cx="9525" cy="3075905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385670" y="3250778"/>
            <a:ext cx="9525" cy="3075905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459560" y="3498428"/>
            <a:ext cx="762149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225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СЛОЙ 1</a:t>
            </a:r>
            <a:endParaRPr lang="en-US" sz="1125" dirty="0"/>
          </a:p>
        </p:txBody>
      </p:sp>
      <p:sp>
        <p:nvSpPr>
          <p:cNvPr id="22" name="Text 20"/>
          <p:cNvSpPr/>
          <p:nvPr/>
        </p:nvSpPr>
        <p:spPr>
          <a:xfrm>
            <a:off x="4459560" y="3774653"/>
            <a:ext cx="2798057" cy="6514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100" b="1" kern="0" spc="-2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Регулярные выражения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4459560" y="4464174"/>
            <a:ext cx="2798057" cy="12119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75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Детерминированные грамматики словарных полей: жирность, масса, форма пасты, тип крупы. 28 модульных тестов; бесплатно и без обучения.</a:t>
            </a:r>
            <a:endParaRPr lang="en-US" sz="1275" dirty="0"/>
          </a:p>
        </p:txBody>
      </p:sp>
      <p:sp>
        <p:nvSpPr>
          <p:cNvPr id="24" name="Shape 22"/>
          <p:cNvSpPr/>
          <p:nvPr/>
        </p:nvSpPr>
        <p:spPr>
          <a:xfrm>
            <a:off x="7566645" y="3250778"/>
            <a:ext cx="3154635" cy="3075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7566645" y="6317159"/>
            <a:ext cx="3154635" cy="9525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7566645" y="3250778"/>
            <a:ext cx="3154635" cy="38100"/>
          </a:xfrm>
          <a:prstGeom prst="rect">
            <a:avLst/>
          </a:prstGeom>
          <a:solidFill>
            <a:srgbClr val="2E7D5E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7566645" y="3250778"/>
            <a:ext cx="9525" cy="3075905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0711755" y="3250778"/>
            <a:ext cx="9525" cy="3075905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785720" y="3498428"/>
            <a:ext cx="762149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225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СЛОЙ 2</a:t>
            </a:r>
            <a:endParaRPr lang="en-US" sz="1125" dirty="0"/>
          </a:p>
        </p:txBody>
      </p:sp>
      <p:sp>
        <p:nvSpPr>
          <p:cNvPr id="30" name="Text 28"/>
          <p:cNvSpPr/>
          <p:nvPr/>
        </p:nvSpPr>
        <p:spPr>
          <a:xfrm>
            <a:off x="7785720" y="3774653"/>
            <a:ext cx="2797980" cy="344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100" b="1" kern="0" spc="-2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Машинное обучение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7785720" y="4157514"/>
            <a:ext cx="2797980" cy="12119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75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XGBoost на 384-мерных представлениях paraphrase-multilingual-MiniLM (50+ языков). Поатрибутный порог с изотонической калибровкой.</a:t>
            </a:r>
            <a:endParaRPr lang="en-US" sz="1275" dirty="0"/>
          </a:p>
        </p:txBody>
      </p:sp>
      <p:sp>
        <p:nvSpPr>
          <p:cNvPr id="32" name="Shape 30"/>
          <p:cNvSpPr/>
          <p:nvPr/>
        </p:nvSpPr>
        <p:spPr>
          <a:xfrm>
            <a:off x="10892730" y="3250778"/>
            <a:ext cx="3154710" cy="3075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10892730" y="6317159"/>
            <a:ext cx="3154710" cy="9525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10892730" y="3250778"/>
            <a:ext cx="3154710" cy="38100"/>
          </a:xfrm>
          <a:prstGeom prst="rect">
            <a:avLst/>
          </a:prstGeom>
          <a:solidFill>
            <a:srgbClr val="6E4C9E"/>
          </a:solidFill>
          <a:ln/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10892730" y="3250778"/>
            <a:ext cx="9525" cy="3075905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14037915" y="3250778"/>
            <a:ext cx="9525" cy="3075905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1111805" y="3498428"/>
            <a:ext cx="762149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225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СЛОЙ 3</a:t>
            </a:r>
            <a:endParaRPr lang="en-US" sz="1125" dirty="0"/>
          </a:p>
        </p:txBody>
      </p:sp>
      <p:sp>
        <p:nvSpPr>
          <p:cNvPr id="38" name="Text 36"/>
          <p:cNvSpPr/>
          <p:nvPr/>
        </p:nvSpPr>
        <p:spPr>
          <a:xfrm>
            <a:off x="11111805" y="3774653"/>
            <a:ext cx="2798057" cy="344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100" b="1" kern="0" spc="-2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Байес-валидатор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11111805" y="4157514"/>
            <a:ext cx="2798057" cy="14467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75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Сеть условных вероятностей (pgmpy, Hill Climb + BIC). Отбраковывает межатрибутно-несовместные предсказания по плотности ниже калиброванного порога.</a:t>
            </a:r>
            <a:endParaRPr lang="en-US" sz="1275" dirty="0"/>
          </a:p>
        </p:txBody>
      </p:sp>
      <p:sp>
        <p:nvSpPr>
          <p:cNvPr id="40" name="Shape 38"/>
          <p:cNvSpPr/>
          <p:nvPr/>
        </p:nvSpPr>
        <p:spPr>
          <a:xfrm>
            <a:off x="14218890" y="3250778"/>
            <a:ext cx="3154710" cy="3075905"/>
          </a:xfrm>
          <a:prstGeom prst="rect">
            <a:avLst/>
          </a:prstGeom>
          <a:solidFill>
            <a:srgbClr val="FBF6EC"/>
          </a:solidFill>
          <a:ln/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14218890" y="6317159"/>
            <a:ext cx="3154710" cy="9525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14218890" y="3250778"/>
            <a:ext cx="3154710" cy="38100"/>
          </a:xfrm>
          <a:prstGeom prst="rect">
            <a:avLst/>
          </a:prstGeom>
          <a:solidFill>
            <a:srgbClr val="B05E2A"/>
          </a:solidFill>
          <a:ln/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14218890" y="3250778"/>
            <a:ext cx="9525" cy="3075905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17364075" y="3250778"/>
            <a:ext cx="9525" cy="3075905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14437965" y="3498428"/>
            <a:ext cx="762149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225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СЛОЙ 4</a:t>
            </a:r>
            <a:endParaRPr lang="en-US" sz="1125" dirty="0"/>
          </a:p>
        </p:txBody>
      </p:sp>
      <p:sp>
        <p:nvSpPr>
          <p:cNvPr id="46" name="Text 44"/>
          <p:cNvSpPr/>
          <p:nvPr/>
        </p:nvSpPr>
        <p:spPr>
          <a:xfrm>
            <a:off x="14437965" y="3774653"/>
            <a:ext cx="2798057" cy="65142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100" b="1" kern="0" spc="-2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Запасной слой на LLM</a:t>
            </a:r>
            <a:endParaRPr lang="en-US" sz="2100" dirty="0"/>
          </a:p>
        </p:txBody>
      </p:sp>
      <p:sp>
        <p:nvSpPr>
          <p:cNvPr id="47" name="Text 45"/>
          <p:cNvSpPr/>
          <p:nvPr/>
        </p:nvSpPr>
        <p:spPr>
          <a:xfrm>
            <a:off x="14437965" y="4464174"/>
            <a:ext cx="2798057" cy="12119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75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Унифицированный JSON-протокол. Коммерческие (Gemini 2.5 Flash, Sonnet 4.5, GPT-4o) или открытые модели (gpt-oss-120b, llama-3.2-3b) на остаточные ячейки.</a:t>
            </a:r>
            <a:endParaRPr lang="en-US" sz="1275" dirty="0"/>
          </a:p>
        </p:txBody>
      </p:sp>
      <p:sp>
        <p:nvSpPr>
          <p:cNvPr id="48" name="Shape 46"/>
          <p:cNvSpPr/>
          <p:nvPr/>
        </p:nvSpPr>
        <p:spPr>
          <a:xfrm>
            <a:off x="914400" y="6555284"/>
            <a:ext cx="16459200" cy="3122116"/>
          </a:xfrm>
          <a:prstGeom prst="rect">
            <a:avLst/>
          </a:prstGeom>
          <a:solidFill>
            <a:srgbClr val="FFFFFF"/>
          </a:solidFill>
          <a:ln w="9525">
            <a:solidFill>
              <a:srgbClr val="DCD4BF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228725" y="6812459"/>
            <a:ext cx="1123950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89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ВХОД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1228725" y="6998196"/>
            <a:ext cx="1123950" cy="70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50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Партнёр-доступные поля</a:t>
            </a:r>
            <a:endParaRPr lang="en-US" sz="1350" dirty="0"/>
          </a:p>
        </p:txBody>
      </p:sp>
      <p:sp>
        <p:nvSpPr>
          <p:cNvPr id="51" name="Text 49"/>
          <p:cNvSpPr/>
          <p:nvPr/>
        </p:nvSpPr>
        <p:spPr>
          <a:xfrm>
            <a:off x="1228725" y="7723956"/>
            <a:ext cx="112395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45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product_name brands ingredients quantity</a:t>
            </a:r>
            <a:endParaRPr lang="en-US" sz="1125" dirty="0"/>
          </a:p>
        </p:txBody>
      </p:sp>
      <p:pic>
        <p:nvPicPr>
          <p:cNvPr id="5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3175" y="7068145"/>
            <a:ext cx="10553700" cy="1047750"/>
          </a:xfrm>
          <a:prstGeom prst="rect">
            <a:avLst/>
          </a:prstGeom>
        </p:spPr>
      </p:pic>
      <p:sp>
        <p:nvSpPr>
          <p:cNvPr id="53" name="Text 50"/>
          <p:cNvSpPr/>
          <p:nvPr/>
        </p:nvSpPr>
        <p:spPr>
          <a:xfrm>
            <a:off x="13287375" y="6923856"/>
            <a:ext cx="1123950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050" kern="0" spc="189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ВЫХОД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287375" y="7109594"/>
            <a:ext cx="1123950" cy="48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350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Карточка товара</a:t>
            </a:r>
            <a:endParaRPr lang="en-US" sz="1350" dirty="0"/>
          </a:p>
        </p:txBody>
      </p:sp>
      <p:sp>
        <p:nvSpPr>
          <p:cNvPr id="55" name="Text 52"/>
          <p:cNvSpPr/>
          <p:nvPr/>
        </p:nvSpPr>
        <p:spPr>
          <a:xfrm>
            <a:off x="13287375" y="7612484"/>
            <a:ext cx="112395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125" kern="0" spc="45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слой‑источник + уверенность</a:t>
            </a:r>
            <a:endParaRPr lang="en-US" sz="1125" dirty="0"/>
          </a:p>
        </p:txBody>
      </p:sp>
      <p:sp>
        <p:nvSpPr>
          <p:cNvPr id="56" name="Shape 53"/>
          <p:cNvSpPr/>
          <p:nvPr/>
        </p:nvSpPr>
        <p:spPr>
          <a:xfrm>
            <a:off x="14678025" y="6996708"/>
            <a:ext cx="2381250" cy="1190625"/>
          </a:xfrm>
          <a:prstGeom prst="rect">
            <a:avLst/>
          </a:prstGeom>
          <a:solidFill>
            <a:srgbClr val="EFEAD9"/>
          </a:solidFill>
          <a:ln w="9525">
            <a:solidFill>
              <a:srgbClr val="DCD4BF"/>
            </a:solidFill>
            <a:prstDash val="solid"/>
          </a:ln>
        </p:spPr>
        <p:txBody>
          <a:bodyPr/>
          <a:p/>
        </p:txBody>
      </p:sp>
      <p:sp>
        <p:nvSpPr>
          <p:cNvPr id="57" name="Text 54"/>
          <p:cNvSpPr/>
          <p:nvPr/>
        </p:nvSpPr>
        <p:spPr>
          <a:xfrm>
            <a:off x="14878050" y="7158633"/>
            <a:ext cx="2057400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68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ДОХОДИТ ДО LLM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14878050" y="7363420"/>
            <a:ext cx="205740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50" kern="0" spc="-103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8,2 %</a:t>
            </a:r>
            <a:endParaRPr lang="en-US" sz="3450" dirty="0"/>
          </a:p>
        </p:txBody>
      </p:sp>
      <p:sp>
        <p:nvSpPr>
          <p:cNvPr id="59" name="Text 56"/>
          <p:cNvSpPr/>
          <p:nvPr/>
        </p:nvSpPr>
        <p:spPr>
          <a:xfrm>
            <a:off x="14878050" y="7839670"/>
            <a:ext cx="2057400" cy="2238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dirty="0">
                <a:solidFill>
                  <a:srgbClr val="6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ячеек</a:t>
            </a:r>
            <a:endParaRPr lang="en-US" sz="1275" dirty="0"/>
          </a:p>
        </p:txBody>
      </p:sp>
      <p:sp>
        <p:nvSpPr>
          <p:cNvPr id="60" name="Shape 57"/>
          <p:cNvSpPr/>
          <p:nvPr/>
        </p:nvSpPr>
        <p:spPr>
          <a:xfrm>
            <a:off x="1228725" y="8543106"/>
            <a:ext cx="15830550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61" name="Text 58"/>
          <p:cNvSpPr/>
          <p:nvPr/>
        </p:nvSpPr>
        <p:spPr>
          <a:xfrm>
            <a:off x="1228725" y="8738369"/>
            <a:ext cx="3445259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050" kern="0" spc="168" dirty="0">
                <a:solidFill>
                  <a:srgbClr val="B05E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КОНЪЮНКТИВНОЕ УСЛОВИЕ НА ПОРОГИ —</a:t>
            </a:r>
            <a:endParaRPr lang="en-US" sz="1050" dirty="0"/>
          </a:p>
        </p:txBody>
      </p:sp>
      <p:sp>
        <p:nvSpPr>
          <p:cNvPr id="62" name="Text 59"/>
          <p:cNvSpPr/>
          <p:nvPr/>
        </p:nvSpPr>
        <p:spPr>
          <a:xfrm>
            <a:off x="1228725" y="8936459"/>
            <a:ext cx="11340461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275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уверенность калибруется изотонической регрессией; пороги задаются по каждому атрибуту независимо. Если ниже порога — слой выдаёт отказ.</a:t>
            </a:r>
            <a:endParaRPr lang="en-US" sz="1275" dirty="0"/>
          </a:p>
        </p:txBody>
      </p:sp>
      <p:sp>
        <p:nvSpPr>
          <p:cNvPr id="63" name="Text 60"/>
          <p:cNvSpPr/>
          <p:nvPr/>
        </p:nvSpPr>
        <p:spPr>
          <a:xfrm>
            <a:off x="914400" y="9782175"/>
            <a:ext cx="6824526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АВТОМАТИЗИРОВАННОГО ОБОГАЩЕНИЯ ТОВАРНЫХ ДАННЫХ · ВКР МАГИСТРА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6701492" y="9767888"/>
            <a:ext cx="74830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16203A">
                    <a:alpha val="9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20</a:t>
            </a:r>
            <a:endParaRPr lang="en-US" sz="1050" dirty="0"/>
          </a:p>
        </p:txBody>
      </p:sp>
      <p:pic>
        <p:nvPicPr>
          <p:cNvPr id="65" name="Image 1" descr="preencoded.png"/>
          <p:cNvPicPr>
            <a:picLocks noChangeAspect="1"/>
          </p:cNvPicPr>
          <p:nvPr/>
        </p:nvPicPr>
        <p:blipFill>
          <a:blip r:embed="rId4">
            <a:alphaModFix amt="92000"/>
          </a:blip>
          <a:stretch>
            <a:fillRect/>
          </a:stretch>
        </p:blipFill>
        <p:spPr>
          <a:xfrm>
            <a:off x="16459200" y="342900"/>
            <a:ext cx="914400" cy="88046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1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685800"/>
            <a:ext cx="508695" cy="357188"/>
          </a:xfrm>
          <a:prstGeom prst="rect">
            <a:avLst/>
          </a:prstGeom>
          <a:solidFill>
            <a:srgbClr val="1A2438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28700" y="733425"/>
            <a:ext cx="35629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b="1" kern="0" spc="158" dirty="0">
                <a:solidFill>
                  <a:srgbClr val="F5F1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575" dirty="0"/>
          </a:p>
        </p:txBody>
      </p:sp>
      <p:sp>
        <p:nvSpPr>
          <p:cNvPr id="4" name="Text 2"/>
          <p:cNvSpPr/>
          <p:nvPr/>
        </p:nvSpPr>
        <p:spPr>
          <a:xfrm>
            <a:off x="1594545" y="733425"/>
            <a:ext cx="337474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284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ЗАДАЧА 2 · РЕАЛИЗАЦИЯ</a:t>
            </a:r>
            <a:endParaRPr lang="en-US" sz="1575" dirty="0"/>
          </a:p>
        </p:txBody>
      </p:sp>
      <p:sp>
        <p:nvSpPr>
          <p:cNvPr id="5" name="Shape 3"/>
          <p:cNvSpPr/>
          <p:nvPr/>
        </p:nvSpPr>
        <p:spPr>
          <a:xfrm>
            <a:off x="914400" y="1214438"/>
            <a:ext cx="16459200" cy="9525"/>
          </a:xfrm>
          <a:prstGeom prst="rect">
            <a:avLst/>
          </a:prstGeom>
          <a:solidFill>
            <a:srgbClr val="16203A">
              <a:alpha val="85000"/>
            </a:srgbClr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1547813"/>
            <a:ext cx="14716125" cy="6781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kern="0" spc="-106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Основы технического проекта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914400" y="2359298"/>
            <a:ext cx="14716125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Программная архитектура: API-слой (Go gateway + FastAPI ml_service), сервисный слой, доменный слой из пяти слоёв каскада, слой хранения.</a:t>
            </a:r>
            <a:endParaRPr lang="en-US" sz="18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250778"/>
            <a:ext cx="16459200" cy="642662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4400" y="9782175"/>
            <a:ext cx="6824526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АВТОМАТИЗИРОВАННОГО ОБОГАЩЕНИЯ ТОВАРНЫХ ДАННЫХ · ВКР МАГИСТРА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6701492" y="9767888"/>
            <a:ext cx="74830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16203A">
                    <a:alpha val="9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20</a:t>
            </a:r>
            <a:endParaRPr lang="en-US" sz="10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>
            <a:alphaModFix amt="92000"/>
          </a:blip>
          <a:stretch>
            <a:fillRect/>
          </a:stretch>
        </p:blipFill>
        <p:spPr>
          <a:xfrm>
            <a:off x="16459200" y="342900"/>
            <a:ext cx="914400" cy="88046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1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685800"/>
            <a:ext cx="508695" cy="357188"/>
          </a:xfrm>
          <a:prstGeom prst="rect">
            <a:avLst/>
          </a:prstGeom>
          <a:solidFill>
            <a:srgbClr val="1A2438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28700" y="733425"/>
            <a:ext cx="35629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b="1" kern="0" spc="158" dirty="0">
                <a:solidFill>
                  <a:srgbClr val="F5F1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575" dirty="0"/>
          </a:p>
        </p:txBody>
      </p:sp>
      <p:sp>
        <p:nvSpPr>
          <p:cNvPr id="4" name="Text 2"/>
          <p:cNvSpPr/>
          <p:nvPr/>
        </p:nvSpPr>
        <p:spPr>
          <a:xfrm>
            <a:off x="1594545" y="733425"/>
            <a:ext cx="305336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284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ЗАДАЧА 3 · МЕТОДИКА</a:t>
            </a:r>
            <a:endParaRPr lang="en-US" sz="1575" dirty="0"/>
          </a:p>
        </p:txBody>
      </p:sp>
      <p:sp>
        <p:nvSpPr>
          <p:cNvPr id="5" name="Shape 3"/>
          <p:cNvSpPr/>
          <p:nvPr/>
        </p:nvSpPr>
        <p:spPr>
          <a:xfrm>
            <a:off x="914400" y="1214438"/>
            <a:ext cx="16459200" cy="9525"/>
          </a:xfrm>
          <a:prstGeom prst="rect">
            <a:avLst/>
          </a:prstGeom>
          <a:solidFill>
            <a:srgbClr val="16203A">
              <a:alpha val="85000"/>
            </a:srgbClr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1547813"/>
            <a:ext cx="14716125" cy="6781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kern="0" spc="-106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Методика экспериментальной оценки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914400" y="2359298"/>
            <a:ext cx="14716125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Эталонная разметка построена на открытом каталоге Open Food Facts для трёх категорий товаров. Тестовая выборка — без пересечения брендов: ни один бренд тестовой выборки не встречается в обучающей.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3384128"/>
            <a:ext cx="3943350" cy="1829693"/>
          </a:xfrm>
          <a:prstGeom prst="rect">
            <a:avLst/>
          </a:prstGeom>
          <a:solidFill>
            <a:srgbClr val="EFEAD9"/>
          </a:solidFill>
          <a:ln w="9525">
            <a:solidFill>
              <a:srgbClr val="DCD4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171575" y="3641303"/>
            <a:ext cx="3531870" cy="72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5700" kern="0" spc="-256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700" dirty="0"/>
          </a:p>
        </p:txBody>
      </p:sp>
      <p:sp>
        <p:nvSpPr>
          <p:cNvPr id="10" name="Text 8"/>
          <p:cNvSpPr/>
          <p:nvPr/>
        </p:nvSpPr>
        <p:spPr>
          <a:xfrm>
            <a:off x="1171575" y="4386114"/>
            <a:ext cx="3531870" cy="233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16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КАТЕГОРИИ ТОВАРОВ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171575" y="4676626"/>
            <a:ext cx="3531870" cy="31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75" dirty="0">
                <a:solidFill>
                  <a:srgbClr val="6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Паста · шоколад · сыры</a:t>
            </a:r>
            <a:endParaRPr lang="en-US" sz="1575" dirty="0"/>
          </a:p>
        </p:txBody>
      </p:sp>
      <p:sp>
        <p:nvSpPr>
          <p:cNvPr id="12" name="Shape 10"/>
          <p:cNvSpPr/>
          <p:nvPr/>
        </p:nvSpPr>
        <p:spPr>
          <a:xfrm>
            <a:off x="5086350" y="3384128"/>
            <a:ext cx="3943350" cy="1829693"/>
          </a:xfrm>
          <a:prstGeom prst="rect">
            <a:avLst/>
          </a:prstGeom>
          <a:solidFill>
            <a:srgbClr val="EFEAD9"/>
          </a:solidFill>
          <a:ln w="9525">
            <a:solidFill>
              <a:srgbClr val="DCD4B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343525" y="3641303"/>
            <a:ext cx="3531870" cy="72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5700" kern="0" spc="-256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5700" dirty="0"/>
          </a:p>
        </p:txBody>
      </p:sp>
      <p:sp>
        <p:nvSpPr>
          <p:cNvPr id="14" name="Text 12"/>
          <p:cNvSpPr/>
          <p:nvPr/>
        </p:nvSpPr>
        <p:spPr>
          <a:xfrm>
            <a:off x="5343525" y="4386114"/>
            <a:ext cx="3531870" cy="233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16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ЦЕЛЕВЫХ АТРИБУТОВ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343525" y="4676626"/>
            <a:ext cx="3531870" cy="31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75" dirty="0">
                <a:solidFill>
                  <a:srgbClr val="6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Бинарные и категориальные</a:t>
            </a:r>
            <a:endParaRPr lang="en-US" sz="1575" dirty="0"/>
          </a:p>
        </p:txBody>
      </p:sp>
      <p:sp>
        <p:nvSpPr>
          <p:cNvPr id="16" name="Shape 14"/>
          <p:cNvSpPr/>
          <p:nvPr/>
        </p:nvSpPr>
        <p:spPr>
          <a:xfrm>
            <a:off x="9258300" y="3384128"/>
            <a:ext cx="3943350" cy="1829693"/>
          </a:xfrm>
          <a:prstGeom prst="rect">
            <a:avLst/>
          </a:prstGeom>
          <a:solidFill>
            <a:srgbClr val="EFEAD9"/>
          </a:solidFill>
          <a:ln w="9525">
            <a:solidFill>
              <a:srgbClr val="DCD4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515475" y="3641303"/>
            <a:ext cx="3531870" cy="72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5700" kern="0" spc="-256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4 350</a:t>
            </a:r>
            <a:endParaRPr lang="en-US" sz="5700" dirty="0"/>
          </a:p>
        </p:txBody>
      </p:sp>
      <p:sp>
        <p:nvSpPr>
          <p:cNvPr id="18" name="Text 16"/>
          <p:cNvSpPr/>
          <p:nvPr/>
        </p:nvSpPr>
        <p:spPr>
          <a:xfrm>
            <a:off x="9515475" y="4386114"/>
            <a:ext cx="3531870" cy="233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16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ТЕСТОВЫХ ЯЧЕЕК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515475" y="4676626"/>
            <a:ext cx="3531870" cy="31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75" dirty="0">
                <a:solidFill>
                  <a:srgbClr val="6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Товар × атрибут</a:t>
            </a:r>
            <a:endParaRPr lang="en-US" sz="1575" dirty="0"/>
          </a:p>
        </p:txBody>
      </p:sp>
      <p:sp>
        <p:nvSpPr>
          <p:cNvPr id="20" name="Shape 18"/>
          <p:cNvSpPr/>
          <p:nvPr/>
        </p:nvSpPr>
        <p:spPr>
          <a:xfrm>
            <a:off x="13430250" y="3384128"/>
            <a:ext cx="3943350" cy="1829693"/>
          </a:xfrm>
          <a:prstGeom prst="rect">
            <a:avLst/>
          </a:prstGeom>
          <a:solidFill>
            <a:srgbClr val="EFEAD9"/>
          </a:solidFill>
          <a:ln w="9525">
            <a:solidFill>
              <a:srgbClr val="DCD4BF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3687425" y="3512716"/>
            <a:ext cx="879797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5700" kern="0" spc="-256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5700" dirty="0"/>
          </a:p>
        </p:txBody>
      </p:sp>
      <p:sp>
        <p:nvSpPr>
          <p:cNvPr id="22" name="Text 20"/>
          <p:cNvSpPr/>
          <p:nvPr/>
        </p:nvSpPr>
        <p:spPr>
          <a:xfrm>
            <a:off x="14586272" y="4008016"/>
            <a:ext cx="344239" cy="327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2400" kern="0" spc="-24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3687425" y="4386114"/>
            <a:ext cx="3531870" cy="233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16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СОГЛАСОВАННОСТЬ С OPUS 4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3687425" y="4676626"/>
            <a:ext cx="3531870" cy="31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575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Слепая ре-разметка эталона</a:t>
            </a:r>
            <a:endParaRPr lang="en-US" sz="1575" dirty="0"/>
          </a:p>
        </p:txBody>
      </p:sp>
      <p:sp>
        <p:nvSpPr>
          <p:cNvPr id="25" name="Text 23"/>
          <p:cNvSpPr/>
          <p:nvPr/>
        </p:nvSpPr>
        <p:spPr>
          <a:xfrm>
            <a:off x="914400" y="5485284"/>
            <a:ext cx="7072478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kern="0" spc="255" dirty="0">
                <a:solidFill>
                  <a:srgbClr val="162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НЕЗАВИСИМЫХ ИСТОЧНИКА ЭТАЛОНА СНИЖАЮТ РИСК УТЕЧКИ</a:t>
            </a:r>
            <a:endParaRPr lang="en-US" sz="1275" dirty="0"/>
          </a:p>
        </p:txBody>
      </p:sp>
      <p:sp>
        <p:nvSpPr>
          <p:cNvPr id="26" name="Shape 24"/>
          <p:cNvSpPr/>
          <p:nvPr/>
        </p:nvSpPr>
        <p:spPr>
          <a:xfrm>
            <a:off x="914400" y="5894859"/>
            <a:ext cx="5308550" cy="1862138"/>
          </a:xfrm>
          <a:prstGeom prst="rect">
            <a:avLst/>
          </a:prstGeom>
          <a:solidFill>
            <a:srgbClr val="FFFFFF"/>
          </a:solidFill>
          <a:ln w="9525">
            <a:solidFill>
              <a:srgbClr val="DCD4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247775" y="6209184"/>
            <a:ext cx="4781054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203" dirty="0">
                <a:solidFill>
                  <a:srgbClr val="4A6F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ИСТОЧНИК 1</a:t>
            </a:r>
            <a:endParaRPr lang="en-US" sz="1125" dirty="0"/>
          </a:p>
        </p:txBody>
      </p:sp>
      <p:sp>
        <p:nvSpPr>
          <p:cNvPr id="28" name="Text 26"/>
          <p:cNvSpPr/>
          <p:nvPr/>
        </p:nvSpPr>
        <p:spPr>
          <a:xfrm>
            <a:off x="1247775" y="6466359"/>
            <a:ext cx="478105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kern="0" spc="-9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Теги каталога OFF</a:t>
            </a:r>
            <a:endParaRPr lang="en-US" sz="1875" dirty="0"/>
          </a:p>
        </p:txBody>
      </p:sp>
      <p:sp>
        <p:nvSpPr>
          <p:cNvPr id="29" name="Text 27"/>
          <p:cNvSpPr/>
          <p:nvPr/>
        </p:nvSpPr>
        <p:spPr>
          <a:xfrm>
            <a:off x="1247775" y="6871171"/>
            <a:ext cx="4781054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Регуляторные метки и категории — внешний источник, защищённый правом ЕС.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89650" y="5894859"/>
            <a:ext cx="5308625" cy="1862138"/>
          </a:xfrm>
          <a:prstGeom prst="rect">
            <a:avLst/>
          </a:prstGeom>
          <a:solidFill>
            <a:srgbClr val="FFFFFF"/>
          </a:solidFill>
          <a:ln w="9525">
            <a:solidFill>
              <a:srgbClr val="DCD4BF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823025" y="6209184"/>
            <a:ext cx="4781131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203" dirty="0">
                <a:solidFill>
                  <a:srgbClr val="2E7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ИСТОЧНИК 2</a:t>
            </a:r>
            <a:endParaRPr lang="en-US" sz="1125" dirty="0"/>
          </a:p>
        </p:txBody>
      </p:sp>
      <p:sp>
        <p:nvSpPr>
          <p:cNvPr id="32" name="Text 30"/>
          <p:cNvSpPr/>
          <p:nvPr/>
        </p:nvSpPr>
        <p:spPr>
          <a:xfrm>
            <a:off x="6823025" y="6466359"/>
            <a:ext cx="4781131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kern="0" spc="-9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Согласие трёх LLM</a:t>
            </a:r>
            <a:endParaRPr lang="en-US" sz="1875" dirty="0"/>
          </a:p>
        </p:txBody>
      </p:sp>
      <p:sp>
        <p:nvSpPr>
          <p:cNvPr id="33" name="Text 31"/>
          <p:cNvSpPr/>
          <p:nvPr/>
        </p:nvSpPr>
        <p:spPr>
          <a:xfrm>
            <a:off x="6823025" y="6871171"/>
            <a:ext cx="4781131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Поатрибутное голосование независимых моделей с проверкой Opus 4 на спорных позициях.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12064975" y="5894859"/>
            <a:ext cx="5308550" cy="1862138"/>
          </a:xfrm>
          <a:prstGeom prst="rect">
            <a:avLst/>
          </a:prstGeom>
          <a:solidFill>
            <a:srgbClr val="FFFFFF"/>
          </a:solidFill>
          <a:ln w="9525">
            <a:solidFill>
              <a:srgbClr val="DCD4BF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12398350" y="6209184"/>
            <a:ext cx="4781054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203" dirty="0">
                <a:solidFill>
                  <a:srgbClr val="B05E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ИСТОЧНИК 3</a:t>
            </a:r>
            <a:endParaRPr lang="en-US" sz="1125" dirty="0"/>
          </a:p>
        </p:txBody>
      </p:sp>
      <p:sp>
        <p:nvSpPr>
          <p:cNvPr id="36" name="Text 34"/>
          <p:cNvSpPr/>
          <p:nvPr/>
        </p:nvSpPr>
        <p:spPr>
          <a:xfrm>
            <a:off x="12398350" y="6466359"/>
            <a:ext cx="478105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kern="0" spc="-9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Слепая ре-разметка</a:t>
            </a:r>
            <a:endParaRPr lang="en-US" sz="1875" dirty="0"/>
          </a:p>
        </p:txBody>
      </p:sp>
      <p:sp>
        <p:nvSpPr>
          <p:cNvPr id="37" name="Text 35"/>
          <p:cNvSpPr/>
          <p:nvPr/>
        </p:nvSpPr>
        <p:spPr>
          <a:xfrm>
            <a:off x="12398350" y="6871171"/>
            <a:ext cx="4781054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 4 размечает только партнёр-поля, без доступа к тегам OFF и промежуточным меткам.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914400" y="9782175"/>
            <a:ext cx="6824526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АВТОМАТИЗИРОВАННОГО ОБОГАЩЕНИЯ ТОВАРНЫХ ДАННЫХ · ВКР МАГИСТРА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16701492" y="9767888"/>
            <a:ext cx="74830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16203A">
                    <a:alpha val="9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20</a:t>
            </a:r>
            <a:endParaRPr lang="en-US" sz="1050" dirty="0"/>
          </a:p>
        </p:txBody>
      </p:sp>
      <p:pic>
        <p:nvPicPr>
          <p:cNvPr id="40" name="Image 0" descr="preencoded.png"/>
          <p:cNvPicPr>
            <a:picLocks noChangeAspect="1"/>
          </p:cNvPicPr>
          <p:nvPr/>
        </p:nvPicPr>
        <p:blipFill>
          <a:blip r:embed="rId3">
            <a:alphaModFix amt="92000"/>
          </a:blip>
          <a:stretch>
            <a:fillRect/>
          </a:stretch>
        </p:blipFill>
        <p:spPr>
          <a:xfrm>
            <a:off x="16459200" y="342900"/>
            <a:ext cx="914400" cy="88046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1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685800"/>
            <a:ext cx="508695" cy="357188"/>
          </a:xfrm>
          <a:prstGeom prst="rect">
            <a:avLst/>
          </a:prstGeom>
          <a:solidFill>
            <a:srgbClr val="1A2438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28700" y="733425"/>
            <a:ext cx="35629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b="1" kern="0" spc="158" dirty="0">
                <a:solidFill>
                  <a:srgbClr val="F5F1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575" dirty="0"/>
          </a:p>
        </p:txBody>
      </p:sp>
      <p:sp>
        <p:nvSpPr>
          <p:cNvPr id="4" name="Text 2"/>
          <p:cNvSpPr/>
          <p:nvPr/>
        </p:nvSpPr>
        <p:spPr>
          <a:xfrm>
            <a:off x="1594545" y="733425"/>
            <a:ext cx="337474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284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ЗАДАЧА 4 · РЕЗУЛЬТАТЫ</a:t>
            </a:r>
            <a:endParaRPr lang="en-US" sz="1575" dirty="0"/>
          </a:p>
        </p:txBody>
      </p:sp>
      <p:sp>
        <p:nvSpPr>
          <p:cNvPr id="5" name="Shape 3"/>
          <p:cNvSpPr/>
          <p:nvPr/>
        </p:nvSpPr>
        <p:spPr>
          <a:xfrm>
            <a:off x="914400" y="1214438"/>
            <a:ext cx="16459200" cy="9525"/>
          </a:xfrm>
          <a:prstGeom prst="rect">
            <a:avLst/>
          </a:prstGeom>
          <a:solidFill>
            <a:srgbClr val="16203A">
              <a:alpha val="85000"/>
            </a:srgbClr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1547813"/>
            <a:ext cx="14716125" cy="6781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kern="0" spc="-106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результат: точность ↔ стоимость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914400" y="2359298"/>
            <a:ext cx="14716125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конфигураций; вертикальные планки — 95 %-й доверительный интервал бутстрэпа с кластеризацией по брендам. В промышленном диапазоне стоимости каскад точнее любого прямого вызова LLM.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3193628"/>
            <a:ext cx="9669735" cy="6483772"/>
          </a:xfrm>
          <a:prstGeom prst="rect">
            <a:avLst/>
          </a:prstGeom>
          <a:solidFill>
            <a:srgbClr val="FFFFFF"/>
          </a:solidFill>
          <a:ln w="9525">
            <a:solidFill>
              <a:srgbClr val="DCD4BF"/>
            </a:solidFill>
            <a:prstDash val="solid"/>
          </a:ln>
        </p:spPr>
        <p:txBody>
          <a:bodyPr/>
          <a:p/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52525" y="3892228"/>
            <a:ext cx="9193485" cy="5086573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0927035" y="3193628"/>
            <a:ext cx="6446490" cy="2043113"/>
          </a:xfrm>
          <a:prstGeom prst="rect">
            <a:avLst/>
          </a:prstGeom>
          <a:solidFill>
            <a:srgbClr val="EFEAD9"/>
          </a:solidFill>
          <a:ln w="9525">
            <a:solidFill>
              <a:srgbClr val="EFEAD9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1222310" y="3469853"/>
            <a:ext cx="6031618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203" dirty="0">
                <a:solidFill>
                  <a:srgbClr val="B05E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КАСКАД + GEMINI 2.5 FLASH</a:t>
            </a:r>
            <a:endParaRPr lang="en-US" sz="1125" dirty="0"/>
          </a:p>
        </p:txBody>
      </p:sp>
      <p:sp>
        <p:nvSpPr>
          <p:cNvPr id="12" name="Text 9"/>
          <p:cNvSpPr/>
          <p:nvPr/>
        </p:nvSpPr>
        <p:spPr>
          <a:xfrm>
            <a:off x="11222310" y="3765128"/>
            <a:ext cx="6031618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200" kern="0" spc="-324" dirty="0">
                <a:solidFill>
                  <a:srgbClr val="363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93,8 </a:t>
            </a:r>
            <a:r>
              <a:rPr lang="en-US" sz="2700" kern="0" spc="-324" dirty="0">
                <a:solidFill>
                  <a:srgbClr val="3634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7200" dirty="0"/>
          </a:p>
        </p:txBody>
      </p:sp>
      <p:sp>
        <p:nvSpPr>
          <p:cNvPr id="13" name="Text 10"/>
          <p:cNvSpPr/>
          <p:nvPr/>
        </p:nvSpPr>
        <p:spPr>
          <a:xfrm>
            <a:off x="11222310" y="4755728"/>
            <a:ext cx="6031618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16203A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точности на эталонной выборке</a:t>
            </a:r>
            <a:endParaRPr lang="en-US" sz="1425" dirty="0"/>
          </a:p>
        </p:txBody>
      </p:sp>
      <p:sp>
        <p:nvSpPr>
          <p:cNvPr id="14" name="Shape 11"/>
          <p:cNvSpPr/>
          <p:nvPr/>
        </p:nvSpPr>
        <p:spPr>
          <a:xfrm>
            <a:off x="10927035" y="5446291"/>
            <a:ext cx="6446490" cy="1471613"/>
          </a:xfrm>
          <a:prstGeom prst="rect">
            <a:avLst/>
          </a:prstGeom>
          <a:solidFill>
            <a:srgbClr val="EFEAD9"/>
          </a:solidFill>
          <a:ln w="9525">
            <a:solidFill>
              <a:srgbClr val="DCD4BF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1184210" y="5665366"/>
            <a:ext cx="6110104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203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ОТНОСИТЕЛЬНАЯ СТОИМОСТЬ</a:t>
            </a:r>
            <a:endParaRPr lang="en-US" sz="1125" dirty="0"/>
          </a:p>
        </p:txBody>
      </p:sp>
      <p:sp>
        <p:nvSpPr>
          <p:cNvPr id="16" name="Text 13"/>
          <p:cNvSpPr/>
          <p:nvPr/>
        </p:nvSpPr>
        <p:spPr>
          <a:xfrm>
            <a:off x="11184210" y="5903491"/>
            <a:ext cx="6110104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200" kern="0" spc="-168" dirty="0">
                <a:solidFill>
                  <a:srgbClr val="2E7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290×</a:t>
            </a:r>
            <a:endParaRPr lang="en-US" sz="4200" dirty="0"/>
          </a:p>
        </p:txBody>
      </p:sp>
      <p:sp>
        <p:nvSpPr>
          <p:cNvPr id="17" name="Text 14"/>
          <p:cNvSpPr/>
          <p:nvPr/>
        </p:nvSpPr>
        <p:spPr>
          <a:xfrm>
            <a:off x="11184210" y="6494041"/>
            <a:ext cx="6110104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дешевле опорной конфигурации Sonnet 4.5 на каждое поле</a:t>
            </a:r>
            <a:endParaRPr lang="en-US" sz="1425" dirty="0"/>
          </a:p>
        </p:txBody>
      </p:sp>
      <p:sp>
        <p:nvSpPr>
          <p:cNvPr id="18" name="Shape 15"/>
          <p:cNvSpPr/>
          <p:nvPr/>
        </p:nvSpPr>
        <p:spPr>
          <a:xfrm>
            <a:off x="10927035" y="7127453"/>
            <a:ext cx="6446490" cy="1471613"/>
          </a:xfrm>
          <a:prstGeom prst="rect">
            <a:avLst/>
          </a:prstGeom>
          <a:solidFill>
            <a:srgbClr val="EFEAD9"/>
          </a:solidFill>
          <a:ln w="9525">
            <a:solidFill>
              <a:srgbClr val="DCD4BF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11184210" y="7346528"/>
            <a:ext cx="6110104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203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ПРОТИВ ПРЯМОГО ВЫЗОВА</a:t>
            </a:r>
            <a:endParaRPr lang="en-US" sz="1125" dirty="0"/>
          </a:p>
        </p:txBody>
      </p:sp>
      <p:sp>
        <p:nvSpPr>
          <p:cNvPr id="20" name="Text 17"/>
          <p:cNvSpPr/>
          <p:nvPr/>
        </p:nvSpPr>
        <p:spPr>
          <a:xfrm>
            <a:off x="11184210" y="7584653"/>
            <a:ext cx="6110104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200" kern="0" spc="-168" dirty="0">
                <a:solidFill>
                  <a:srgbClr val="B05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+ 10,0 п.п.</a:t>
            </a:r>
            <a:endParaRPr lang="en-US" sz="4200" dirty="0"/>
          </a:p>
        </p:txBody>
      </p:sp>
      <p:sp>
        <p:nvSpPr>
          <p:cNvPr id="21" name="Text 18"/>
          <p:cNvSpPr/>
          <p:nvPr/>
        </p:nvSpPr>
        <p:spPr>
          <a:xfrm>
            <a:off x="11184210" y="8175203"/>
            <a:ext cx="6110104" cy="242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точнее, чем прямой вызов Sonnet 4.5 на каждое поле</a:t>
            </a:r>
            <a:endParaRPr lang="en-US" sz="1425" dirty="0"/>
          </a:p>
        </p:txBody>
      </p:sp>
      <p:sp>
        <p:nvSpPr>
          <p:cNvPr id="22" name="Shape 19"/>
          <p:cNvSpPr/>
          <p:nvPr/>
        </p:nvSpPr>
        <p:spPr>
          <a:xfrm>
            <a:off x="10927035" y="8981182"/>
            <a:ext cx="6446490" cy="9525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10927035" y="9143107"/>
            <a:ext cx="6639885" cy="5723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25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гибриды точнее </a:t>
            </a:r>
            <a:r>
              <a:rPr lang="en-US" sz="1425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любой промышленной конфигурации «LLM на каждое поле».</a:t>
            </a:r>
            <a:endParaRPr lang="en-US" sz="1425" dirty="0"/>
          </a:p>
        </p:txBody>
      </p:sp>
      <p:sp>
        <p:nvSpPr>
          <p:cNvPr id="24" name="Text 21"/>
          <p:cNvSpPr/>
          <p:nvPr/>
        </p:nvSpPr>
        <p:spPr>
          <a:xfrm>
            <a:off x="914400" y="9782175"/>
            <a:ext cx="6824526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АВТОМАТИЗИРОВАННОГО ОБОГАЩЕНИЯ ТОВАРНЫХ ДАННЫХ · ВКР МАГИСТРА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16701492" y="9767888"/>
            <a:ext cx="74830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16203A">
                    <a:alpha val="9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20</a:t>
            </a:r>
            <a:endParaRPr lang="en-US" sz="1050" dirty="0"/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>
            <a:alphaModFix amt="92000"/>
          </a:blip>
          <a:stretch>
            <a:fillRect/>
          </a:stretch>
        </p:blipFill>
        <p:spPr>
          <a:xfrm>
            <a:off x="16459200" y="342900"/>
            <a:ext cx="914400" cy="88046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1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685800"/>
            <a:ext cx="508695" cy="357188"/>
          </a:xfrm>
          <a:prstGeom prst="rect">
            <a:avLst/>
          </a:prstGeom>
          <a:solidFill>
            <a:srgbClr val="1A2438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28700" y="733425"/>
            <a:ext cx="35629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b="1" kern="0" spc="158" dirty="0">
                <a:solidFill>
                  <a:srgbClr val="F5F1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575" dirty="0"/>
          </a:p>
        </p:txBody>
      </p:sp>
      <p:sp>
        <p:nvSpPr>
          <p:cNvPr id="4" name="Text 2"/>
          <p:cNvSpPr/>
          <p:nvPr/>
        </p:nvSpPr>
        <p:spPr>
          <a:xfrm>
            <a:off x="1594545" y="733425"/>
            <a:ext cx="353547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284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ЗАДАЧА 4 · ВКЛАД СЛОЁВ</a:t>
            </a:r>
            <a:endParaRPr lang="en-US" sz="1575" dirty="0"/>
          </a:p>
        </p:txBody>
      </p:sp>
      <p:sp>
        <p:nvSpPr>
          <p:cNvPr id="5" name="Shape 3"/>
          <p:cNvSpPr/>
          <p:nvPr/>
        </p:nvSpPr>
        <p:spPr>
          <a:xfrm>
            <a:off x="914400" y="1214438"/>
            <a:ext cx="16459200" cy="9525"/>
          </a:xfrm>
          <a:prstGeom prst="rect">
            <a:avLst/>
          </a:prstGeom>
          <a:solidFill>
            <a:srgbClr val="16203A">
              <a:alpha val="85000"/>
            </a:srgbClr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1547813"/>
            <a:ext cx="14716125" cy="6781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kern="0" spc="-106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Послойный вклад каскада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914400" y="2359298"/>
            <a:ext cx="1471612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Распределение финальных предсказаний по слоям каскада на трёх категориях товаров эталонной выборки.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2957438"/>
            <a:ext cx="16459200" cy="6719962"/>
          </a:xfrm>
          <a:prstGeom prst="rect">
            <a:avLst/>
          </a:prstGeom>
          <a:solidFill>
            <a:srgbClr val="FFFFFF"/>
          </a:solidFill>
          <a:ln w="9525">
            <a:solidFill>
              <a:srgbClr val="DCD4BF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1343025" y="4067101"/>
            <a:ext cx="209550" cy="209550"/>
          </a:xfrm>
          <a:prstGeom prst="rect">
            <a:avLst/>
          </a:prstGeom>
          <a:solidFill>
            <a:srgbClr val="4A6FA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666875" y="4074244"/>
            <a:ext cx="1852687" cy="2333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СЛОЙ 1 · REGEX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976762" y="4067101"/>
            <a:ext cx="209550" cy="209550"/>
          </a:xfrm>
          <a:prstGeom prst="rect">
            <a:avLst/>
          </a:prstGeom>
          <a:solidFill>
            <a:srgbClr val="2E7D5E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300612" y="4074244"/>
            <a:ext cx="2744634" cy="2333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СЛОЙ 2 · ML (XGBOOST)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498705" y="4067101"/>
            <a:ext cx="209550" cy="209550"/>
          </a:xfrm>
          <a:prstGeom prst="rect">
            <a:avLst/>
          </a:prstGeom>
          <a:solidFill>
            <a:srgbClr val="B05E2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822555" y="4074244"/>
            <a:ext cx="1598935" cy="2333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189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СЛОЙ 4 · LLM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309699" y="4081388"/>
            <a:ext cx="3744334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kern="0" spc="189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доля финальных предсказаний, %</a:t>
            </a:r>
            <a:endParaRPr lang="en-US" sz="1275" dirty="0"/>
          </a:p>
        </p:txBody>
      </p:sp>
      <p:sp>
        <p:nvSpPr>
          <p:cNvPr id="16" name="Text 14"/>
          <p:cNvSpPr/>
          <p:nvPr/>
        </p:nvSpPr>
        <p:spPr>
          <a:xfrm>
            <a:off x="1266825" y="4705276"/>
            <a:ext cx="1981200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275" kern="0" spc="204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КАТЕГОРИЯ</a:t>
            </a:r>
            <a:endParaRPr lang="en-US" sz="1275" dirty="0"/>
          </a:p>
        </p:txBody>
      </p:sp>
      <p:sp>
        <p:nvSpPr>
          <p:cNvPr id="17" name="Text 15"/>
          <p:cNvSpPr/>
          <p:nvPr/>
        </p:nvSpPr>
        <p:spPr>
          <a:xfrm>
            <a:off x="1266825" y="4924351"/>
            <a:ext cx="1981200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2700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Паста</a:t>
            </a:r>
            <a:endParaRPr lang="en-US" sz="2700" dirty="0"/>
          </a:p>
        </p:txBody>
      </p:sp>
      <p:sp>
        <p:nvSpPr>
          <p:cNvPr id="18" name="Shape 16"/>
          <p:cNvSpPr/>
          <p:nvPr/>
        </p:nvSpPr>
        <p:spPr>
          <a:xfrm>
            <a:off x="3552825" y="4619551"/>
            <a:ext cx="13392150" cy="838200"/>
          </a:xfrm>
          <a:prstGeom prst="rect">
            <a:avLst/>
          </a:prstGeom>
          <a:ln w="9525">
            <a:solidFill>
              <a:srgbClr val="E7E0CB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3562350" y="4629076"/>
            <a:ext cx="2407146" cy="819150"/>
          </a:xfrm>
          <a:prstGeom prst="rect">
            <a:avLst/>
          </a:prstGeom>
          <a:solidFill>
            <a:srgbClr val="4A6FA5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524250" y="4629076"/>
            <a:ext cx="2483346" cy="857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18 %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5969496" y="4629076"/>
            <a:ext cx="9896029" cy="819150"/>
          </a:xfrm>
          <a:prstGeom prst="rect">
            <a:avLst/>
          </a:prstGeom>
          <a:solidFill>
            <a:srgbClr val="2E7D5E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821056" y="4629076"/>
            <a:ext cx="10192909" cy="857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74 %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15865525" y="4629076"/>
            <a:ext cx="1069777" cy="819150"/>
          </a:xfrm>
          <a:prstGeom prst="rect">
            <a:avLst/>
          </a:prstGeom>
          <a:solidFill>
            <a:srgbClr val="B05E2A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5827425" y="4629076"/>
            <a:ext cx="1145977" cy="857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8 %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266825" y="5886376"/>
            <a:ext cx="1981200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275" kern="0" spc="204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КАТЕГОРИЯ</a:t>
            </a:r>
            <a:endParaRPr lang="en-US" sz="1275" dirty="0"/>
          </a:p>
        </p:txBody>
      </p:sp>
      <p:sp>
        <p:nvSpPr>
          <p:cNvPr id="26" name="Text 24"/>
          <p:cNvSpPr/>
          <p:nvPr/>
        </p:nvSpPr>
        <p:spPr>
          <a:xfrm>
            <a:off x="1266825" y="6105451"/>
            <a:ext cx="1981200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2700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Шоколад</a:t>
            </a:r>
            <a:endParaRPr lang="en-US" sz="2700" dirty="0"/>
          </a:p>
        </p:txBody>
      </p:sp>
      <p:sp>
        <p:nvSpPr>
          <p:cNvPr id="27" name="Shape 25"/>
          <p:cNvSpPr/>
          <p:nvPr/>
        </p:nvSpPr>
        <p:spPr>
          <a:xfrm>
            <a:off x="3552825" y="5800651"/>
            <a:ext cx="13392150" cy="838200"/>
          </a:xfrm>
          <a:prstGeom prst="rect">
            <a:avLst/>
          </a:prstGeom>
          <a:ln w="9525">
            <a:solidFill>
              <a:srgbClr val="E7E0CB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3562350" y="5810176"/>
            <a:ext cx="3075756" cy="819150"/>
          </a:xfrm>
          <a:prstGeom prst="rect">
            <a:avLst/>
          </a:prstGeom>
          <a:solidFill>
            <a:srgbClr val="4A6FA5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3516214" y="5810176"/>
            <a:ext cx="3168029" cy="857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23 %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6638106" y="5810176"/>
            <a:ext cx="9628584" cy="819150"/>
          </a:xfrm>
          <a:prstGeom prst="rect">
            <a:avLst/>
          </a:prstGeom>
          <a:solidFill>
            <a:srgbClr val="2E7D5E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493678" y="5810176"/>
            <a:ext cx="9917442" cy="857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72 %</a:t>
            </a:r>
            <a:endParaRPr lang="en-US" sz="2250" dirty="0"/>
          </a:p>
        </p:txBody>
      </p:sp>
      <p:sp>
        <p:nvSpPr>
          <p:cNvPr id="32" name="Shape 30"/>
          <p:cNvSpPr/>
          <p:nvPr/>
        </p:nvSpPr>
        <p:spPr>
          <a:xfrm>
            <a:off x="16266691" y="5810176"/>
            <a:ext cx="668610" cy="819150"/>
          </a:xfrm>
          <a:prstGeom prst="rect">
            <a:avLst/>
          </a:prstGeom>
          <a:solidFill>
            <a:srgbClr val="B05E2A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16228591" y="5810176"/>
            <a:ext cx="744810" cy="857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5 %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1266825" y="7067476"/>
            <a:ext cx="1981200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275" kern="0" spc="204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КАТЕГОРИЯ</a:t>
            </a:r>
            <a:endParaRPr lang="en-US" sz="1275" dirty="0"/>
          </a:p>
        </p:txBody>
      </p:sp>
      <p:sp>
        <p:nvSpPr>
          <p:cNvPr id="35" name="Text 33"/>
          <p:cNvSpPr/>
          <p:nvPr/>
        </p:nvSpPr>
        <p:spPr>
          <a:xfrm>
            <a:off x="1266825" y="7286551"/>
            <a:ext cx="1981200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2700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Сыры</a:t>
            </a:r>
            <a:endParaRPr lang="en-US" sz="2700" dirty="0"/>
          </a:p>
        </p:txBody>
      </p:sp>
      <p:sp>
        <p:nvSpPr>
          <p:cNvPr id="36" name="Shape 34"/>
          <p:cNvSpPr/>
          <p:nvPr/>
        </p:nvSpPr>
        <p:spPr>
          <a:xfrm>
            <a:off x="3552825" y="6981751"/>
            <a:ext cx="13392150" cy="838200"/>
          </a:xfrm>
          <a:prstGeom prst="rect">
            <a:avLst/>
          </a:prstGeom>
          <a:ln w="9525">
            <a:solidFill>
              <a:srgbClr val="E7E0CB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3562350" y="6991276"/>
            <a:ext cx="401166" cy="819150"/>
          </a:xfrm>
          <a:prstGeom prst="rect">
            <a:avLst/>
          </a:prstGeom>
          <a:solidFill>
            <a:srgbClr val="4A6FA5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3524250" y="6991276"/>
            <a:ext cx="477366" cy="857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3963516" y="6991276"/>
            <a:ext cx="12570693" cy="819150"/>
          </a:xfrm>
          <a:prstGeom prst="rect">
            <a:avLst/>
          </a:prstGeom>
          <a:solidFill>
            <a:srgbClr val="2E7D5E"/>
          </a:solidFill>
          <a:ln/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3774956" y="6991276"/>
            <a:ext cx="12947814" cy="857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94 % · ML делает почти всё</a:t>
            </a:r>
            <a:endParaRPr lang="en-US" sz="2250" dirty="0"/>
          </a:p>
        </p:txBody>
      </p:sp>
      <p:sp>
        <p:nvSpPr>
          <p:cNvPr id="41" name="Shape 39"/>
          <p:cNvSpPr/>
          <p:nvPr/>
        </p:nvSpPr>
        <p:spPr>
          <a:xfrm>
            <a:off x="16534209" y="6991276"/>
            <a:ext cx="401166" cy="819150"/>
          </a:xfrm>
          <a:prstGeom prst="rect">
            <a:avLst/>
          </a:prstGeom>
          <a:solidFill>
            <a:srgbClr val="B05E2A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16496109" y="6991276"/>
            <a:ext cx="477366" cy="857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1343025" y="8162851"/>
            <a:ext cx="15601950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1343025" y="8324776"/>
            <a:ext cx="16070009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50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Слой 0 (классификатор категории) делает 100 % товара; здесь не показан. На сырах Слой 1 покрывает </a:t>
            </a:r>
            <a:r>
              <a:rPr lang="en-US" sz="1500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milk_source / is_pdo / is_ultra_processed </a:t>
            </a:r>
            <a:r>
              <a:rPr lang="en-US" sz="150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(3 % ячеек, 100 % precision).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914400" y="9782175"/>
            <a:ext cx="6824526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АВТОМАТИЗИРОВАННОГО ОБОГАЩЕНИЯ ТОВАРНЫХ ДАННЫХ · ВКР МАГИСТРА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16701492" y="9767888"/>
            <a:ext cx="74830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16203A">
                    <a:alpha val="9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20</a:t>
            </a:r>
            <a:endParaRPr lang="en-US" sz="1050" dirty="0"/>
          </a:p>
        </p:txBody>
      </p:sp>
      <p:pic>
        <p:nvPicPr>
          <p:cNvPr id="47" name="Image 0" descr="preencoded.png"/>
          <p:cNvPicPr>
            <a:picLocks noChangeAspect="1"/>
          </p:cNvPicPr>
          <p:nvPr/>
        </p:nvPicPr>
        <p:blipFill>
          <a:blip r:embed="rId3">
            <a:alphaModFix amt="92000"/>
          </a:blip>
          <a:stretch>
            <a:fillRect/>
          </a:stretch>
        </p:blipFill>
        <p:spPr>
          <a:xfrm>
            <a:off x="16459200" y="342900"/>
            <a:ext cx="914400" cy="88046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1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685800"/>
            <a:ext cx="508695" cy="357188"/>
          </a:xfrm>
          <a:prstGeom prst="rect">
            <a:avLst/>
          </a:prstGeom>
          <a:solidFill>
            <a:srgbClr val="1A2438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28700" y="733425"/>
            <a:ext cx="35629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b="1" kern="0" spc="158" dirty="0">
                <a:solidFill>
                  <a:srgbClr val="F5F1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575" dirty="0"/>
          </a:p>
        </p:txBody>
      </p:sp>
      <p:sp>
        <p:nvSpPr>
          <p:cNvPr id="4" name="Text 2"/>
          <p:cNvSpPr/>
          <p:nvPr/>
        </p:nvSpPr>
        <p:spPr>
          <a:xfrm>
            <a:off x="1594545" y="733425"/>
            <a:ext cx="417823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284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ЗАДАЧА 4 · ОТКРЫТЫЕ МОДЕЛИ</a:t>
            </a:r>
            <a:endParaRPr lang="en-US" sz="1575" dirty="0"/>
          </a:p>
        </p:txBody>
      </p:sp>
      <p:sp>
        <p:nvSpPr>
          <p:cNvPr id="5" name="Shape 3"/>
          <p:cNvSpPr/>
          <p:nvPr/>
        </p:nvSpPr>
        <p:spPr>
          <a:xfrm>
            <a:off x="914400" y="1214438"/>
            <a:ext cx="16459200" cy="9525"/>
          </a:xfrm>
          <a:prstGeom prst="rect">
            <a:avLst/>
          </a:prstGeom>
          <a:solidFill>
            <a:srgbClr val="16203A">
              <a:alpha val="85000"/>
            </a:srgbClr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1547813"/>
            <a:ext cx="14716125" cy="6781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kern="0" spc="-106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Развёртывание на открытых моделях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914400" y="2359298"/>
            <a:ext cx="14716125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Каскад архитектурно независим от поставщика LLM. С открытой моделью gpt-oss-120b в роли Слоя 4 возможно полностью локальное развёртывание без передачи данных во внешние сервисы.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3250778"/>
            <a:ext cx="164592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DCD4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04925" y="3603203"/>
            <a:ext cx="1614849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kern="0" spc="255" dirty="0">
                <a:solidFill>
                  <a:srgbClr val="B05E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ПРИРОСТ ОТ КАСКАДНОЙ АРХИТЕКТУРЫ</a:t>
            </a:r>
            <a:endParaRPr lang="en-US" sz="1275" dirty="0"/>
          </a:p>
        </p:txBody>
      </p:sp>
      <p:sp>
        <p:nvSpPr>
          <p:cNvPr id="10" name="Text 8"/>
          <p:cNvSpPr/>
          <p:nvPr/>
        </p:nvSpPr>
        <p:spPr>
          <a:xfrm>
            <a:off x="1304925" y="4093741"/>
            <a:ext cx="4807268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180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ПРЯМОЙ GPT-OSS-120B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1304925" y="4331866"/>
            <a:ext cx="4807268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200" kern="0" spc="-324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69,3 </a:t>
            </a:r>
            <a:r>
              <a:rPr lang="en-US" sz="2100" kern="0" spc="-324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7200" dirty="0"/>
          </a:p>
        </p:txBody>
      </p:sp>
      <p:sp>
        <p:nvSpPr>
          <p:cNvPr id="12" name="Text 10"/>
          <p:cNvSpPr/>
          <p:nvPr/>
        </p:nvSpPr>
        <p:spPr>
          <a:xfrm>
            <a:off x="1304925" y="5303416"/>
            <a:ext cx="4807268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6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на эталоне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238875" y="4493791"/>
            <a:ext cx="8382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800" dirty="0">
                <a:solidFill>
                  <a:srgbClr val="B05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7343775" y="4093741"/>
            <a:ext cx="4807268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180" dirty="0">
                <a:solidFill>
                  <a:srgbClr val="2E7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КАСКАД + GPT-OSS-120B</a:t>
            </a:r>
            <a:endParaRPr lang="en-US" sz="1125" dirty="0"/>
          </a:p>
        </p:txBody>
      </p:sp>
      <p:sp>
        <p:nvSpPr>
          <p:cNvPr id="15" name="Text 13"/>
          <p:cNvSpPr/>
          <p:nvPr/>
        </p:nvSpPr>
        <p:spPr>
          <a:xfrm>
            <a:off x="7343775" y="4331866"/>
            <a:ext cx="4807268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200" kern="0" spc="-324" dirty="0">
                <a:solidFill>
                  <a:srgbClr val="2E7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93,3 </a:t>
            </a:r>
            <a:r>
              <a:rPr lang="en-US" sz="2100" kern="0" spc="-324" dirty="0">
                <a:solidFill>
                  <a:srgbClr val="2E7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7343775" y="5303416"/>
            <a:ext cx="4807268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6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на эталоне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12315825" y="4031828"/>
            <a:ext cx="4667250" cy="1533525"/>
          </a:xfrm>
          <a:prstGeom prst="rect">
            <a:avLst/>
          </a:prstGeom>
          <a:solidFill>
            <a:srgbClr val="FFFFFF"/>
          </a:solidFill>
          <a:ln w="9525">
            <a:solidFill>
              <a:srgbClr val="DCD4B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2573000" y="4250903"/>
            <a:ext cx="4277487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18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ДЕЛЬТА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12573000" y="4469978"/>
            <a:ext cx="4277487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kern="0" spc="-216" dirty="0">
                <a:solidFill>
                  <a:srgbClr val="1A1A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+24,0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12573000" y="5117678"/>
            <a:ext cx="4277487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пунктов точности</a:t>
            </a:r>
            <a:endParaRPr lang="en-US" sz="1575" dirty="0"/>
          </a:p>
        </p:txBody>
      </p:sp>
      <p:sp>
        <p:nvSpPr>
          <p:cNvPr id="21" name="Shape 19"/>
          <p:cNvSpPr/>
          <p:nvPr/>
        </p:nvSpPr>
        <p:spPr>
          <a:xfrm>
            <a:off x="914400" y="6184478"/>
            <a:ext cx="5745659" cy="2454027"/>
          </a:xfrm>
          <a:prstGeom prst="rect">
            <a:avLst/>
          </a:prstGeom>
          <a:solidFill>
            <a:srgbClr val="EFEAD9"/>
          </a:solidFill>
          <a:ln w="9525">
            <a:solidFill>
              <a:srgbClr val="DCD4B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228725" y="6460703"/>
            <a:ext cx="5270519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203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ЦЕНА ЛОКАЛЬНОСТИ</a:t>
            </a:r>
            <a:endParaRPr lang="en-US" sz="1125" dirty="0"/>
          </a:p>
        </p:txBody>
      </p:sp>
      <p:sp>
        <p:nvSpPr>
          <p:cNvPr id="23" name="Text 21"/>
          <p:cNvSpPr/>
          <p:nvPr/>
        </p:nvSpPr>
        <p:spPr>
          <a:xfrm>
            <a:off x="1228725" y="6698828"/>
            <a:ext cx="5270519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300" kern="0" spc="-283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−0,5 </a:t>
            </a:r>
            <a:r>
              <a:rPr lang="en-US" sz="1875" kern="0" spc="-283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п.п.</a:t>
            </a:r>
            <a:endParaRPr lang="en-US" sz="6300" dirty="0"/>
          </a:p>
        </p:txBody>
      </p:sp>
      <p:sp>
        <p:nvSpPr>
          <p:cNvPr id="24" name="Text 22"/>
          <p:cNvSpPr/>
          <p:nvPr/>
        </p:nvSpPr>
        <p:spPr>
          <a:xfrm>
            <a:off x="1228725" y="7575128"/>
            <a:ext cx="5270519" cy="8252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25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всего на столько каскад + gpt-oss-120b уступает коммерческой конфигурации — при полной независимости от внешних API.</a:t>
            </a:r>
            <a:endParaRPr lang="en-US" sz="1425" dirty="0"/>
          </a:p>
        </p:txBody>
      </p:sp>
      <p:sp>
        <p:nvSpPr>
          <p:cNvPr id="25" name="Text 23"/>
          <p:cNvSpPr/>
          <p:nvPr/>
        </p:nvSpPr>
        <p:spPr>
          <a:xfrm>
            <a:off x="6926759" y="6189241"/>
            <a:ext cx="4403647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kern="0" spc="255" dirty="0">
                <a:solidFill>
                  <a:srgbClr val="162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СЦЕНАРИЯ РАЗВЁРТЫВАНИЯ СЛОЯ 4</a:t>
            </a:r>
            <a:endParaRPr lang="en-US" sz="1275" dirty="0"/>
          </a:p>
        </p:txBody>
      </p:sp>
      <p:sp>
        <p:nvSpPr>
          <p:cNvPr id="26" name="Shape 24"/>
          <p:cNvSpPr/>
          <p:nvPr/>
        </p:nvSpPr>
        <p:spPr>
          <a:xfrm>
            <a:off x="6926759" y="6503566"/>
            <a:ext cx="3380631" cy="182403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6926759" y="8318078"/>
            <a:ext cx="3380631" cy="9525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6926759" y="6503566"/>
            <a:ext cx="3380631" cy="38100"/>
          </a:xfrm>
          <a:prstGeom prst="rect">
            <a:avLst/>
          </a:prstGeom>
          <a:solidFill>
            <a:srgbClr val="3A4258"/>
          </a:solidFill>
          <a:ln/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6926759" y="6503566"/>
            <a:ext cx="9525" cy="1824038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10297864" y="6503566"/>
            <a:ext cx="9525" cy="1824038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7145834" y="6751216"/>
            <a:ext cx="3030755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68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МАКСИМАЛЬНАЯ ТОЧНОСТЬ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145834" y="6975053"/>
            <a:ext cx="303075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b="1" kern="0" spc="-9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Sonnet 4.5</a:t>
            </a:r>
            <a:endParaRPr lang="en-US" sz="1725" dirty="0"/>
          </a:p>
        </p:txBody>
      </p:sp>
      <p:sp>
        <p:nvSpPr>
          <p:cNvPr id="33" name="Text 31"/>
          <p:cNvSpPr/>
          <p:nvPr/>
        </p:nvSpPr>
        <p:spPr>
          <a:xfrm>
            <a:off x="7145834" y="7337003"/>
            <a:ext cx="3030755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93,8 %; коммерческое API с гарантией качества обслуживания вендора.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459789" y="6503566"/>
            <a:ext cx="3380705" cy="182403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10459789" y="8318078"/>
            <a:ext cx="3380705" cy="9525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10459789" y="6503566"/>
            <a:ext cx="3380705" cy="38100"/>
          </a:xfrm>
          <a:prstGeom prst="rect">
            <a:avLst/>
          </a:prstGeom>
          <a:solidFill>
            <a:srgbClr val="3A4258"/>
          </a:solidFill>
          <a:ln/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10459789" y="6503566"/>
            <a:ext cx="9525" cy="1824038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13830970" y="6503566"/>
            <a:ext cx="9525" cy="1824038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0678864" y="6751216"/>
            <a:ext cx="3030832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68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ОПТИМАЛЬНОЕ СООТНОШЕНИЕ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10678864" y="6975053"/>
            <a:ext cx="303083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b="1" kern="0" spc="-9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Flash</a:t>
            </a:r>
            <a:endParaRPr lang="en-US" sz="1725" dirty="0"/>
          </a:p>
        </p:txBody>
      </p:sp>
      <p:sp>
        <p:nvSpPr>
          <p:cNvPr id="41" name="Text 39"/>
          <p:cNvSpPr/>
          <p:nvPr/>
        </p:nvSpPr>
        <p:spPr>
          <a:xfrm>
            <a:off x="10678864" y="7337003"/>
            <a:ext cx="3030832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93,8 % при минимальной стоимости вызова; парето-оптимальная конфигурация.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13992895" y="6503566"/>
            <a:ext cx="3380705" cy="182403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13992895" y="8318078"/>
            <a:ext cx="3380705" cy="9525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13992895" y="6503566"/>
            <a:ext cx="3380705" cy="38100"/>
          </a:xfrm>
          <a:prstGeom prst="rect">
            <a:avLst/>
          </a:prstGeom>
          <a:solidFill>
            <a:srgbClr val="3A4258"/>
          </a:solidFill>
          <a:ln/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13992895" y="6503566"/>
            <a:ext cx="9525" cy="1824038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17364075" y="6503566"/>
            <a:ext cx="9525" cy="1824038"/>
          </a:xfrm>
          <a:prstGeom prst="rect">
            <a:avLst/>
          </a:prstGeom>
          <a:solidFill>
            <a:srgbClr val="DCD4BF"/>
          </a:solidFill>
          <a:ln/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14211970" y="6751216"/>
            <a:ext cx="3030832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68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ПОЛНОСТЬЮ ЛОКАЛЬНО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14211970" y="6975053"/>
            <a:ext cx="3030832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b="1" kern="0" spc="-9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gpt-oss-120b</a:t>
            </a:r>
            <a:endParaRPr lang="en-US" sz="1725" dirty="0"/>
          </a:p>
        </p:txBody>
      </p:sp>
      <p:sp>
        <p:nvSpPr>
          <p:cNvPr id="49" name="Text 47"/>
          <p:cNvSpPr/>
          <p:nvPr/>
        </p:nvSpPr>
        <p:spPr>
          <a:xfrm>
            <a:off x="14211970" y="7337003"/>
            <a:ext cx="3030832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93,3 %; открытая модель, данные не покидают контур компании.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914400" y="9782175"/>
            <a:ext cx="6824526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АВТОМАТИЗИРОВАННОГО ОБОГАЩЕНИЯ ТОВАРНЫХ ДАННЫХ · ВКР МАГИСТРА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16701492" y="9767888"/>
            <a:ext cx="74830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16203A">
                    <a:alpha val="9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20</a:t>
            </a:r>
            <a:endParaRPr lang="en-US" sz="1050" dirty="0"/>
          </a:p>
        </p:txBody>
      </p:sp>
      <p:pic>
        <p:nvPicPr>
          <p:cNvPr id="52" name="Image 0" descr="preencoded.png"/>
          <p:cNvPicPr>
            <a:picLocks noChangeAspect="1"/>
          </p:cNvPicPr>
          <p:nvPr/>
        </p:nvPicPr>
        <p:blipFill>
          <a:blip r:embed="rId3">
            <a:alphaModFix amt="92000"/>
          </a:blip>
          <a:stretch>
            <a:fillRect/>
          </a:stretch>
        </p:blipFill>
        <p:spPr>
          <a:xfrm>
            <a:off x="16459200" y="342900"/>
            <a:ext cx="914400" cy="88046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1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685800"/>
            <a:ext cx="508695" cy="357188"/>
          </a:xfrm>
          <a:prstGeom prst="rect">
            <a:avLst/>
          </a:prstGeom>
          <a:solidFill>
            <a:srgbClr val="1A2438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28700" y="733425"/>
            <a:ext cx="35629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b="1" kern="0" spc="158" dirty="0">
                <a:solidFill>
                  <a:srgbClr val="F5F1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1575" dirty="0"/>
          </a:p>
        </p:txBody>
      </p:sp>
      <p:sp>
        <p:nvSpPr>
          <p:cNvPr id="4" name="Text 2"/>
          <p:cNvSpPr/>
          <p:nvPr/>
        </p:nvSpPr>
        <p:spPr>
          <a:xfrm>
            <a:off x="1594545" y="733425"/>
            <a:ext cx="385685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284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ЗАДАЧА 4 · ДОСТОВЕРНОСТЬ</a:t>
            </a:r>
            <a:endParaRPr lang="en-US" sz="1575" dirty="0"/>
          </a:p>
        </p:txBody>
      </p:sp>
      <p:sp>
        <p:nvSpPr>
          <p:cNvPr id="5" name="Shape 3"/>
          <p:cNvSpPr/>
          <p:nvPr/>
        </p:nvSpPr>
        <p:spPr>
          <a:xfrm>
            <a:off x="914400" y="1214438"/>
            <a:ext cx="16459200" cy="9525"/>
          </a:xfrm>
          <a:prstGeom prst="rect">
            <a:avLst/>
          </a:prstGeom>
          <a:solidFill>
            <a:srgbClr val="16203A">
              <a:alpha val="85000"/>
            </a:srgbClr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1547813"/>
            <a:ext cx="14716125" cy="6781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kern="0" spc="-106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Достоверность результата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914400" y="2359298"/>
            <a:ext cx="14716125" cy="70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Контроль на структурную утечку между эталоном и признаками: точность приведена в разрезе типа эталонного сигнала. При утечке выше был бы «текстовый» ярус — наблюдается обратное.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3250778"/>
            <a:ext cx="16459200" cy="4252913"/>
          </a:xfrm>
          <a:prstGeom prst="rect">
            <a:avLst/>
          </a:prstGeom>
          <a:solidFill>
            <a:srgbClr val="FFFFFF"/>
          </a:solidFill>
          <a:ln w="9525">
            <a:solidFill>
              <a:srgbClr val="DCD4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247775" y="3546053"/>
            <a:ext cx="16266224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75" kern="0" spc="255" dirty="0">
                <a:solidFill>
                  <a:srgbClr val="B05E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ТОЧНОСТЬ КАСКАДА ПО ТИПУ ЭТАЛОННОГО СИГНАЛА</a:t>
            </a:r>
            <a:endParaRPr lang="en-US" sz="1275" dirty="0"/>
          </a:p>
        </p:txBody>
      </p:sp>
      <p:sp>
        <p:nvSpPr>
          <p:cNvPr id="10" name="Text 8"/>
          <p:cNvSpPr/>
          <p:nvPr/>
        </p:nvSpPr>
        <p:spPr>
          <a:xfrm>
            <a:off x="1247775" y="4012778"/>
            <a:ext cx="2747010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89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ЯРУС 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247775" y="4198516"/>
            <a:ext cx="274701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Числовое поле → детерм. правило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086225" y="4181847"/>
            <a:ext cx="11258550" cy="342900"/>
          </a:xfrm>
          <a:prstGeom prst="rect">
            <a:avLst/>
          </a:prstGeom>
          <a:solidFill>
            <a:srgbClr val="EFEAD9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086225" y="4181847"/>
            <a:ext cx="9378330" cy="342900"/>
          </a:xfrm>
          <a:prstGeom prst="rect">
            <a:avLst/>
          </a:prstGeom>
          <a:solidFill>
            <a:srgbClr val="2E7D5E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2991728" y="4343772"/>
            <a:ext cx="912019" cy="19050"/>
          </a:xfrm>
          <a:prstGeom prst="rect">
            <a:avLst/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2991728" y="4284687"/>
            <a:ext cx="19050" cy="137220"/>
          </a:xfrm>
          <a:prstGeom prst="rect">
            <a:avLst/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13903672" y="4284687"/>
            <a:ext cx="19050" cy="137220"/>
          </a:xfrm>
          <a:prstGeom prst="rect">
            <a:avLst/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5440025" y="4100885"/>
            <a:ext cx="160020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2400" dirty="0">
                <a:solidFill>
                  <a:srgbClr val="2E7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83,3 %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5440025" y="4443785"/>
            <a:ext cx="160020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125" kern="0" spc="45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[79,1 ; 87,2]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1247775" y="4939085"/>
            <a:ext cx="2747010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89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ЯРУС 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247775" y="5124822"/>
            <a:ext cx="274701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Регуляторные теги OFF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086225" y="4984328"/>
            <a:ext cx="11258550" cy="342900"/>
          </a:xfrm>
          <a:prstGeom prst="rect">
            <a:avLst/>
          </a:prstGeom>
          <a:solidFill>
            <a:srgbClr val="EFEAD9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086225" y="4984328"/>
            <a:ext cx="10537999" cy="342900"/>
          </a:xfrm>
          <a:prstGeom prst="rect">
            <a:avLst/>
          </a:prstGeom>
          <a:solidFill>
            <a:srgbClr val="4A6FA5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4489088" y="5146253"/>
            <a:ext cx="259035" cy="19050"/>
          </a:xfrm>
          <a:prstGeom prst="rect">
            <a:avLst/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4489088" y="5087169"/>
            <a:ext cx="19050" cy="137220"/>
          </a:xfrm>
          <a:prstGeom prst="rect">
            <a:avLst/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4748049" y="5087169"/>
            <a:ext cx="19050" cy="137220"/>
          </a:xfrm>
          <a:prstGeom prst="rect">
            <a:avLst/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15440025" y="4903366"/>
            <a:ext cx="160020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2400" dirty="0">
                <a:solidFill>
                  <a:srgbClr val="4A6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93,6 %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5440025" y="5246266"/>
            <a:ext cx="160020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125" kern="0" spc="45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[92,4 ; 94,7]</a:t>
            </a:r>
            <a:endParaRPr lang="en-US" sz="1125" dirty="0"/>
          </a:p>
        </p:txBody>
      </p:sp>
      <p:sp>
        <p:nvSpPr>
          <p:cNvPr id="28" name="Text 26"/>
          <p:cNvSpPr/>
          <p:nvPr/>
        </p:nvSpPr>
        <p:spPr>
          <a:xfrm>
            <a:off x="1247775" y="5617741"/>
            <a:ext cx="2747010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89" dirty="0">
                <a:solidFill>
                  <a:srgbClr val="B05E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ЯРУС 2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247775" y="5803478"/>
            <a:ext cx="274701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Текст этикетки — возможна утечка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4086225" y="5786810"/>
            <a:ext cx="11258550" cy="342900"/>
          </a:xfrm>
          <a:prstGeom prst="rect">
            <a:avLst/>
          </a:prstGeom>
          <a:solidFill>
            <a:srgbClr val="EFEAD9"/>
          </a:solidFill>
          <a:ln/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4086225" y="5786810"/>
            <a:ext cx="9209484" cy="342900"/>
          </a:xfrm>
          <a:prstGeom prst="rect">
            <a:avLst/>
          </a:prstGeom>
          <a:solidFill>
            <a:srgbClr val="B05E2A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13104316" y="5948735"/>
            <a:ext cx="394097" cy="19050"/>
          </a:xfrm>
          <a:prstGeom prst="rect">
            <a:avLst/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13104316" y="5889650"/>
            <a:ext cx="19050" cy="137220"/>
          </a:xfrm>
          <a:prstGeom prst="rect">
            <a:avLst/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13498339" y="5889650"/>
            <a:ext cx="19050" cy="137220"/>
          </a:xfrm>
          <a:prstGeom prst="rect">
            <a:avLst/>
          </a:prstGeom>
          <a:solidFill>
            <a:srgbClr val="16203A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15440025" y="5705847"/>
            <a:ext cx="160020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2400" dirty="0">
                <a:solidFill>
                  <a:srgbClr val="B05E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81,8 %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15440025" y="6048747"/>
            <a:ext cx="160020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125" kern="0" spc="45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[80,1 ; 83,6]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1247775" y="6508328"/>
            <a:ext cx="15792450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1247775" y="6651203"/>
            <a:ext cx="16266224" cy="595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125" dirty="0">
                <a:solidFill>
                  <a:srgbClr val="1620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ОПРОВЕРЖЕНИЕ ПРЕТЕНЗИИ ОБ УТЕЧКЕ — </a:t>
            </a:r>
            <a:r>
              <a:rPr lang="en-US" sz="150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«текстовый» ярус, делящий сигнал с признаками модели, — </a:t>
            </a:r>
            <a:r>
              <a:rPr lang="en-US" sz="1500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самый низкий (81,8 %) </a:t>
            </a:r>
            <a:r>
              <a:rPr lang="en-US" sz="150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на 11,8 п.п. ниже тег-ярусного. Завышения за счёт утечки нет.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914400" y="7770391"/>
            <a:ext cx="5308550" cy="938213"/>
          </a:xfrm>
          <a:prstGeom prst="rect">
            <a:avLst/>
          </a:prstGeom>
          <a:solidFill>
            <a:srgbClr val="EFEAD9"/>
          </a:solidFill>
          <a:ln w="9525">
            <a:solidFill>
              <a:srgbClr val="DCD4BF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1171575" y="7989466"/>
            <a:ext cx="493802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Выборка без пересечения брендов</a:t>
            </a:r>
            <a:endParaRPr lang="en-US" sz="1575" dirty="0"/>
          </a:p>
        </p:txBody>
      </p:sp>
      <p:sp>
        <p:nvSpPr>
          <p:cNvPr id="41" name="Text 39"/>
          <p:cNvSpPr/>
          <p:nvPr/>
        </p:nvSpPr>
        <p:spPr>
          <a:xfrm>
            <a:off x="1171575" y="8289503"/>
            <a:ext cx="4938026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Бренды теста не пересекаются с обучающими.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6489650" y="7770391"/>
            <a:ext cx="5308625" cy="938213"/>
          </a:xfrm>
          <a:prstGeom prst="rect">
            <a:avLst/>
          </a:prstGeom>
          <a:solidFill>
            <a:srgbClr val="EFEAD9"/>
          </a:solidFill>
          <a:ln w="9525">
            <a:solidFill>
              <a:srgbClr val="DCD4BF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746825" y="7989466"/>
            <a:ext cx="493810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Абляция по расстоянию</a:t>
            </a:r>
            <a:endParaRPr lang="en-US" sz="1575" dirty="0"/>
          </a:p>
        </p:txBody>
      </p:sp>
      <p:sp>
        <p:nvSpPr>
          <p:cNvPr id="44" name="Text 42"/>
          <p:cNvSpPr/>
          <p:nvPr/>
        </p:nvSpPr>
        <p:spPr>
          <a:xfrm>
            <a:off x="6746825" y="8289503"/>
            <a:ext cx="4938103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не падает на семантически дальних товарах.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12064975" y="7770391"/>
            <a:ext cx="5308550" cy="938213"/>
          </a:xfrm>
          <a:prstGeom prst="rect">
            <a:avLst/>
          </a:prstGeom>
          <a:solidFill>
            <a:srgbClr val="EFEAD9"/>
          </a:solidFill>
          <a:ln w="9525">
            <a:solidFill>
              <a:srgbClr val="DCD4BF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12322150" y="7989466"/>
            <a:ext cx="493802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Робастность к языку</a:t>
            </a:r>
            <a:endParaRPr lang="en-US" sz="1575" dirty="0"/>
          </a:p>
        </p:txBody>
      </p:sp>
      <p:sp>
        <p:nvSpPr>
          <p:cNvPr id="47" name="Text 45"/>
          <p:cNvSpPr/>
          <p:nvPr/>
        </p:nvSpPr>
        <p:spPr>
          <a:xfrm>
            <a:off x="12322150" y="8289503"/>
            <a:ext cx="4938026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Сопоставимая точность на 5 языках этикеток.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914400" y="9782175"/>
            <a:ext cx="6824526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АВТОМАТИЗИРОВАННОГО ОБОГАЩЕНИЯ ТОВАРНЫХ ДАННЫХ · ВКР МАГИСТРА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16701492" y="9767888"/>
            <a:ext cx="74830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16203A">
                    <a:alpha val="9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20</a:t>
            </a:r>
            <a:endParaRPr lang="en-US" sz="1050" dirty="0"/>
          </a:p>
        </p:txBody>
      </p:sp>
      <p:pic>
        <p:nvPicPr>
          <p:cNvPr id="50" name="Image 0" descr="preencoded.png"/>
          <p:cNvPicPr>
            <a:picLocks noChangeAspect="1"/>
          </p:cNvPicPr>
          <p:nvPr/>
        </p:nvPicPr>
        <p:blipFill>
          <a:blip r:embed="rId3">
            <a:alphaModFix amt="92000"/>
          </a:blip>
          <a:stretch>
            <a:fillRect/>
          </a:stretch>
        </p:blipFill>
        <p:spPr>
          <a:xfrm>
            <a:off x="16459200" y="342900"/>
            <a:ext cx="914400" cy="88046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1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685800"/>
            <a:ext cx="508695" cy="357188"/>
          </a:xfrm>
          <a:prstGeom prst="rect">
            <a:avLst/>
          </a:prstGeom>
          <a:solidFill>
            <a:srgbClr val="1A2438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28700" y="733425"/>
            <a:ext cx="35629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b="1" kern="0" spc="158" dirty="0">
                <a:solidFill>
                  <a:srgbClr val="F5F1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1575" dirty="0"/>
          </a:p>
        </p:txBody>
      </p:sp>
      <p:sp>
        <p:nvSpPr>
          <p:cNvPr id="4" name="Text 2"/>
          <p:cNvSpPr/>
          <p:nvPr/>
        </p:nvSpPr>
        <p:spPr>
          <a:xfrm>
            <a:off x="1594545" y="733425"/>
            <a:ext cx="369612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284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ЗАДАЧА 5 · ДЕМОКОМПЛЕКС</a:t>
            </a:r>
            <a:endParaRPr lang="en-US" sz="1575" dirty="0"/>
          </a:p>
        </p:txBody>
      </p:sp>
      <p:sp>
        <p:nvSpPr>
          <p:cNvPr id="5" name="Shape 3"/>
          <p:cNvSpPr/>
          <p:nvPr/>
        </p:nvSpPr>
        <p:spPr>
          <a:xfrm>
            <a:off x="914400" y="1214438"/>
            <a:ext cx="16459200" cy="9525"/>
          </a:xfrm>
          <a:prstGeom prst="rect">
            <a:avLst/>
          </a:prstGeom>
          <a:solidFill>
            <a:srgbClr val="16203A">
              <a:alpha val="85000"/>
            </a:srgbClr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1547813"/>
            <a:ext cx="14716125" cy="4981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3450" kern="0" spc="-76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Демонстрационный комплекс</a:t>
            </a:r>
            <a:endParaRPr lang="en-US" sz="345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617569" y="2128792"/>
            <a:ext cx="7346197" cy="757053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0777612" y="2128792"/>
            <a:ext cx="5681588" cy="7052370"/>
          </a:xfrm>
          <a:prstGeom prst="rect">
            <a:avLst/>
          </a:prstGeom>
          <a:solidFill>
            <a:srgbClr val="FFFFFF"/>
          </a:solidFill>
          <a:ln w="9525">
            <a:solidFill>
              <a:srgbClr val="DCD4BF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10787137" y="4387483"/>
            <a:ext cx="5662538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11034787" y="2548711"/>
            <a:ext cx="5322255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25" kern="0" spc="203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ИНТЕРФЕЙС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11034787" y="2805886"/>
            <a:ext cx="5322255" cy="3077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800" b="1" kern="0" spc="-9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видит оператор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1034787" y="3170813"/>
            <a:ext cx="5322255" cy="84430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25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Слева — ввод партнёрских полей, справа — результат каскада: значение, уверенность и слой-источник ( </a:t>
            </a:r>
            <a:r>
              <a:rPr lang="en-US" sz="1425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REGEX · ML · LLM-FALLBACK </a:t>
            </a:r>
            <a:r>
              <a:rPr lang="en-US" sz="1425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425" dirty="0"/>
          </a:p>
        </p:txBody>
      </p:sp>
      <p:sp>
        <p:nvSpPr>
          <p:cNvPr id="15" name="Shape 12"/>
          <p:cNvSpPr/>
          <p:nvPr/>
        </p:nvSpPr>
        <p:spPr>
          <a:xfrm>
            <a:off x="10787137" y="6779597"/>
            <a:ext cx="5662538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11034787" y="5076780"/>
            <a:ext cx="5322255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25" kern="0" spc="203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ВАЛИДАЦИЯ</a:t>
            </a:r>
            <a:endParaRPr lang="en-US" sz="1125" dirty="0"/>
          </a:p>
        </p:txBody>
      </p:sp>
      <p:sp>
        <p:nvSpPr>
          <p:cNvPr id="17" name="Text 14"/>
          <p:cNvSpPr/>
          <p:nvPr/>
        </p:nvSpPr>
        <p:spPr>
          <a:xfrm>
            <a:off x="11034787" y="5333955"/>
            <a:ext cx="5322255" cy="3077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800" b="1" kern="0" spc="-9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Сигнал байес-валидатора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11034787" y="5698882"/>
            <a:ext cx="5322255" cy="5723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25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Подозрительные предсказания помечаются </a:t>
            </a:r>
            <a:r>
              <a:rPr lang="en-US" sz="1425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flagged </a:t>
            </a:r>
            <a:r>
              <a:rPr lang="en-US" sz="1425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PMI-разложением и направляются на приоритетную проверку.</a:t>
            </a:r>
            <a:endParaRPr lang="en-US" sz="1425" dirty="0"/>
          </a:p>
        </p:txBody>
      </p:sp>
      <p:sp>
        <p:nvSpPr>
          <p:cNvPr id="19" name="Text 16"/>
          <p:cNvSpPr/>
          <p:nvPr/>
        </p:nvSpPr>
        <p:spPr>
          <a:xfrm>
            <a:off x="11034787" y="7464058"/>
            <a:ext cx="5322255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125" kern="0" spc="203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ЭФФЕКТ</a:t>
            </a:r>
            <a:endParaRPr lang="en-US" sz="1125" dirty="0"/>
          </a:p>
        </p:txBody>
      </p:sp>
      <p:sp>
        <p:nvSpPr>
          <p:cNvPr id="20" name="Text 17"/>
          <p:cNvSpPr/>
          <p:nvPr/>
        </p:nvSpPr>
        <p:spPr>
          <a:xfrm>
            <a:off x="11034787" y="7721233"/>
            <a:ext cx="5322255" cy="3077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800" b="1" kern="0" spc="-9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Выборочная верификация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1034787" y="8086159"/>
            <a:ext cx="5322255" cy="5819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425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Ручная проверка с </a:t>
            </a:r>
            <a:r>
              <a:rPr lang="en-US" sz="1425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 → 5–10 % </a:t>
            </a:r>
            <a:r>
              <a:rPr lang="en-US" sz="1425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ячеек, нагрузка оператора меньше </a:t>
            </a:r>
            <a:r>
              <a:rPr lang="en-US" sz="1425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10–20 раз</a:t>
            </a:r>
            <a:r>
              <a:rPr lang="en-US" sz="1425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425" dirty="0"/>
          </a:p>
        </p:txBody>
      </p:sp>
      <p:sp>
        <p:nvSpPr>
          <p:cNvPr id="22" name="Text 19"/>
          <p:cNvSpPr/>
          <p:nvPr/>
        </p:nvSpPr>
        <p:spPr>
          <a:xfrm>
            <a:off x="914400" y="9782175"/>
            <a:ext cx="6824526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АВТОМАТИЗИРОВАННОГО ОБОГАЩЕНИЯ ТОВАРНЫХ ДАННЫХ · ВКР МАГИСТРА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16701492" y="9767888"/>
            <a:ext cx="74830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16203A">
                    <a:alpha val="9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20</a:t>
            </a:r>
            <a:endParaRPr lang="en-US" sz="1050" dirty="0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>
            <a:alphaModFix amt="92000"/>
          </a:blip>
          <a:stretch>
            <a:fillRect/>
          </a:stretch>
        </p:blipFill>
        <p:spPr>
          <a:xfrm>
            <a:off x="16459200" y="342900"/>
            <a:ext cx="914400" cy="88046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1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685800"/>
            <a:ext cx="508695" cy="357188"/>
          </a:xfrm>
          <a:prstGeom prst="rect">
            <a:avLst/>
          </a:prstGeom>
          <a:solidFill>
            <a:srgbClr val="1A2438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28700" y="733425"/>
            <a:ext cx="35629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b="1" kern="0" spc="158" dirty="0">
                <a:solidFill>
                  <a:srgbClr val="F5F1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1575" dirty="0"/>
          </a:p>
        </p:txBody>
      </p:sp>
      <p:sp>
        <p:nvSpPr>
          <p:cNvPr id="4" name="Text 2"/>
          <p:cNvSpPr/>
          <p:nvPr/>
        </p:nvSpPr>
        <p:spPr>
          <a:xfrm>
            <a:off x="1594545" y="733425"/>
            <a:ext cx="85635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284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ИТОГИ</a:t>
            </a:r>
            <a:endParaRPr lang="en-US" sz="1575" dirty="0"/>
          </a:p>
        </p:txBody>
      </p:sp>
      <p:sp>
        <p:nvSpPr>
          <p:cNvPr id="5" name="Shape 3"/>
          <p:cNvSpPr/>
          <p:nvPr/>
        </p:nvSpPr>
        <p:spPr>
          <a:xfrm>
            <a:off x="2546152" y="859631"/>
            <a:ext cx="133350" cy="9525"/>
          </a:xfrm>
          <a:prstGeom prst="rect">
            <a:avLst/>
          </a:prstGeom>
          <a:solidFill>
            <a:srgbClr val="2A344C">
              <a:alpha val="50000"/>
            </a:srgbClr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850952" y="733425"/>
            <a:ext cx="353547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284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ДОСТИГНУТЫЕ РЕЗУЛЬТАТЫ</a:t>
            </a:r>
            <a:endParaRPr lang="en-US" sz="1575" dirty="0"/>
          </a:p>
        </p:txBody>
      </p:sp>
      <p:sp>
        <p:nvSpPr>
          <p:cNvPr id="7" name="Shape 5"/>
          <p:cNvSpPr/>
          <p:nvPr/>
        </p:nvSpPr>
        <p:spPr>
          <a:xfrm>
            <a:off x="914400" y="1214438"/>
            <a:ext cx="16459200" cy="9525"/>
          </a:xfrm>
          <a:prstGeom prst="rect">
            <a:avLst/>
          </a:prstGeom>
          <a:solidFill>
            <a:srgbClr val="16203A">
              <a:alpha val="85000"/>
            </a:srgbClr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14400" y="1547813"/>
            <a:ext cx="14716125" cy="6781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kern="0" spc="-106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Достигнутые результаты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914400" y="2359298"/>
            <a:ext cx="1471612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числовые значения подтверждены воспроизводимыми артефактами эталонной выборки.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3052688"/>
            <a:ext cx="16459200" cy="4329113"/>
          </a:xfrm>
          <a:prstGeom prst="rect">
            <a:avLst/>
          </a:prstGeom>
          <a:solidFill>
            <a:srgbClr val="FFFFFF"/>
          </a:solidFill>
          <a:ln w="9525">
            <a:solidFill>
              <a:srgbClr val="DCD4BF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19162" y="3057451"/>
            <a:ext cx="4605858" cy="628650"/>
          </a:xfrm>
          <a:prstGeom prst="rect">
            <a:avLst/>
          </a:prstGeom>
          <a:solidFill>
            <a:srgbClr val="EFEAD9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919162" y="3676576"/>
            <a:ext cx="4605858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166812" y="3267001"/>
            <a:ext cx="424873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68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ПОКАЗАТЕЛЬ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525021" y="3057451"/>
            <a:ext cx="4934843" cy="628650"/>
          </a:xfrm>
          <a:prstGeom prst="rect">
            <a:avLst/>
          </a:prstGeom>
          <a:solidFill>
            <a:srgbClr val="EFEAD9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525021" y="3676576"/>
            <a:ext cx="4934843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772671" y="3267001"/>
            <a:ext cx="4587588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68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БЫЛО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459864" y="3057451"/>
            <a:ext cx="6908974" cy="628650"/>
          </a:xfrm>
          <a:prstGeom prst="rect">
            <a:avLst/>
          </a:prstGeom>
          <a:solidFill>
            <a:srgbClr val="EFEAD9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0459864" y="3676576"/>
            <a:ext cx="6908974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0707514" y="3267001"/>
            <a:ext cx="6620943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68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СТАЛО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9162" y="4414763"/>
            <a:ext cx="4605858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166812" y="3895651"/>
            <a:ext cx="424873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обогащения</a:t>
            </a:r>
            <a:endParaRPr lang="en-US" sz="1725" dirty="0"/>
          </a:p>
        </p:txBody>
      </p:sp>
      <p:sp>
        <p:nvSpPr>
          <p:cNvPr id="22" name="Shape 20"/>
          <p:cNvSpPr/>
          <p:nvPr/>
        </p:nvSpPr>
        <p:spPr>
          <a:xfrm>
            <a:off x="5525021" y="4414763"/>
            <a:ext cx="4934843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772671" y="3895651"/>
            <a:ext cx="4587588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6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 ручной труд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0459864" y="4414763"/>
            <a:ext cx="6908974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0707514" y="3895651"/>
            <a:ext cx="6620943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каскад </a:t>
            </a:r>
            <a:r>
              <a:rPr lang="en-US" sz="1875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93,8 % </a:t>
            </a:r>
            <a:r>
              <a:rPr lang="en-US" sz="165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автоматически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919162" y="5152951"/>
            <a:ext cx="4605858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166812" y="4633838"/>
            <a:ext cx="424873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Доля обращений к LLM</a:t>
            </a:r>
            <a:endParaRPr lang="en-US" sz="1725" dirty="0"/>
          </a:p>
        </p:txBody>
      </p:sp>
      <p:sp>
        <p:nvSpPr>
          <p:cNvPr id="28" name="Shape 26"/>
          <p:cNvSpPr/>
          <p:nvPr/>
        </p:nvSpPr>
        <p:spPr>
          <a:xfrm>
            <a:off x="5525021" y="5152951"/>
            <a:ext cx="4934843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772671" y="4633838"/>
            <a:ext cx="4587588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6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 ячеек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0459864" y="5152951"/>
            <a:ext cx="6908974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10707514" y="4633838"/>
            <a:ext cx="6620943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8,2 % </a:t>
            </a:r>
            <a:r>
              <a:rPr lang="en-US" sz="165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ячеек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919162" y="5891138"/>
            <a:ext cx="4605858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1166812" y="5372026"/>
            <a:ext cx="424873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Открытая модель · локально</a:t>
            </a:r>
            <a:endParaRPr lang="en-US" sz="1725" dirty="0"/>
          </a:p>
        </p:txBody>
      </p:sp>
      <p:sp>
        <p:nvSpPr>
          <p:cNvPr id="34" name="Shape 32"/>
          <p:cNvSpPr/>
          <p:nvPr/>
        </p:nvSpPr>
        <p:spPr>
          <a:xfrm>
            <a:off x="5525021" y="5891138"/>
            <a:ext cx="4934843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5772671" y="5372026"/>
            <a:ext cx="4587588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6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прямой gpt-oss-120b — 69,3 %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0459864" y="5891138"/>
            <a:ext cx="6908974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0707514" y="5372026"/>
            <a:ext cx="6620943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каскад + gpt-oss — </a:t>
            </a:r>
            <a:r>
              <a:rPr lang="en-US" sz="1875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93,3 % </a:t>
            </a:r>
            <a:r>
              <a:rPr lang="en-US" sz="1650" dirty="0">
                <a:solidFill>
                  <a:srgbClr val="2E7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(+ 24,0 п.п.)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919162" y="6629326"/>
            <a:ext cx="4605858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166812" y="6110213"/>
            <a:ext cx="424873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Ручная верификация</a:t>
            </a:r>
            <a:endParaRPr lang="en-US" sz="1725" dirty="0"/>
          </a:p>
        </p:txBody>
      </p:sp>
      <p:sp>
        <p:nvSpPr>
          <p:cNvPr id="40" name="Shape 38"/>
          <p:cNvSpPr/>
          <p:nvPr/>
        </p:nvSpPr>
        <p:spPr>
          <a:xfrm>
            <a:off x="5525021" y="6629326"/>
            <a:ext cx="4934843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5772671" y="6110213"/>
            <a:ext cx="4587588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6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~100 % ячеек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0459864" y="6629326"/>
            <a:ext cx="6908974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0707514" y="6110213"/>
            <a:ext cx="6620943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~5–10 % </a:t>
            </a:r>
            <a:r>
              <a:rPr lang="en-US" sz="165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ячеек · в 10–20 раз меньше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1166812" y="6848401"/>
            <a:ext cx="4248734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Независимость от вендора LLM</a:t>
            </a:r>
            <a:endParaRPr lang="en-US" sz="1725" dirty="0"/>
          </a:p>
        </p:txBody>
      </p:sp>
      <p:sp>
        <p:nvSpPr>
          <p:cNvPr id="45" name="Text 43"/>
          <p:cNvSpPr/>
          <p:nvPr/>
        </p:nvSpPr>
        <p:spPr>
          <a:xfrm>
            <a:off x="5772671" y="6848401"/>
            <a:ext cx="4587588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6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привязка к одному поставщику</a:t>
            </a:r>
            <a:endParaRPr lang="en-US" sz="1650" dirty="0"/>
          </a:p>
        </p:txBody>
      </p:sp>
      <p:sp>
        <p:nvSpPr>
          <p:cNvPr id="46" name="Text 44"/>
          <p:cNvSpPr/>
          <p:nvPr/>
        </p:nvSpPr>
        <p:spPr>
          <a:xfrm>
            <a:off x="10707514" y="6848401"/>
            <a:ext cx="6620943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моделей </a:t>
            </a:r>
            <a:r>
              <a:rPr lang="en-US" sz="165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близкой точностью</a:t>
            </a:r>
            <a:endParaRPr lang="en-US" sz="1650" dirty="0"/>
          </a:p>
        </p:txBody>
      </p:sp>
      <p:sp>
        <p:nvSpPr>
          <p:cNvPr id="47" name="Text 45"/>
          <p:cNvSpPr/>
          <p:nvPr/>
        </p:nvSpPr>
        <p:spPr>
          <a:xfrm>
            <a:off x="914400" y="9782175"/>
            <a:ext cx="6824526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АВТОМАТИЗИРОВАННОГО ОБОГАЩЕНИЯ ТОВАРНЫХ ДАННЫХ · ВКР МАГИСТРА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16701492" y="9767888"/>
            <a:ext cx="74830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16203A">
                    <a:alpha val="9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20</a:t>
            </a:r>
            <a:endParaRPr lang="en-US" sz="1050" dirty="0"/>
          </a:p>
        </p:txBody>
      </p:sp>
      <p:pic>
        <p:nvPicPr>
          <p:cNvPr id="49" name="Image 0" descr="preencoded.png"/>
          <p:cNvPicPr>
            <a:picLocks noChangeAspect="1"/>
          </p:cNvPicPr>
          <p:nvPr/>
        </p:nvPicPr>
        <p:blipFill>
          <a:blip r:embed="rId3">
            <a:alphaModFix amt="92000"/>
          </a:blip>
          <a:stretch>
            <a:fillRect/>
          </a:stretch>
        </p:blipFill>
        <p:spPr>
          <a:xfrm>
            <a:off x="16459200" y="342900"/>
            <a:ext cx="914400" cy="88046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1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758705"/>
            <a:ext cx="10497503" cy="23697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9000" kern="0" spc="-225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 ответить на ваши вопросы</a:t>
            </a:r>
            <a:endParaRPr lang="en-US" sz="9000" dirty="0"/>
          </a:p>
        </p:txBody>
      </p:sp>
      <p:sp>
        <p:nvSpPr>
          <p:cNvPr id="3" name="Text 1"/>
          <p:cNvSpPr/>
          <p:nvPr/>
        </p:nvSpPr>
        <p:spPr>
          <a:xfrm>
            <a:off x="914400" y="7547595"/>
            <a:ext cx="10497503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kern="0" spc="363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СПАСИБО ЗА ВНИМАНИЕ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11868150" y="3512344"/>
            <a:ext cx="5124450" cy="5124450"/>
          </a:xfrm>
          <a:prstGeom prst="rect">
            <a:avLst/>
          </a:prstGeom>
          <a:solidFill>
            <a:srgbClr val="FFFFFF"/>
          </a:solidFill>
          <a:ln w="9525">
            <a:solidFill>
              <a:srgbClr val="DCD4BF"/>
            </a:solidFill>
            <a:prstDash val="solid"/>
          </a:ln>
        </p:spPr>
        <p:txBody>
          <a:bodyPr/>
          <a:p/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44375" y="3788569"/>
            <a:ext cx="4572000" cy="4572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05073" y="8865394"/>
            <a:ext cx="245060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200" kern="0" spc="264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РЕПОЗИТОРИЙ ПРОЕКТА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14400" y="9782175"/>
            <a:ext cx="6824526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АВТОМАТИЗИРОВАННОГО ОБОГАЩЕНИЯ ТОВАРНЫХ ДАННЫХ · ВКР МАГИСТРА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6701492" y="9767888"/>
            <a:ext cx="74830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16203A">
                    <a:alpha val="9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20</a:t>
            </a:r>
            <a:endParaRPr lang="en-US" sz="10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>
            <a:alphaModFix amt="95000"/>
          </a:blip>
          <a:stretch>
            <a:fillRect/>
          </a:stretch>
        </p:blipFill>
        <p:spPr>
          <a:xfrm>
            <a:off x="914400" y="533400"/>
            <a:ext cx="1714500" cy="165095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914400" y="685800"/>
            <a:ext cx="508695" cy="357188"/>
          </a:xfrm>
          <a:prstGeom prst="rect">
            <a:avLst/>
          </a:prstGeom>
          <a:solidFill>
            <a:srgbClr val="1A2438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28700" y="733425"/>
            <a:ext cx="35629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b="1" kern="0" spc="158" dirty="0">
                <a:solidFill>
                  <a:srgbClr val="F5F1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575" dirty="0"/>
          </a:p>
        </p:txBody>
      </p:sp>
      <p:sp>
        <p:nvSpPr>
          <p:cNvPr id="4" name="Text 2"/>
          <p:cNvSpPr/>
          <p:nvPr/>
        </p:nvSpPr>
        <p:spPr>
          <a:xfrm>
            <a:off x="1594545" y="733425"/>
            <a:ext cx="85635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284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ДОПОЛНИТЕЛЬНО</a:t>
            </a:r>
            <a:endParaRPr lang="en-US" sz="1575" dirty="0"/>
          </a:p>
        </p:txBody>
      </p:sp>
      <p:sp>
        <p:nvSpPr>
          <p:cNvPr id="5" name="Shape 3"/>
          <p:cNvSpPr/>
          <p:nvPr/>
        </p:nvSpPr>
        <p:spPr>
          <a:xfrm>
            <a:off x="2546152" y="859631"/>
            <a:ext cx="133350" cy="9525"/>
          </a:xfrm>
          <a:prstGeom prst="rect">
            <a:avLst/>
          </a:prstGeom>
          <a:solidFill>
            <a:srgbClr val="2A344C">
              <a:alpha val="50000"/>
            </a:srgbClr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850952" y="733425"/>
            <a:ext cx="353547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75" kern="0" spc="284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ВКЛАД BAYES-ВАЛИДАТОРА ПО АТРИБУТАМ</a:t>
            </a:r>
            <a:endParaRPr lang="en-US" sz="1575" dirty="0"/>
          </a:p>
        </p:txBody>
      </p:sp>
      <p:sp>
        <p:nvSpPr>
          <p:cNvPr id="7" name="Shape 5"/>
          <p:cNvSpPr/>
          <p:nvPr/>
        </p:nvSpPr>
        <p:spPr>
          <a:xfrm>
            <a:off x="914400" y="1214438"/>
            <a:ext cx="16459200" cy="9525"/>
          </a:xfrm>
          <a:prstGeom prst="rect">
            <a:avLst/>
          </a:prstGeom>
          <a:solidFill>
            <a:srgbClr val="16203A">
              <a:alpha val="85000"/>
            </a:srgbClr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14400" y="1547813"/>
            <a:ext cx="14716125" cy="6781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800" kern="0" spc="-106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Per-attribute breakdown (holdout-validated, val/test split)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914400" y="2359298"/>
            <a:ext cx="14716125" cy="3695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Σ Bayes: 38 TP / 76 FP. Out-of-sample headline gain +1,03 п.п. на 2201 ячейках брэнд-disjoint held-out теста (val/test split, seed 0). Локальная Δ — per-attribute accuracy gain, headline-вклад — взвешенный по числу ячеек.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3052688"/>
            <a:ext cx="16459200" cy="4329113"/>
          </a:xfrm>
          <a:prstGeom prst="rect">
            <a:avLst/>
          </a:prstGeom>
          <a:solidFill>
            <a:srgbClr val="FFFFFF"/>
          </a:solidFill>
          <a:ln w="9525">
            <a:solidFill>
              <a:srgbClr val="DCD4BF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919162" y="3057451"/>
            <a:ext cx="4605858" cy="628650"/>
          </a:xfrm>
          <a:prstGeom prst="rect">
            <a:avLst/>
          </a:prstGeom>
          <a:solidFill>
            <a:srgbClr val="EFEAD9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919162" y="3676576"/>
            <a:ext cx="4605858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166812" y="3267001"/>
            <a:ext cx="424873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68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(КАТЕГОРИЯ / АТРИБУТ)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525021" y="3057451"/>
            <a:ext cx="4934843" cy="628650"/>
          </a:xfrm>
          <a:prstGeom prst="rect">
            <a:avLst/>
          </a:prstGeom>
          <a:solidFill>
            <a:srgbClr val="EFEAD9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525021" y="3676576"/>
            <a:ext cx="4934843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772671" y="3267001"/>
            <a:ext cx="4587588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68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BAYES TP / FP · ЛОКАЛЬНО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459864" y="3057451"/>
            <a:ext cx="6908974" cy="628650"/>
          </a:xfrm>
          <a:prstGeom prst="rect">
            <a:avLst/>
          </a:prstGeom>
          <a:solidFill>
            <a:srgbClr val="EFEAD9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0459864" y="3676576"/>
            <a:ext cx="6908974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0707514" y="3267001"/>
            <a:ext cx="6620943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200" kern="0" spc="168" dirty="0">
                <a:solidFill>
                  <a:srgbClr val="6B71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ВКЛАД В HEADLINE, п.п.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9162" y="4414763"/>
            <a:ext cx="4605858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166812" y="3895651"/>
            <a:ext cx="424873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cheeses / is_ultra_processed</a:t>
            </a:r>
            <a:endParaRPr lang="en-US" sz="1725" dirty="0"/>
          </a:p>
        </p:txBody>
      </p:sp>
      <p:sp>
        <p:nvSpPr>
          <p:cNvPr id="22" name="Shape 20"/>
          <p:cNvSpPr/>
          <p:nvPr/>
        </p:nvSpPr>
        <p:spPr>
          <a:xfrm>
            <a:off x="5525021" y="4414763"/>
            <a:ext cx="4934843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772671" y="3895651"/>
            <a:ext cx="4587588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6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5 · +9,8 п.п.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0459864" y="4414763"/>
            <a:ext cx="6908974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0707514" y="3895651"/>
            <a:ext cx="6620943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+0,50</a:t>
            </a:r>
            <a:r>
              <a:rPr lang="en-US" sz="1875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165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919162" y="5152951"/>
            <a:ext cx="4605858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166812" y="4633838"/>
            <a:ext cx="424873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chocolate / is_organic</a:t>
            </a:r>
            <a:endParaRPr lang="en-US" sz="1725" dirty="0"/>
          </a:p>
        </p:txBody>
      </p:sp>
      <p:sp>
        <p:nvSpPr>
          <p:cNvPr id="28" name="Shape 26"/>
          <p:cNvSpPr/>
          <p:nvPr/>
        </p:nvSpPr>
        <p:spPr>
          <a:xfrm>
            <a:off x="5525021" y="5152951"/>
            <a:ext cx="4934843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772671" y="4633838"/>
            <a:ext cx="4587588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6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28 · +3,7 п.п.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0459864" y="5152951"/>
            <a:ext cx="6908974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10707514" y="4633838"/>
            <a:ext cx="6620943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+0,22</a:t>
            </a:r>
            <a:r>
              <a:rPr lang="en-US" sz="165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919162" y="5891138"/>
            <a:ext cx="4605858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1166812" y="5372026"/>
            <a:ext cx="424873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chocolate / contains_nuts</a:t>
            </a:r>
            <a:endParaRPr lang="en-US" sz="1725" dirty="0"/>
          </a:p>
        </p:txBody>
      </p:sp>
      <p:sp>
        <p:nvSpPr>
          <p:cNvPr id="34" name="Shape 32"/>
          <p:cNvSpPr/>
          <p:nvPr/>
        </p:nvSpPr>
        <p:spPr>
          <a:xfrm>
            <a:off x="5525021" y="5891138"/>
            <a:ext cx="4934843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5772671" y="5372026"/>
            <a:ext cx="4587588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6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 · +3,5 п.п.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0459864" y="5891138"/>
            <a:ext cx="6908974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0707514" y="5372026"/>
            <a:ext cx="6620943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+0,21</a:t>
            </a:r>
            <a:r>
              <a:rPr lang="en-US" sz="1875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1650" dirty="0">
                <a:solidFill>
                  <a:srgbClr val="2E7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919162" y="6629326"/>
            <a:ext cx="4605858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166812" y="6110213"/>
            <a:ext cx="424873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pasta / is_organic</a:t>
            </a:r>
            <a:endParaRPr lang="en-US" sz="1725" dirty="0"/>
          </a:p>
        </p:txBody>
      </p:sp>
      <p:sp>
        <p:nvSpPr>
          <p:cNvPr id="40" name="Shape 38"/>
          <p:cNvSpPr/>
          <p:nvPr/>
        </p:nvSpPr>
        <p:spPr>
          <a:xfrm>
            <a:off x="5525021" y="6629326"/>
            <a:ext cx="4934843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5772671" y="6110213"/>
            <a:ext cx="4587588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6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18 · +2,0 п.п.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0459864" y="6629326"/>
            <a:ext cx="6908974" cy="9525"/>
          </a:xfrm>
          <a:prstGeom prst="rect">
            <a:avLst/>
          </a:prstGeom>
          <a:solidFill>
            <a:srgbClr val="E7E0CB"/>
          </a:solidFill>
          <a:ln/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0707514" y="6110213"/>
            <a:ext cx="6620943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+0,11</a:t>
            </a:r>
            <a:r>
              <a:rPr lang="en-US" sz="165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1166812" y="6848401"/>
            <a:ext cx="4248734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ещё 6 положительных attrs</a:t>
            </a:r>
            <a:endParaRPr lang="en-US" sz="1725" dirty="0"/>
          </a:p>
        </p:txBody>
      </p:sp>
      <p:sp>
        <p:nvSpPr>
          <p:cNvPr id="45" name="Text 43"/>
          <p:cNvSpPr/>
          <p:nvPr/>
        </p:nvSpPr>
        <p:spPr>
          <a:xfrm>
            <a:off x="5772671" y="6848401"/>
            <a:ext cx="4587588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6B71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 · до +1,4 п.п.</a:t>
            </a:r>
            <a:endParaRPr lang="en-US" sz="1650" dirty="0"/>
          </a:p>
        </p:txBody>
      </p:sp>
      <p:sp>
        <p:nvSpPr>
          <p:cNvPr id="46" name="Text 44"/>
          <p:cNvSpPr/>
          <p:nvPr/>
        </p:nvSpPr>
        <p:spPr>
          <a:xfrm>
            <a:off x="10707514" y="6848401"/>
            <a:ext cx="6620943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162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кумулятивно +0,18</a:t>
            </a:r>
            <a:r>
              <a:rPr lang="en-US" sz="1650" dirty="0">
                <a:solidFill>
                  <a:srgbClr val="2A34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650" dirty="0"/>
          </a:p>
        </p:txBody>
      </p:sp>
      <p:sp>
        <p:nvSpPr>
          <p:cNvPr id="47" name="Text 45"/>
          <p:cNvSpPr/>
          <p:nvPr/>
        </p:nvSpPr>
        <p:spPr>
          <a:xfrm>
            <a:off x="914400" y="9782175"/>
            <a:ext cx="6824526" cy="185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2A34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АВТОМАТИЗИРОВАННОГО ОБОГАЩЕНИЯ ТОВАРНЫХ ДАННЫХ · ВКР МАГИСТРА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16701492" y="9767888"/>
            <a:ext cx="748308" cy="2143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26" dirty="0">
                <a:solidFill>
                  <a:srgbClr val="16203A">
                    <a:alpha val="90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20</a:t>
            </a:r>
            <a:endParaRPr lang="en-US" sz="1050" dirty="0"/>
          </a:p>
        </p:txBody>
      </p:sp>
      <p:pic>
        <p:nvPicPr>
          <p:cNvPr id="49" name="Image 0" descr="preencoded.png"/>
          <p:cNvPicPr>
            <a:picLocks noChangeAspect="1"/>
          </p:cNvPicPr>
          <p:nvPr/>
        </p:nvPicPr>
        <p:blipFill>
          <a:blip r:embed="rId3">
            <a:alphaModFix amt="92000"/>
          </a:blip>
          <a:stretch>
            <a:fillRect/>
          </a:stretch>
        </p:blipFill>
        <p:spPr>
          <a:xfrm>
            <a:off x="16459200" y="342900"/>
            <a:ext cx="914400" cy="88046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2060</Words>
  <Application>Microsoft Macintosh PowerPoint</Application>
  <PresentationFormat>Custom</PresentationFormat>
  <Paragraphs>380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Mikhail Frolov</cp:lastModifiedBy>
  <cp:revision>2</cp:revision>
  <dcterms:created xsi:type="dcterms:W3CDTF">2026-05-20T12:45:58Z</dcterms:created>
  <dcterms:modified xsi:type="dcterms:W3CDTF">2026-05-20T12:47:24Z</dcterms:modified>
</cp:coreProperties>
</file>