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7" r:id="rId15"/>
    <p:sldId id="278" r:id="rId16"/>
    <p:sldId id="269" r:id="rId17"/>
    <p:sldId id="270" r:id="rId18"/>
    <p:sldId id="279" r:id="rId19"/>
    <p:sldId id="271" r:id="rId20"/>
    <p:sldId id="273" r:id="rId21"/>
    <p:sldId id="280" r:id="rId22"/>
    <p:sldId id="274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49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9381-5747-7312-9D5E-2611C754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FA545-2155-C5B3-7E3D-76DCE90A3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2E310-6664-B560-0D75-264109606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43F04-AF55-DA07-CCE1-F413D9B8D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05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AB7D-E22E-6265-BBF6-534373AE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1FD9C-7B64-2635-3125-293B93659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E420C-3988-33B2-2089-317C86D6C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2B3F6-DD3B-545C-7F49-C915284F3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60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4C71-32C3-D3F8-C699-F16EDC2D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9B711-F4ED-1E5A-713D-C8784CBB6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0B291-AF39-31ED-3CA8-1828060DB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3E377-E651-B815-ABEA-AD1BA8C41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94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281A-4966-4FDC-2B75-384426EA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C1DD3-D196-5A0B-0556-B85498D4D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146E4-E2BB-7B56-598A-B8BC3B6B8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986DE-BE00-A9CD-E37B-35C5D7E57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F2AA-B374-BAA6-96BD-CA637E3A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9681F-B88E-6318-05DF-78DBC36ED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36BA0-D089-0C35-0CDB-5E46113AD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C3E24-9E85-1C6E-5ED8-973667E6A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9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8" y="36576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574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Министерство науки и высшего образования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Российской Федерации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Московский авиационный институт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(национальный исследовательский университет)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4290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 магистра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автоматизированного обогащения</a:t>
            </a:r>
          </a:p>
          <a:p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товарных данных для интернет-магазина</a:t>
            </a:r>
          </a:p>
          <a:p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(гибридный каскад: Regex → ML → Bayes → LLM)</a:t>
            </a:r>
          </a:p>
        </p:txBody>
      </p:sp>
      <p:sp>
        <p:nvSpPr>
          <p:cNvPr id="7" name="Text 4"/>
          <p:cNvSpPr/>
          <p:nvPr/>
        </p:nvSpPr>
        <p:spPr>
          <a:xfrm>
            <a:off x="1371600" y="5120640"/>
            <a:ext cx="94484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студент группы М8О-211М-24  Фролов Михаил Александрович</a:t>
            </a:r>
          </a:p>
          <a:p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руководитель: Чернышов Лев Николаевич, к. ф.-м. н., доцент кафедры 806</a:t>
            </a:r>
          </a:p>
        </p:txBody>
      </p:sp>
      <p:sp>
        <p:nvSpPr>
          <p:cNvPr id="8" name="Text 5"/>
          <p:cNvSpPr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темы исследования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22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70408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товара — центр цифровой витрины: от её полноты зависят поиск, ранжирование и конверсия онлайн-магазина.</a:t>
            </a:r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Партнёрский ввод неоднороден; пробелы исторически закрывают контент-менеджеры вручную — этот подход не масштабируется на каталоги в миллионы позиций.</a:t>
            </a:r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PIM-системы (Akeneo, Pimcore, Salsify) спроектированы хранить готовую товарную информацию, но не извлекать её из неструктурированного партнёрского ввода. Модули автообогащения — обёртка над одной большой языковой моделью на каждый товар: дорого и без гарантий точности на числовых полях.</a:t>
            </a:r>
          </a:p>
        </p:txBody>
      </p:sp>
      <p:sp>
        <p:nvSpPr>
          <p:cNvPr id="7" name="Shape 4"/>
          <p:cNvSpPr/>
          <p:nvPr/>
        </p:nvSpPr>
        <p:spPr>
          <a:xfrm>
            <a:off x="7955280" y="1280160"/>
            <a:ext cx="3687775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092440" y="141732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трлн ₽</a:t>
            </a:r>
          </a:p>
        </p:txBody>
      </p:sp>
      <p:sp>
        <p:nvSpPr>
          <p:cNvPr id="9" name="Text 6"/>
          <p:cNvSpPr/>
          <p:nvPr/>
        </p:nvSpPr>
        <p:spPr>
          <a:xfrm>
            <a:off x="9829800" y="1417320"/>
            <a:ext cx="1676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объём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в РФ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(2024–2025)</a:t>
            </a:r>
          </a:p>
        </p:txBody>
      </p:sp>
      <p:sp>
        <p:nvSpPr>
          <p:cNvPr id="10" name="Shape 7"/>
          <p:cNvSpPr/>
          <p:nvPr/>
        </p:nvSpPr>
        <p:spPr>
          <a:xfrm>
            <a:off x="7955280" y="2971800"/>
            <a:ext cx="3687775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092440" y="310896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мин</a:t>
            </a:r>
          </a:p>
        </p:txBody>
      </p:sp>
      <p:sp>
        <p:nvSpPr>
          <p:cNvPr id="12" name="Text 9"/>
          <p:cNvSpPr/>
          <p:nvPr/>
        </p:nvSpPr>
        <p:spPr>
          <a:xfrm>
            <a:off x="9829800" y="3108960"/>
            <a:ext cx="1676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труд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одну карточку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товара</a:t>
            </a:r>
          </a:p>
        </p:txBody>
      </p:sp>
      <p:sp>
        <p:nvSpPr>
          <p:cNvPr id="13" name="Shape 10"/>
          <p:cNvSpPr/>
          <p:nvPr/>
        </p:nvSpPr>
        <p:spPr>
          <a:xfrm>
            <a:off x="7955280" y="4663440"/>
            <a:ext cx="3687775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092440" y="480060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10⁷ позиций</a:t>
            </a:r>
          </a:p>
        </p:txBody>
      </p:sp>
      <p:sp>
        <p:nvSpPr>
          <p:cNvPr id="15" name="Text 12"/>
          <p:cNvSpPr/>
          <p:nvPr/>
        </p:nvSpPr>
        <p:spPr>
          <a:xfrm>
            <a:off x="9829800" y="4800600"/>
            <a:ext cx="1676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каталоги крупных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магазинов; тысячи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новинок ежедневно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276D5-2195-CB26-45BA-A77E5B01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6313D5-82F2-C6A0-E9B5-71D7B2B693D6}"/>
              </a:ext>
            </a:extLst>
          </p:cNvPr>
          <p:cNvSpPr/>
          <p:nvPr/>
        </p:nvSpPr>
        <p:spPr>
          <a:xfrm>
            <a:off x="548640" y="13716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и направление исследования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B89F98-FA14-0DAE-0E21-8DEB11480E4E}"/>
              </a:ext>
            </a:extLst>
          </p:cNvPr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>
            <a:extLst>
              <a:ext uri="{FF2B5EF4-FFF2-40B4-BE49-F238E27FC236}">
                <a16:creationId xmlns:a16="http://schemas.microsoft.com/office/drawing/2014/main" id="{B2352EC0-6530-26B1-B86A-922E4879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F6204FB-A81D-8AD1-B718-1EB2AAFD9E61}"/>
              </a:ext>
            </a:extLst>
          </p:cNvPr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22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243ED4F-EB56-360A-D311-58D1C44DE0A7}"/>
              </a:ext>
            </a:extLst>
          </p:cNvPr>
          <p:cNvSpPr/>
          <p:nvPr/>
        </p:nvSpPr>
        <p:spPr>
          <a:xfrm>
            <a:off x="7955280" y="1280160"/>
            <a:ext cx="3687775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A132D91-B90F-A833-7FE4-03AC6FBC25BB}"/>
              </a:ext>
            </a:extLst>
          </p:cNvPr>
          <p:cNvSpPr/>
          <p:nvPr/>
        </p:nvSpPr>
        <p:spPr>
          <a:xfrm>
            <a:off x="8092440" y="141732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трлн ₽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5BF3B73-C356-B67C-5688-49645B3E15C6}"/>
              </a:ext>
            </a:extLst>
          </p:cNvPr>
          <p:cNvSpPr/>
          <p:nvPr/>
        </p:nvSpPr>
        <p:spPr>
          <a:xfrm>
            <a:off x="9829800" y="1417320"/>
            <a:ext cx="1676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объём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в РФ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2B10A55-AB39-42C2-FC60-A00F1EE26991}"/>
              </a:ext>
            </a:extLst>
          </p:cNvPr>
          <p:cNvSpPr/>
          <p:nvPr/>
        </p:nvSpPr>
        <p:spPr>
          <a:xfrm>
            <a:off x="7955280" y="2971800"/>
            <a:ext cx="3687775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775768-8B01-705D-7C46-D942A118A700}"/>
              </a:ext>
            </a:extLst>
          </p:cNvPr>
          <p:cNvSpPr/>
          <p:nvPr/>
        </p:nvSpPr>
        <p:spPr>
          <a:xfrm>
            <a:off x="8092440" y="310896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мин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0E08F1E-A375-D48B-B035-254AE963E7F0}"/>
              </a:ext>
            </a:extLst>
          </p:cNvPr>
          <p:cNvSpPr/>
          <p:nvPr/>
        </p:nvSpPr>
        <p:spPr>
          <a:xfrm>
            <a:off x="9829800" y="3108960"/>
            <a:ext cx="1676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труд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одну карточку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2EB159E-D93E-708E-0624-7A3B061FC3CD}"/>
              </a:ext>
            </a:extLst>
          </p:cNvPr>
          <p:cNvSpPr/>
          <p:nvPr/>
        </p:nvSpPr>
        <p:spPr>
          <a:xfrm>
            <a:off x="7955280" y="4663440"/>
            <a:ext cx="3687775" cy="150876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C5593BE-8BAE-FFC8-D486-F3A9DDD573FF}"/>
              </a:ext>
            </a:extLst>
          </p:cNvPr>
          <p:cNvSpPr/>
          <p:nvPr/>
        </p:nvSpPr>
        <p:spPr>
          <a:xfrm>
            <a:off x="8092440" y="480060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10⁷ позиций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6D7965B-F67F-DF77-C799-C907BFF24799}"/>
              </a:ext>
            </a:extLst>
          </p:cNvPr>
          <p:cNvSpPr/>
          <p:nvPr/>
        </p:nvSpPr>
        <p:spPr>
          <a:xfrm>
            <a:off x="9829800" y="4800600"/>
            <a:ext cx="1676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каталоги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крупных магазинов</a:t>
            </a:r>
          </a:p>
        </p:txBody>
      </p:sp>
      <p:sp>
        <p:nvSpPr>
          <p:cNvPr id="200" name="Area Accent"/>
          <p:cNvSpPr/>
          <p:nvPr/>
        </p:nvSpPr>
        <p:spPr>
          <a:xfrm>
            <a:off x="548640" y="1325880"/>
            <a:ext cx="73152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1" name="Area Title"/>
          <p:cNvSpPr/>
          <p:nvPr/>
        </p:nvSpPr>
        <p:spPr>
          <a:xfrm>
            <a:off x="777240" y="1371600"/>
            <a:ext cx="67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ru-RU" sz="1800" b="1" dirty="0">
                <a:solidFill>
                  <a:srgbClr val="1E2761"/>
                </a:solidFill>
                <a:latin typeface="Arial"/>
              </a:rPr>
              <a:t>Область исследования</a:t>
            </a:r>
          </a:p>
        </p:txBody>
      </p:sp>
      <p:sp>
        <p:nvSpPr>
          <p:cNvPr id="202" name="Area Body"/>
          <p:cNvSpPr/>
          <p:nvPr/>
        </p:nvSpPr>
        <p:spPr>
          <a:xfrm>
            <a:off x="777240" y="1828800"/>
            <a:ext cx="6720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ru-RU" sz="1800" dirty="0">
                <a:solidFill>
                  <a:srgbClr val="111827"/>
                </a:solidFill>
                <a:latin typeface="Arial"/>
              </a:rPr>
              <a:t>Процессы обогащения товарных каталогов: преобразование частичной партнёрской информации в полные структурированные карточки товаров для онлайн-магазинов.</a:t>
            </a:r>
          </a:p>
        </p:txBody>
      </p:sp>
      <p:sp>
        <p:nvSpPr>
          <p:cNvPr id="210" name="Direction Accent"/>
          <p:cNvSpPr/>
          <p:nvPr/>
        </p:nvSpPr>
        <p:spPr>
          <a:xfrm>
            <a:off x="548640" y="3886200"/>
            <a:ext cx="73152" cy="2194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11" name="Direction Title"/>
          <p:cNvSpPr/>
          <p:nvPr/>
        </p:nvSpPr>
        <p:spPr>
          <a:xfrm>
            <a:off x="777240" y="3931920"/>
            <a:ext cx="67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ru-RU" sz="1800" b="1" dirty="0">
                <a:solidFill>
                  <a:srgbClr val="0E7C7B"/>
                </a:solidFill>
                <a:latin typeface="Arial"/>
              </a:rPr>
              <a:t>Направление исследования</a:t>
            </a:r>
          </a:p>
        </p:txBody>
      </p:sp>
      <p:sp>
        <p:nvSpPr>
          <p:cNvPr id="212" name="Direction Body"/>
          <p:cNvSpPr/>
          <p:nvPr/>
        </p:nvSpPr>
        <p:spPr>
          <a:xfrm>
            <a:off x="777240" y="4389120"/>
            <a:ext cx="6720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ru-RU" sz="1800" dirty="0">
                <a:solidFill>
                  <a:srgbClr val="111827"/>
                </a:solidFill>
                <a:latin typeface="Arial"/>
              </a:rPr>
              <a:t>Автоматизация процесса обогащения средствами гибридного каскада из детерминированных правил, машинного обучения и больших языковых моделей с фильтрацией по уверенности.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333442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>
              <a:highlight>
                <a:srgbClr val="FF0000"/>
              </a:highlight>
            </a:endParaRPr>
            <a:r>
              <a:rPr lang="en-US" sz="2800" b="1" dirty="0">
                <a:solidFill>
                  <a:srgbClr val="1E2761"/>
                </a:solidFill>
                <a:highlight>
                  <a:srgbClr val="FF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научная задача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22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направления</a:t>
            </a:r>
          </a:p>
        </p:txBody>
      </p:sp>
      <p:sp>
        <p:nvSpPr>
          <p:cNvPr id="7" name="Shape 4"/>
          <p:cNvSpPr/>
          <p:nvPr/>
        </p:nvSpPr>
        <p:spPr>
          <a:xfrm>
            <a:off x="548640" y="180136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737360"/>
            <a:ext cx="6461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Кратный рост объёма e-commerce и числа товарных позиций при дефиците операторов каталога</a:t>
            </a:r>
          </a:p>
        </p:txBody>
      </p:sp>
      <p:sp>
        <p:nvSpPr>
          <p:cNvPr id="10" name="Shape 7"/>
          <p:cNvSpPr/>
          <p:nvPr/>
        </p:nvSpPr>
        <p:spPr>
          <a:xfrm>
            <a:off x="548640" y="257860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48640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514600"/>
            <a:ext cx="6461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Зрелость больших языковых моделей в задачах извлечения структурированной информации из текста</a:t>
            </a:r>
          </a:p>
        </p:txBody>
      </p:sp>
      <p:sp>
        <p:nvSpPr>
          <p:cNvPr id="13" name="Shape 10"/>
          <p:cNvSpPr/>
          <p:nvPr/>
        </p:nvSpPr>
        <p:spPr>
          <a:xfrm>
            <a:off x="548640" y="335584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486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3291840"/>
            <a:ext cx="6461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решений, сочетающих точность правил, обобщающую способность ML и семантику LLM при контролируемой стоимости</a:t>
            </a:r>
          </a:p>
        </p:txBody>
      </p:sp>
      <p:sp>
        <p:nvSpPr>
          <p:cNvPr id="16" name="Shape 13"/>
          <p:cNvSpPr/>
          <p:nvPr/>
        </p:nvSpPr>
        <p:spPr>
          <a:xfrm>
            <a:off x="548640" y="413308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4069080"/>
            <a:ext cx="6461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существующих модулей автообогащения PIM-систем к одному коммерческому API большой языковой модели</a:t>
            </a:r>
          </a:p>
        </p:txBody>
      </p:sp>
      <p:sp>
        <p:nvSpPr>
          <p:cNvPr id="19" name="Shape 16"/>
          <p:cNvSpPr/>
          <p:nvPr/>
        </p:nvSpPr>
        <p:spPr>
          <a:xfrm>
            <a:off x="7376008" y="1234440"/>
            <a:ext cx="4267048" cy="5120640"/>
          </a:xfrm>
          <a:prstGeom prst="roundRect">
            <a:avLst>
              <a:gd name="adj" fmla="val 2572"/>
            </a:avLst>
          </a:prstGeom>
          <a:solidFill>
            <a:srgbClr val="EFF6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604608" y="1371600"/>
            <a:ext cx="380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Научная задача</a:t>
            </a:r>
          </a:p>
        </p:txBody>
      </p:sp>
      <p:sp>
        <p:nvSpPr>
          <p:cNvPr id="21" name="Text 18"/>
          <p:cNvSpPr/>
          <p:nvPr/>
        </p:nvSpPr>
        <p:spPr>
          <a:xfrm>
            <a:off x="7604608" y="1874520"/>
            <a:ext cx="3809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Разрешение противоречия между растущей потребностью в обогащении товарных каталогов на основе неструктурированных партнёрских полей и ограничениями каждой из изолированных технологий (regex, ML, LLM) по полноте, точности или стоимости одновременно.</a:t>
            </a:r>
          </a:p>
        </p:txBody>
      </p:sp>
      <p:sp>
        <p:nvSpPr>
          <p:cNvPr id="22" name="Shape 19"/>
          <p:cNvSpPr/>
          <p:nvPr/>
        </p:nvSpPr>
        <p:spPr>
          <a:xfrm>
            <a:off x="7604608" y="4370832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878928" y="4206240"/>
            <a:ext cx="362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гетерогенность типов товарных атрибутов</a:t>
            </a:r>
          </a:p>
        </p:txBody>
      </p:sp>
      <p:sp>
        <p:nvSpPr>
          <p:cNvPr id="24" name="Shape 21"/>
          <p:cNvSpPr/>
          <p:nvPr/>
        </p:nvSpPr>
        <p:spPr>
          <a:xfrm>
            <a:off x="7604608" y="4965192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878928" y="4800600"/>
            <a:ext cx="362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фактической информации (числовые поля)</a:t>
            </a:r>
          </a:p>
        </p:txBody>
      </p:sp>
      <p:sp>
        <p:nvSpPr>
          <p:cNvPr id="26" name="Shape 23"/>
          <p:cNvSpPr/>
          <p:nvPr/>
        </p:nvSpPr>
        <p:spPr>
          <a:xfrm>
            <a:off x="7604608" y="5559552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878928" y="5394960"/>
            <a:ext cx="362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обращения к LLM на больших каталогах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исследования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ru-RU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Гибридная каскадная система автоматизированного обогащения товарных данных интернет-магазина с высокой точностью извлечения атрибутов, сокращённой стоимостью обращения к большой языковой модели и поддержкой открытых моделей.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8487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Частные задачи</a:t>
            </a:r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246120"/>
            <a:ext cx="10500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архитектуру: гибридный каскад с многоуровневой фильтрацией по уверенности и явным разделением слоёв.</a:t>
            </a:r>
          </a:p>
        </p:txBody>
      </p:sp>
      <p:sp>
        <p:nvSpPr>
          <p:cNvPr id="13" name="Shape 10"/>
          <p:cNvSpPr/>
          <p:nvPr/>
        </p:nvSpPr>
        <p:spPr>
          <a:xfrm>
            <a:off x="548640" y="390448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4864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3904488"/>
            <a:ext cx="10500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слои каскада: regex-экстрактор, ML-классификатор на эмбеддингах, байесовский валидатор, LLM-fallback.</a:t>
            </a:r>
          </a:p>
        </p:txBody>
      </p:sp>
      <p:sp>
        <p:nvSpPr>
          <p:cNvPr id="16" name="Shape 13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000" y="4562856"/>
            <a:ext cx="10500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Построить эталонную выборку: brand-disjoint разметка трёх категорий со слабым надзором, согласием LLM и слепой ре-разметкой.</a:t>
            </a:r>
          </a:p>
        </p:txBody>
      </p:sp>
      <p:sp>
        <p:nvSpPr>
          <p:cNvPr id="19" name="Shape 16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3000" y="5221224"/>
            <a:ext cx="10500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экспериментальную оценку: точность, покрытие, стоимость; сравнение с прямым вызовом LLM; вклад каждого слоя.</a:t>
            </a:r>
          </a:p>
        </p:txBody>
      </p:sp>
      <p:sp>
        <p:nvSpPr>
          <p:cNvPr id="22" name="Shape 19"/>
          <p:cNvSpPr/>
          <p:nvPr/>
        </p:nvSpPr>
        <p:spPr>
          <a:xfrm>
            <a:off x="548640" y="587959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5879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43000" y="5879592"/>
            <a:ext cx="10500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демонстрационный комплекс: веб-интерфейс оператора и REST API; три сценария развёртывания запасного слоя.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Объект, предмет </a:t>
            </a:r>
            <a:r>
              <a:rPr lang="en-US" sz="28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предположение</a:t>
            </a: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исследования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73152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37160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исследования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5135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 автоматизированного обогащения товарных каталогов интернет-магазинов с использованием открытых источников данных.</a:t>
            </a:r>
          </a:p>
        </p:txBody>
      </p:sp>
      <p:sp>
        <p:nvSpPr>
          <p:cNvPr id="9" name="Shape 6"/>
          <p:cNvSpPr/>
          <p:nvPr/>
        </p:nvSpPr>
        <p:spPr>
          <a:xfrm>
            <a:off x="6278728" y="1325880"/>
            <a:ext cx="73152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07328" y="1371600"/>
            <a:ext cx="513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исследования</a:t>
            </a:r>
          </a:p>
        </p:txBody>
      </p:sp>
      <p:sp>
        <p:nvSpPr>
          <p:cNvPr id="11" name="Text 8"/>
          <p:cNvSpPr/>
          <p:nvPr/>
        </p:nvSpPr>
        <p:spPr>
          <a:xfrm>
            <a:off x="6507328" y="1828800"/>
            <a:ext cx="5135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 алгоритмы гибридной каскадной архитектуры с ансамблевой оценкой уверенности классификаторов и адаптивным обращением к большой языковой модели как запасному слою.</a:t>
            </a:r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11094415" cy="2313432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905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  <a:r>
              <a:rPr lang="ru-RU" sz="2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предположение исследования</a:t>
            </a:r>
          </a:p>
        </p:txBody>
      </p:sp>
      <p:sp>
        <p:nvSpPr>
          <p:cNvPr id="14" name="Text 11"/>
          <p:cNvSpPr/>
          <p:nvPr/>
        </p:nvSpPr>
        <p:spPr>
          <a:xfrm>
            <a:off x="777240" y="4800599"/>
            <a:ext cx="10637215" cy="1609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Совокупность методов гибридной каскадной композиции слоёв с фильтрацией по калиброванной уверенности обеспечивает превосходство по точности и сокращение стоимости обращения к большой языковой модели на задаче обогащения товарных атрибутов по сравнению с прямым вызовом большой языковой модели на каждое поле.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исследования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463040"/>
            <a:ext cx="486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Системный анализ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486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Декомпозиция процесса обогащения товарных каталогов, выявление противоречия между типами атрибутов и пригодными технологиями.</a:t>
            </a:r>
          </a:p>
        </p:txBody>
      </p:sp>
      <p:sp>
        <p:nvSpPr>
          <p:cNvPr id="9" name="Shape 6"/>
          <p:cNvSpPr/>
          <p:nvPr/>
        </p:nvSpPr>
        <p:spPr>
          <a:xfrm>
            <a:off x="6324448" y="132588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463040"/>
            <a:ext cx="486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требованиями</a:t>
            </a:r>
          </a:p>
        </p:txBody>
      </p:sp>
      <p:sp>
        <p:nvSpPr>
          <p:cNvPr id="11" name="Text 8"/>
          <p:cNvSpPr/>
          <p:nvPr/>
        </p:nvSpPr>
        <p:spPr>
          <a:xfrm>
            <a:off x="6553048" y="1920240"/>
            <a:ext cx="486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Функционально-технические требования к каскаду, формальная постановка по партнёрским полям и целевым атрибутам.</a:t>
            </a:r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3154680"/>
            <a:ext cx="486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 и статистика</a:t>
            </a:r>
          </a:p>
        </p:txBody>
      </p:sp>
      <p:sp>
        <p:nvSpPr>
          <p:cNvPr id="14" name="Text 11"/>
          <p:cNvSpPr/>
          <p:nvPr/>
        </p:nvSpPr>
        <p:spPr>
          <a:xfrm>
            <a:off x="777240" y="3611880"/>
            <a:ext cx="486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Векторные представления (SBERT), градиентный бустинг (XGBoost), байесовские сети, изотоническая калибровка, бутстрэп с кластеризацией по брендам.</a:t>
            </a:r>
          </a:p>
        </p:txBody>
      </p:sp>
      <p:sp>
        <p:nvSpPr>
          <p:cNvPr id="15" name="Shape 12"/>
          <p:cNvSpPr/>
          <p:nvPr/>
        </p:nvSpPr>
        <p:spPr>
          <a:xfrm>
            <a:off x="6324448" y="301752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553048" y="3154680"/>
            <a:ext cx="486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Промпт-инженерия</a:t>
            </a:r>
          </a:p>
        </p:txBody>
      </p:sp>
      <p:sp>
        <p:nvSpPr>
          <p:cNvPr id="17" name="Text 14"/>
          <p:cNvSpPr/>
          <p:nvPr/>
        </p:nvSpPr>
        <p:spPr>
          <a:xfrm>
            <a:off x="6553048" y="3611880"/>
            <a:ext cx="486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Стандартизованные запросы к большой языковой модели, парсинг JSON-ответов, согласие нескольких моделей для эталонной разметки.</a:t>
            </a:r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77240" y="4846320"/>
            <a:ext cx="486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Эмпирическая оценка</a:t>
            </a:r>
          </a:p>
        </p:txBody>
      </p:sp>
      <p:sp>
        <p:nvSpPr>
          <p:cNvPr id="20" name="Text 17"/>
          <p:cNvSpPr/>
          <p:nvPr/>
        </p:nvSpPr>
        <p:spPr>
          <a:xfrm>
            <a:off x="777240" y="5303520"/>
            <a:ext cx="486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Brand-disjoint валидация на 4350 ячейках, цикл «аудит → переобучение → измерение» с воспроизведением 3 / 3.</a:t>
            </a:r>
          </a:p>
        </p:txBody>
      </p:sp>
      <p:sp>
        <p:nvSpPr>
          <p:cNvPr id="21" name="Shape 18"/>
          <p:cNvSpPr/>
          <p:nvPr/>
        </p:nvSpPr>
        <p:spPr>
          <a:xfrm>
            <a:off x="6324448" y="470916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553048" y="4846320"/>
            <a:ext cx="486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Демонстрационная разработка</a:t>
            </a:r>
          </a:p>
        </p:txBody>
      </p:sp>
      <p:sp>
        <p:nvSpPr>
          <p:cNvPr id="23" name="Text 20"/>
          <p:cNvSpPr/>
          <p:nvPr/>
        </p:nvSpPr>
        <p:spPr>
          <a:xfrm>
            <a:off x="6553048" y="5303520"/>
            <a:ext cx="486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Трёхкомпонентный комплекс (Go-шлюз, Python ML-сервис, веб-фронтенд) с фиксацией показателей.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>
              <a:highlight>
                <a:srgbClr val="FF0000"/>
              </a:highlight>
            </a:endParaRPr>
            <a:r>
              <a:rPr lang="en-US" sz="2800" b="1" dirty="0" err="1">
                <a:solidFill>
                  <a:srgbClr val="1E2761"/>
                </a:solidFill>
                <a:highlight>
                  <a:srgbClr val="FF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Научная новизна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11094415" cy="36576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14630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  <a:r>
              <a:rPr lang="en-US" sz="20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Гибридная каскадная архитектура для обогащения товарных данных</a:t>
            </a:r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Отличается от известных подходов (TXtract, MAVE, OpenTag, FrugalGPT, AutoMix, RouterBench) сочетанием:</a:t>
            </a:r>
          </a:p>
        </p:txBody>
      </p:sp>
      <p:sp>
        <p:nvSpPr>
          <p:cNvPr id="9" name="Shape 6"/>
          <p:cNvSpPr/>
          <p:nvPr/>
        </p:nvSpPr>
        <p:spPr>
          <a:xfrm>
            <a:off x="914400" y="27249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1440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25880" y="260604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парето-доминирующей композиции с одновременным выигрышем точности +7,7 п. п. и сокращением стоимости в 275 раз над прямым вызовом коммерческой большой языковой модели;</a:t>
            </a:r>
          </a:p>
        </p:txBody>
      </p:sp>
      <p:sp>
        <p:nvSpPr>
          <p:cNvPr id="12" name="Shape 9"/>
          <p:cNvSpPr/>
          <p:nvPr/>
        </p:nvSpPr>
        <p:spPr>
          <a:xfrm>
            <a:off x="914400" y="336499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440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25880" y="32461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негативного результата для стоимостно-чувствительного маршрутизатора (предзарегистрированная гипотеза H1 отклонена) и обоснованного перехода на статическое правило;</a:t>
            </a:r>
          </a:p>
        </p:txBody>
      </p:sp>
      <p:sp>
        <p:nvSpPr>
          <p:cNvPr id="15" name="Shape 12"/>
          <p:cNvSpPr/>
          <p:nvPr/>
        </p:nvSpPr>
        <p:spPr>
          <a:xfrm>
            <a:off x="914400" y="40050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14400" y="4005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325880" y="388620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количественного опровержения структурной утечки эталонной разметки (circularity) через стратификацию ярусов сигнала и слепую ре-разметку независимой большой языковой моделью.</a:t>
            </a:r>
          </a:p>
        </p:txBody>
      </p:sp>
      <p:sp>
        <p:nvSpPr>
          <p:cNvPr id="18" name="Text 15"/>
          <p:cNvSpPr/>
          <p:nvPr/>
        </p:nvSpPr>
        <p:spPr>
          <a:xfrm>
            <a:off x="548640" y="52120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endParaRPr lang="en-US" sz="1800" dirty="0"/>
            <a:r>
              <a:rPr lang="en-US" sz="1800" i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Обеспечивает воспроизводимое сокращение обращений к большой языковой модели до 8,6 % ячеек при сохранении сквозной точности 91,5 % на brand-disjoint тестовой выборке.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работы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0" name="Card1 Bg"/>
          <p:cNvSpPr/>
          <p:nvPr/>
        </p:nvSpPr>
        <p:spPr>
          <a:xfrm>
            <a:off x="548640" y="1280000"/>
            <a:ext cx="11094415" cy="92000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1" name="Card1 Circle"/>
          <p:cNvSpPr/>
          <p:nvPr/>
        </p:nvSpPr>
        <p:spPr>
          <a:xfrm>
            <a:off x="822960" y="1500000"/>
            <a:ext cx="480000" cy="480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2" name="Card1 Num"/>
          <p:cNvSpPr/>
          <p:nvPr/>
        </p:nvSpPr>
        <p:spPr>
          <a:xfrm>
            <a:off x="822960" y="1500000"/>
            <a:ext cx="4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</a:rPr>
              <a:t>1</a:t>
            </a:r>
            <a:endParaRPr lang="en-US" sz="1800" dirty="0"/>
          </a:p>
        </p:txBody>
      </p:sp>
      <p:sp>
        <p:nvSpPr>
          <p:cNvPr id="103" name="Card1 Text"/>
          <p:cNvSpPr/>
          <p:nvPr/>
        </p:nvSpPr>
        <p:spPr>
          <a:xfrm>
            <a:off x="1500000" y="1280000"/>
            <a:ext cx="9943055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/>
            <a:r>
              <a:rPr lang="ru-RU" sz="1400" dirty="0">
                <a:solidFill>
                  <a:srgbClr val="111827"/>
                </a:solidFill>
                <a:latin typeface="Arial"/>
              </a:rPr>
              <a:t>Сформулированы функциональные требования и метрика качества каскада, охватывающая точность, покрытие, калибровочную ошибку и стоимость обращений к большой языковой модели.</a:t>
            </a:r>
          </a:p>
        </p:txBody>
      </p:sp>
      <p:sp>
        <p:nvSpPr>
          <p:cNvPr id="104" name="Card2 Bg"/>
          <p:cNvSpPr/>
          <p:nvPr/>
        </p:nvSpPr>
        <p:spPr>
          <a:xfrm>
            <a:off x="548640" y="2330000"/>
            <a:ext cx="11094415" cy="92000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5" name="Card2 Circle"/>
          <p:cNvSpPr/>
          <p:nvPr/>
        </p:nvSpPr>
        <p:spPr>
          <a:xfrm>
            <a:off x="822960" y="2550000"/>
            <a:ext cx="480000" cy="480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6" name="Card2 Num"/>
          <p:cNvSpPr/>
          <p:nvPr/>
        </p:nvSpPr>
        <p:spPr>
          <a:xfrm>
            <a:off x="822960" y="2550000"/>
            <a:ext cx="4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</a:rPr>
              <a:t>2</a:t>
            </a:r>
            <a:endParaRPr lang="en-US" sz="1800" dirty="0"/>
          </a:p>
        </p:txBody>
      </p:sp>
      <p:sp>
        <p:nvSpPr>
          <p:cNvPr id="107" name="Card2 Text"/>
          <p:cNvSpPr/>
          <p:nvPr/>
        </p:nvSpPr>
        <p:spPr>
          <a:xfrm>
            <a:off x="1500000" y="2330000"/>
            <a:ext cx="9943055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/>
            <a:r>
              <a:rPr lang="ru-RU" sz="1400" dirty="0">
                <a:solidFill>
                  <a:srgbClr val="111827"/>
                </a:solidFill>
                <a:latin typeface="Arial"/>
              </a:rPr>
              <a:t>Подобрано и адаптировано методическое обеспечение: SBERT-эмбеддинги, XGBoost с поатрибутными порогами, изотоническая калибровка, байесовский валидатор.</a:t>
            </a:r>
          </a:p>
        </p:txBody>
      </p:sp>
      <p:sp>
        <p:nvSpPr>
          <p:cNvPr id="108" name="Card3 Bg"/>
          <p:cNvSpPr/>
          <p:nvPr/>
        </p:nvSpPr>
        <p:spPr>
          <a:xfrm>
            <a:off x="548640" y="3380000"/>
            <a:ext cx="11094415" cy="92000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9" name="Card3 Circle"/>
          <p:cNvSpPr/>
          <p:nvPr/>
        </p:nvSpPr>
        <p:spPr>
          <a:xfrm>
            <a:off x="822960" y="3600000"/>
            <a:ext cx="480000" cy="480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0" name="Card3 Num"/>
          <p:cNvSpPr/>
          <p:nvPr/>
        </p:nvSpPr>
        <p:spPr>
          <a:xfrm>
            <a:off x="822960" y="3600000"/>
            <a:ext cx="4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</a:rPr>
              <a:t>3</a:t>
            </a:r>
            <a:endParaRPr lang="en-US" sz="1800" dirty="0"/>
          </a:p>
        </p:txBody>
      </p:sp>
      <p:sp>
        <p:nvSpPr>
          <p:cNvPr id="111" name="Card3 Text"/>
          <p:cNvSpPr/>
          <p:nvPr/>
        </p:nvSpPr>
        <p:spPr>
          <a:xfrm>
            <a:off x="1500000" y="3380000"/>
            <a:ext cx="9943055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/>
            <a:r>
              <a:rPr lang="ru-RU" sz="1400" dirty="0">
                <a:solidFill>
                  <a:srgbClr val="111827"/>
                </a:solidFill>
                <a:latin typeface="Arial"/>
              </a:rPr>
              <a:t>Разработана архитектура из пяти слоёв (категорайзер, regex, ML, байес, LLM-fallback) с явным разделением зон ответственности и стабильным REST-контрактом.</a:t>
            </a:r>
          </a:p>
        </p:txBody>
      </p:sp>
      <p:sp>
        <p:nvSpPr>
          <p:cNvPr id="112" name="Card4 Bg"/>
          <p:cNvSpPr/>
          <p:nvPr/>
        </p:nvSpPr>
        <p:spPr>
          <a:xfrm>
            <a:off x="548640" y="4430000"/>
            <a:ext cx="11094415" cy="92000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13" name="Card4 Circle"/>
          <p:cNvSpPr/>
          <p:nvPr/>
        </p:nvSpPr>
        <p:spPr>
          <a:xfrm>
            <a:off x="822960" y="4650000"/>
            <a:ext cx="480000" cy="480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4" name="Card4 Num"/>
          <p:cNvSpPr/>
          <p:nvPr/>
        </p:nvSpPr>
        <p:spPr>
          <a:xfrm>
            <a:off x="822960" y="4650000"/>
            <a:ext cx="4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</a:rPr>
              <a:t>4</a:t>
            </a:r>
            <a:endParaRPr lang="en-US" sz="1800" dirty="0"/>
          </a:p>
        </p:txBody>
      </p:sp>
      <p:sp>
        <p:nvSpPr>
          <p:cNvPr id="115" name="Card4 Text"/>
          <p:cNvSpPr/>
          <p:nvPr/>
        </p:nvSpPr>
        <p:spPr>
          <a:xfrm>
            <a:off x="1500000" y="4430000"/>
            <a:ext cx="9943055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/>
            <a:r>
              <a:rPr lang="ru-RU" sz="1400" dirty="0">
                <a:solidFill>
                  <a:srgbClr val="111827"/>
                </a:solidFill>
                <a:latin typeface="Arial"/>
              </a:rPr>
              <a:t>Реализован программный комплекс из трёх компонентов; обучено 24 классификатора на трёх категориях, оценено 22 пары (категория, атрибут).</a:t>
            </a:r>
          </a:p>
        </p:txBody>
      </p:sp>
      <p:sp>
        <p:nvSpPr>
          <p:cNvPr id="116" name="Card5 Bg"/>
          <p:cNvSpPr/>
          <p:nvPr/>
        </p:nvSpPr>
        <p:spPr>
          <a:xfrm>
            <a:off x="548640" y="5480000"/>
            <a:ext cx="11094415" cy="92000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17" name="Card5 Circle"/>
          <p:cNvSpPr/>
          <p:nvPr/>
        </p:nvSpPr>
        <p:spPr>
          <a:xfrm>
            <a:off x="822960" y="5700000"/>
            <a:ext cx="480000" cy="480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8" name="Card5 Num"/>
          <p:cNvSpPr/>
          <p:nvPr/>
        </p:nvSpPr>
        <p:spPr>
          <a:xfrm>
            <a:off x="822960" y="5700000"/>
            <a:ext cx="4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</a:rPr>
              <a:t>5</a:t>
            </a:r>
            <a:endParaRPr lang="en-US" sz="1800" dirty="0"/>
          </a:p>
        </p:txBody>
      </p:sp>
      <p:sp>
        <p:nvSpPr>
          <p:cNvPr id="119" name="Card5 Text"/>
          <p:cNvSpPr/>
          <p:nvPr/>
        </p:nvSpPr>
        <p:spPr>
          <a:xfrm>
            <a:off x="1500000" y="5480000"/>
            <a:ext cx="9943055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/>
            <a:r>
              <a:rPr lang="ru-RU" sz="1400" dirty="0">
                <a:solidFill>
                  <a:srgbClr val="111827"/>
                </a:solidFill>
                <a:latin typeface="Arial"/>
              </a:rPr>
              <a:t>Подготовлены рекомендации по внедрению (целевые роли, on-premise сценарий, конфигурация поставщика большой языковой модели) и эксплуатации каскада.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Значимость полученных результатов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36432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417320"/>
            <a:ext cx="536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Научная значимость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53643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Получены методика количественного контроля структурной утечки эталонной разметки (стратификация ярусов сигнала, слепая ре-разметка независимой большой языковой моделью) и эмпирическое подтверждение парето-доминирования каскадной композиции над безусловным вызовом большой языковой модели на задаче обогащения товарных атрибутов.</a:t>
            </a:r>
          </a:p>
        </p:txBody>
      </p:sp>
      <p:sp>
        <p:nvSpPr>
          <p:cNvPr id="9" name="Shape 6"/>
          <p:cNvSpPr/>
          <p:nvPr/>
        </p:nvSpPr>
        <p:spPr>
          <a:xfrm>
            <a:off x="6278728" y="1280160"/>
            <a:ext cx="5364328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78728" y="1417320"/>
            <a:ext cx="536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  <a:r>
              <a:rPr lang="en-US" sz="20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значимость</a:t>
            </a:r>
          </a:p>
        </p:txBody>
      </p:sp>
      <p:sp>
        <p:nvSpPr>
          <p:cNvPr id="11" name="Text 8"/>
          <p:cNvSpPr/>
          <p:nvPr/>
        </p:nvSpPr>
        <p:spPr>
          <a:xfrm>
            <a:off x="6278728" y="1920240"/>
            <a:ext cx="536432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 работающий программный комплекс из трёх компонентов (github.com/Qworl/diploma); подтверждена возможность полностью локального on-premise развёртывания на открытой модели gpt-oss-120b без передачи данных во внешние API при сохранении 90,5 % точности.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Достоверность, реализация, апробация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371600"/>
            <a:ext cx="10865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Достоверность и обоснованность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108658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Подтверждаются brand-disjoint валидацией на 4350 тестовых ячейках с 95 % bootstrap CI (кластеризация по 503 брендам), слепой ре-разметкой Claude Opus 4 (κ Коэна &gt; 0,85 на 17 / 22 пар, согласованность 95,0 %), стратификацией по типу эталонного сигнала и контролем семантической близости через k-NN ablation.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3108960"/>
            <a:ext cx="10865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результатов</a:t>
            </a:r>
          </a:p>
        </p:txBody>
      </p:sp>
      <p:sp>
        <p:nvSpPr>
          <p:cNvPr id="11" name="Text 8"/>
          <p:cNvSpPr/>
          <p:nvPr/>
        </p:nvSpPr>
        <p:spPr>
          <a:xfrm>
            <a:off x="777240" y="3566160"/>
            <a:ext cx="108658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Программное средство реализовано в виде трёхкомпонентного комплекса (Go-шлюз, Python/FastAPI ML-сервис, статический веб-фронтенд) и опубликовано в открытом репозитории github.com/Qworl/diploma вместе с воспроизводимым ноутбуком и parquet-артефактами.</a:t>
            </a:r>
          </a:p>
        </p:txBody>
      </p:sp>
      <p:sp>
        <p:nvSpPr>
          <p:cNvPr id="12" name="Shape 9"/>
          <p:cNvSpPr/>
          <p:nvPr/>
        </p:nvSpPr>
        <p:spPr>
          <a:xfrm>
            <a:off x="548640" y="480060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4846320"/>
            <a:ext cx="10865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Апробация результатов</a:t>
            </a:r>
          </a:p>
        </p:txBody>
      </p:sp>
      <p:sp>
        <p:nvSpPr>
          <p:cNvPr id="14" name="Text 11"/>
          <p:cNvSpPr/>
          <p:nvPr/>
        </p:nvSpPr>
        <p:spPr>
          <a:xfrm>
            <a:off x="777240" y="5303520"/>
            <a:ext cx="108658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800" dirty="0"/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воспроизведены циклом «аудит → исправление экстракторов → переобучение → измерение» 3 / 3 на трёх категориях с приростом точности +18,2 / +16,3 / +14,4 п. п. на проблемных ячейках; предзарегистрированная гипотеза H1 проверена с поправкой Бонферрони на трёх бюджетах.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и роль гибридного каскада в инфраструктуре каталога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</a:p>
        </p:txBody>
      </p:sp>
      <p:sp>
        <p:nvSpPr>
          <p:cNvPr id="7" name="Text 3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и роль программного средства в структуре службы клиентской поддержки</a:t>
            </a:r>
            <a:endParaRPr lang="en-US" dirty="0"/>
          </a:p>
        </p:txBody>
      </p:sp>
      <p:pic>
        <p:nvPicPr>
          <p:cNvPr id="8" name="Picture 7" descr="pim_role_con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298" y="1280160"/>
            <a:ext cx="64711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требуемых функций каскада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</a:p>
        </p:txBody>
      </p:sp>
      <p:sp>
        <p:nvSpPr>
          <p:cNvPr id="7" name="Text 3"/>
          <p:cNvSpPr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Контекстная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(нарисовать стрелки-связи, контент менеджер в левом верхнем углу, поправить импорт на экспорт)</a:t>
            </a:r>
            <a:endParaRPr lang="en-US" dirty="0"/>
          </a:p>
        </p:txBody>
      </p:sp>
      <p:pic>
        <p:nvPicPr>
          <p:cNvPr id="8" name="Picture 7" descr="layer_con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090" y="1280160"/>
            <a:ext cx="612151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B576E-4C02-E041-D7A3-DB584F74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6E9B47-65C4-69A9-394E-40F8104BE7A2}"/>
              </a:ext>
            </a:extLst>
          </p:cNvPr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качества каскада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791E7FF-F1D2-9283-2D0C-8AB371BCA00D}"/>
              </a:ext>
            </a:extLst>
          </p:cNvPr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>
            <a:extLst>
              <a:ext uri="{FF2B5EF4-FFF2-40B4-BE49-F238E27FC236}">
                <a16:creationId xmlns:a16="http://schemas.microsoft.com/office/drawing/2014/main" id="{72CBB8C6-C24C-953A-DAD1-5FB55382D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844FEBB-1713-E21C-2FDB-CA7AA7C79083}"/>
              </a:ext>
            </a:extLst>
          </p:cNvPr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</a:p>
        </p:txBody>
      </p:sp>
      <p:sp>
        <p:nvSpPr>
          <p:cNvPr id="100" name="Intro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600" dirty="0">
                <a:solidFill>
                  <a:srgbClr val="111827"/>
                </a:solidFill>
                <a:latin typeface="Arial"/>
              </a:rPr>
              <a:t>Качество каскада описано пятью показателями (сквозная точность, покрытие, доля обращений к LLM, калибровочная ошибка, стоимость обработки). Свёртка в скалярный показатель имеет вид:</a:t>
            </a:r>
          </a:p>
        </p:txBody>
      </p:sp>
      <p:sp>
        <p:nvSpPr>
          <p:cNvPr id="101" name="FormulaBg"/>
          <p:cNvSpPr/>
          <p:nvPr/>
        </p:nvSpPr>
        <p:spPr>
          <a:xfrm>
            <a:off x="548640" y="1920240"/>
            <a:ext cx="11094415" cy="91440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2" name="Formula"/>
          <p:cNvSpPr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  <a:r>
              <a:rPr lang="en-US" sz="2800" b="1" i="1" dirty="0">
                <a:solidFill>
                  <a:srgbClr val="1E2761"/>
                </a:solidFill>
                <a:latin typeface="Cambria Math"/>
              </a:rPr>
              <a:t>Q = w1 · Acc + w2 · (1 − FracLLM) + w3 · (1 − ECE) − w4 · Cost</a:t>
            </a:r>
          </a:p>
        </p:txBody>
      </p:sp>
      <p:sp>
        <p:nvSpPr>
          <p:cNvPr id="103" name="Vars"/>
          <p:cNvSpPr/>
          <p:nvPr/>
        </p:nvSpPr>
        <p:spPr>
          <a:xfrm>
            <a:off x="548640" y="2925000"/>
            <a:ext cx="11094415" cy="1052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ru-RU" dirty="0">
                <a:latin typeface="Arial"/>
              </a:rPr>
              <a:t>где Acc — сквозная точность на эталонной выборке, FracLLM — доля ячеек, требующих обращения к большой языковой модели, ECE — калибровочная ошибка ML-слоя, Cost — относительная стоимость инференса (нормирована к gpt-4o = 1.0).</a:t>
            </a:r>
          </a:p>
        </p:txBody>
      </p:sp>
      <p:sp>
        <p:nvSpPr>
          <p:cNvPr id="110" name="Targets Title"/>
          <p:cNvSpPr/>
          <p:nvPr/>
        </p:nvSpPr>
        <p:spPr>
          <a:xfrm>
            <a:off x="548640" y="402336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1E2761"/>
                </a:solidFill>
                <a:latin typeface="Arial"/>
              </a:rPr>
              <a:t>Целевые значения основных показателей</a:t>
            </a:r>
          </a:p>
        </p:txBody>
      </p:sp>
      <p:sp>
        <p:nvSpPr>
          <p:cNvPr id="120" name="T1Bg"/>
          <p:cNvSpPr/>
          <p:nvPr/>
        </p:nvSpPr>
        <p:spPr>
          <a:xfrm>
            <a:off x="548640" y="4480560"/>
            <a:ext cx="3515258" cy="164592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1" name="T1"/>
          <p:cNvSpPr/>
          <p:nvPr/>
        </p:nvSpPr>
        <p:spPr>
          <a:xfrm>
            <a:off x="777240" y="4571520"/>
            <a:ext cx="30580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/>
              </a:rPr>
              <a:t>≥ 90 %</a:t>
            </a:r>
          </a:p>
          <a:p>
            <a:r>
              <a:rPr lang="en-US" sz="3200" b="1" dirty="0">
                <a:solidFill>
                  <a:srgbClr val="1E2761"/>
                </a:solidFill>
                <a:latin typeface="Arial"/>
              </a:rPr>
              <a:t>сквозная точность</a:t>
            </a:r>
          </a:p>
        </p:txBody>
      </p:sp>
      <p:sp>
        <p:nvSpPr>
          <p:cNvPr id="130" name="T2Bg"/>
          <p:cNvSpPr/>
          <p:nvPr/>
        </p:nvSpPr>
        <p:spPr>
          <a:xfrm>
            <a:off x="4338218" y="4480560"/>
            <a:ext cx="3515258" cy="164592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31" name="T2"/>
          <p:cNvSpPr/>
          <p:nvPr/>
        </p:nvSpPr>
        <p:spPr>
          <a:xfrm>
            <a:off x="4566818" y="4571520"/>
            <a:ext cx="30580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/>
              </a:rPr>
              <a:t>≤ 10 %</a:t>
            </a:r>
          </a:p>
          <a:p>
            <a:r>
              <a:rPr lang="en-US" sz="3200" b="1" dirty="0">
                <a:solidFill>
                  <a:srgbClr val="1E2761"/>
                </a:solidFill>
                <a:latin typeface="Arial"/>
              </a:rPr>
              <a:t>доля обращений к LLM</a:t>
            </a:r>
          </a:p>
        </p:txBody>
      </p:sp>
      <p:sp>
        <p:nvSpPr>
          <p:cNvPr id="140" name="T3Bg"/>
          <p:cNvSpPr/>
          <p:nvPr/>
        </p:nvSpPr>
        <p:spPr>
          <a:xfrm>
            <a:off x="8127796" y="4480560"/>
            <a:ext cx="3515258" cy="1645920"/>
          </a:xfrm>
          <a:prstGeom prst="roundRect">
            <a:avLst>
              <a:gd name="adj" fmla="val 6061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41" name="T3"/>
          <p:cNvSpPr/>
          <p:nvPr/>
        </p:nvSpPr>
        <p:spPr>
          <a:xfrm>
            <a:off x="8356396" y="4571520"/>
            <a:ext cx="305805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"/>
              </a:rPr>
              <a:t>≤ 0,10</a:t>
            </a:r>
          </a:p>
          <a:p>
            <a:r>
              <a:rPr lang="en-US" sz="3200" b="1" dirty="0">
                <a:solidFill>
                  <a:srgbClr val="1E2761"/>
                </a:solidFill>
                <a:latin typeface="Arial"/>
              </a:rPr>
              <a:t>калибровочная ошибка ECE</a:t>
            </a:r>
          </a:p>
        </p:txBody>
      </p:sp>
    </p:spTree>
    <p:extLst>
      <p:ext uri="{BB962C8B-B14F-4D97-AF65-F5344CB8AC3E}">
        <p14:creationId xmlns:p14="http://schemas.microsoft.com/office/powerpoint/2010/main" val="3734239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C3CFA-C32A-C886-B130-F4039C97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6AD0CA-2F25-9E9E-298D-7144FC42C706}"/>
              </a:ext>
            </a:extLst>
          </p:cNvPr>
          <p:cNvSpPr/>
          <p:nvPr/>
        </p:nvSpPr>
        <p:spPr>
          <a:xfrm>
            <a:off x="548640" y="274320"/>
            <a:ext cx="106829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гибридного каскада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B8D8B9-F06F-C541-60A3-BB3074C113B3}"/>
              </a:ext>
            </a:extLst>
          </p:cNvPr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>
            <a:extLst>
              <a:ext uri="{FF2B5EF4-FFF2-40B4-BE49-F238E27FC236}">
                <a16:creationId xmlns:a16="http://schemas.microsoft.com/office/drawing/2014/main" id="{C53FD146-A382-14EA-263B-A000ABB95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1A969DE-DD56-1BC5-6123-1DC36743A150}"/>
              </a:ext>
            </a:extLst>
          </p:cNvPr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</a:p>
        </p:txBody>
      </p:sp>
      <p:pic>
        <p:nvPicPr>
          <p:cNvPr id="6" name="Picture 5" descr="architecture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449" y="1024128"/>
            <a:ext cx="8826796" cy="58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4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технического проекта программного средства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</a:p>
        </p:txBody>
      </p:sp>
      <p:sp>
        <p:nvSpPr>
          <p:cNvPr id="7" name="Text 4"/>
          <p:cNvSpPr/>
          <p:nvPr/>
        </p:nvSpPr>
        <p:spPr>
          <a:xfrm>
            <a:off x="0" y="1280160"/>
            <a:ext cx="346623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API-слой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0" y="1691640"/>
            <a:ext cx="346623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400" dirty="0">
              <a:latin typeface="Aptos Narrow" panose="020B0004020202020204" pitchFamily="34" charset="0"/>
            </a:endParaRPr>
            <a:r>
              <a:rPr lang="en-US" sz="1400" dirty="0">
                <a:solidFill>
                  <a:srgbClr val="111827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API-шлюз (Go)</a:t>
            </a:r>
          </a:p>
        </p:txBody>
      </p:sp>
      <p:sp>
        <p:nvSpPr>
          <p:cNvPr id="10" name="Text 7"/>
          <p:cNvSpPr/>
          <p:nvPr/>
        </p:nvSpPr>
        <p:spPr>
          <a:xfrm>
            <a:off x="0" y="2300068"/>
            <a:ext cx="346623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Aptos Narrow" panose="020B0004020202020204" pitchFamily="34" charset="0"/>
            </a:endParaRPr>
            <a:r>
              <a:rPr lang="en-US" sz="1600" b="1" dirty="0">
                <a:solidFill>
                  <a:srgbClr val="1E2761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≈ 200 строк net/http, валидация JSON, проксирование, CORS</a:t>
            </a:r>
          </a:p>
        </p:txBody>
      </p:sp>
      <p:sp>
        <p:nvSpPr>
          <p:cNvPr id="11" name="Text 8"/>
          <p:cNvSpPr/>
          <p:nvPr/>
        </p:nvSpPr>
        <p:spPr>
          <a:xfrm>
            <a:off x="0" y="2635795"/>
            <a:ext cx="346623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400" dirty="0">
              <a:latin typeface="Aptos Narrow" panose="020B0004020202020204" pitchFamily="34" charset="0"/>
            </a:endParaRPr>
            <a:r>
              <a:rPr lang="en-US" sz="1400" dirty="0">
                <a:solidFill>
                  <a:srgbClr val="111827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ML-сервис (Python)</a:t>
            </a:r>
          </a:p>
        </p:txBody>
      </p:sp>
      <p:sp>
        <p:nvSpPr>
          <p:cNvPr id="13" name="Text 10"/>
          <p:cNvSpPr/>
          <p:nvPr/>
        </p:nvSpPr>
        <p:spPr>
          <a:xfrm>
            <a:off x="0" y="3298874"/>
            <a:ext cx="346623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Aptos Narrow" panose="020B0004020202020204" pitchFamily="34" charset="0"/>
            </a:endParaRPr>
            <a:r>
              <a:rPr lang="en-US" sz="1600" b="1" dirty="0">
                <a:solidFill>
                  <a:srgbClr val="1E2761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FastAPI; загрузка SBERT, 24 XGBoost-классификатора, байес-сетей и категорайзера</a:t>
            </a:r>
          </a:p>
        </p:txBody>
      </p:sp>
      <p:sp>
        <p:nvSpPr>
          <p:cNvPr id="14" name="Text 11"/>
          <p:cNvSpPr/>
          <p:nvPr/>
        </p:nvSpPr>
        <p:spPr>
          <a:xfrm>
            <a:off x="0" y="3703320"/>
            <a:ext cx="346623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400" dirty="0">
              <a:latin typeface="Aptos Narrow" panose="020B0004020202020204" pitchFamily="34" charset="0"/>
            </a:endParaRPr>
            <a:r>
              <a:rPr lang="en-US" sz="1400" dirty="0">
                <a:solidFill>
                  <a:srgbClr val="111827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Каскадная логика</a:t>
            </a:r>
          </a:p>
        </p:txBody>
      </p:sp>
      <p:sp>
        <p:nvSpPr>
          <p:cNvPr id="16" name="Text 13"/>
          <p:cNvSpPr/>
          <p:nvPr/>
        </p:nvSpPr>
        <p:spPr>
          <a:xfrm>
            <a:off x="0" y="4297680"/>
            <a:ext cx="346623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Aptos Narrow" panose="020B0004020202020204" pitchFamily="34" charset="0"/>
            </a:endParaRPr>
            <a:r>
              <a:rPr lang="en-US" sz="1600" b="1" dirty="0">
                <a:solidFill>
                  <a:srgbClr val="1E2761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Конъюнктивное условие порогов; маршрутизация ячеек между слоями L0–L4</a:t>
            </a:r>
          </a:p>
        </p:txBody>
      </p:sp>
      <p:sp>
        <p:nvSpPr>
          <p:cNvPr id="17" name="Text 14"/>
          <p:cNvSpPr/>
          <p:nvPr/>
        </p:nvSpPr>
        <p:spPr>
          <a:xfrm>
            <a:off x="0" y="4709160"/>
            <a:ext cx="346623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400" dirty="0">
              <a:latin typeface="Aptos Narrow" panose="020B0004020202020204" pitchFamily="34" charset="0"/>
            </a:endParaRPr>
            <a:r>
              <a:rPr lang="en-US" sz="1400" dirty="0">
                <a:solidFill>
                  <a:srgbClr val="111827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Веб-фронтенд</a:t>
            </a:r>
          </a:p>
        </p:txBody>
      </p:sp>
      <p:sp>
        <p:nvSpPr>
          <p:cNvPr id="19" name="Text 16"/>
          <p:cNvSpPr/>
          <p:nvPr/>
        </p:nvSpPr>
        <p:spPr>
          <a:xfrm>
            <a:off x="0" y="5303520"/>
            <a:ext cx="346623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Aptos Narrow" panose="020B0004020202020204" pitchFamily="34" charset="0"/>
            </a:endParaRPr>
            <a:r>
              <a:rPr lang="en-US" sz="1600" b="1" dirty="0">
                <a:solidFill>
                  <a:srgbClr val="1E2761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Статический HTML/CSS/JS; форма ввода и поатрибутный результат с отметкой слоя</a:t>
            </a:r>
          </a:p>
        </p:txBody>
      </p:sp>
      <p:sp>
        <p:nvSpPr>
          <p:cNvPr id="20" name="Text 17"/>
          <p:cNvSpPr/>
          <p:nvPr/>
        </p:nvSpPr>
        <p:spPr>
          <a:xfrm>
            <a:off x="0" y="5715000"/>
            <a:ext cx="346623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400" dirty="0">
              <a:latin typeface="Aptos Narrow" panose="020B0004020202020204" pitchFamily="34" charset="0"/>
            </a:endParaRPr>
            <a:r>
              <a:rPr lang="ru-RU" sz="1400" dirty="0">
                <a:solidFill>
                  <a:srgbClr val="111827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Хранилище моделей</a:t>
            </a:r>
          </a:p>
        </p:txBody>
      </p:sp>
      <p:pic>
        <p:nvPicPr>
          <p:cNvPr id="21" name="Picture 20" descr="cost_quality_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233" y="1051839"/>
            <a:ext cx="8725767" cy="58061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алгоритм: гибридный каскад слоёв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60020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Regex-экстрактор</a:t>
            </a:r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детерминированных атрибутов из product_name и quantity по доменным грамматикам словарных полей (fat_content, pasta_shape, grain_type, …).</a:t>
            </a:r>
          </a:p>
        </p:txBody>
      </p:sp>
      <p:sp>
        <p:nvSpPr>
          <p:cNvPr id="11" name="Shape 8"/>
          <p:cNvSpPr/>
          <p:nvPr/>
        </p:nvSpPr>
        <p:spPr>
          <a:xfrm>
            <a:off x="6278728" y="132588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553048" y="16002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53048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330288" y="160020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ML-классификатор</a:t>
            </a:r>
          </a:p>
        </p:txBody>
      </p:sp>
      <p:sp>
        <p:nvSpPr>
          <p:cNvPr id="15" name="Text 12"/>
          <p:cNvSpPr/>
          <p:nvPr/>
        </p:nvSpPr>
        <p:spPr>
          <a:xfrm>
            <a:off x="6553048" y="233172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на 384-мерных SBERT-эмбеддингах партнёрских полей с поатрибутными калиброванными порогами уверенности; покрытие 69–87 % ячеек.</a:t>
            </a:r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2296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00200" y="406908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Bayes-валидатор</a:t>
            </a:r>
          </a:p>
        </p:txBody>
      </p:sp>
      <p:sp>
        <p:nvSpPr>
          <p:cNvPr id="20" name="Text 17"/>
          <p:cNvSpPr/>
          <p:nvPr/>
        </p:nvSpPr>
        <p:spPr>
          <a:xfrm>
            <a:off x="822960" y="480060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условных вероятностей атрибутов помечает невероятные предсказания ML и направляет их на дополнительную проверку.</a:t>
            </a:r>
          </a:p>
        </p:txBody>
      </p:sp>
      <p:sp>
        <p:nvSpPr>
          <p:cNvPr id="21" name="Shape 18"/>
          <p:cNvSpPr/>
          <p:nvPr/>
        </p:nvSpPr>
        <p:spPr>
          <a:xfrm>
            <a:off x="6278728" y="379476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553048" y="40690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553048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330288" y="406908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LLM-fallback</a:t>
            </a:r>
          </a:p>
        </p:txBody>
      </p:sp>
      <p:sp>
        <p:nvSpPr>
          <p:cNvPr id="25" name="Text 22"/>
          <p:cNvSpPr/>
          <p:nvPr/>
        </p:nvSpPr>
        <p:spPr>
          <a:xfrm>
            <a:off x="6553048" y="480060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Обращение к большой языковой модели на остаток (8,6 % ячеек), не закрытый предыдущими слоями с нужной уверенностью; три сценария поставщика.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24E1D-68E4-6FB2-E059-94E1BD2F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CC8650-DD7A-9A06-BA68-C6CB1060620D}"/>
              </a:ext>
            </a:extLst>
          </p:cNvPr>
          <p:cNvSpPr/>
          <p:nvPr/>
        </p:nvSpPr>
        <p:spPr>
          <a:xfrm>
            <a:off x="0" y="274320"/>
            <a:ext cx="112315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разработки программного средства</a:t>
            </a:r>
          </a:p>
          <a:p>
            <a:r>
              <a:rPr lang="ru-RU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Количественно-качественная характеристика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FC2723-B8B0-E00A-5893-C7C8495FEE60}"/>
              </a:ext>
            </a:extLst>
          </p:cNvPr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>
            <a:extLst>
              <a:ext uri="{FF2B5EF4-FFF2-40B4-BE49-F238E27FC236}">
                <a16:creationId xmlns:a16="http://schemas.microsoft.com/office/drawing/2014/main" id="{4CBFE457-00D8-38E7-DB70-3AB092E08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5CD6C59-BE2F-F689-AFC1-DBC555C767F1}"/>
              </a:ext>
            </a:extLst>
          </p:cNvPr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</a:p>
        </p:txBody>
      </p:sp>
      <p:sp>
        <p:nvSpPr>
          <p:cNvPr id="500" name="Card1 Bg"/>
          <p:cNvSpPr/>
          <p:nvPr/>
        </p:nvSpPr>
        <p:spPr>
          <a:xfrm>
            <a:off x="548640" y="132588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501" name="Card1 Circle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5A3CF4A-8F1F-7BFF-60E2-370C76E1490C}"/>
              </a:ext>
            </a:extLst>
          </p:cNvPr>
          <p:cNvSpPr/>
          <p:nvPr/>
        </p:nvSpPr>
        <p:spPr>
          <a:xfrm>
            <a:off x="8229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60020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ru-RU" sz="1800" b="1" dirty="0">
                <a:solidFill>
                  <a:srgbClr val="1E2761"/>
                </a:solidFill>
                <a:latin typeface="Arial"/>
              </a:rPr>
              <a:t>Стек технологий</a:t>
            </a:r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ru-RU" sz="1600" dirty="0">
                <a:solidFill>
                  <a:srgbClr val="111827"/>
                </a:solidFill>
                <a:latin typeface="Arial"/>
              </a:rPr>
              <a:t>Python 3.14, FastAPI, SBERT (paraphrase-multilingual-MiniLM-L12), XGBoost, pgmpy, sentence-transformers; Go (net/http) для шлюза.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A30C8F7-1AD1-322B-5AD7-AC3B69770DC2}"/>
              </a:ext>
            </a:extLst>
          </p:cNvPr>
          <p:cNvSpPr/>
          <p:nvPr/>
        </p:nvSpPr>
        <p:spPr>
          <a:xfrm>
            <a:off x="6278728" y="132588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ACA72C8-EC4C-FAC5-434A-8554B58F1C90}"/>
              </a:ext>
            </a:extLst>
          </p:cNvPr>
          <p:cNvSpPr/>
          <p:nvPr/>
        </p:nvSpPr>
        <p:spPr>
          <a:xfrm>
            <a:off x="6553048" y="16002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6A7295E-0978-D350-1E54-6D78801F37B7}"/>
              </a:ext>
            </a:extLst>
          </p:cNvPr>
          <p:cNvSpPr/>
          <p:nvPr/>
        </p:nvSpPr>
        <p:spPr>
          <a:xfrm>
            <a:off x="6553048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A165F69-FB9D-A2E8-658E-C1978EAD304F}"/>
              </a:ext>
            </a:extLst>
          </p:cNvPr>
          <p:cNvSpPr/>
          <p:nvPr/>
        </p:nvSpPr>
        <p:spPr>
          <a:xfrm>
            <a:off x="7330288" y="160020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модули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5F96967-B378-4713-7C43-8D69B5BF7203}"/>
              </a:ext>
            </a:extLst>
          </p:cNvPr>
          <p:cNvSpPr/>
          <p:nvPr/>
        </p:nvSpPr>
        <p:spPr>
          <a:xfrm>
            <a:off x="6553048" y="233172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слоёв каскада (L0–L4) в Python-сервисе; три независимых компонента (Go-шлюз, Python ML-сервис, веб-фронтенд) с REST-контрактом.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AB1AF69-2B98-83E6-8440-04EED4836707}"/>
              </a:ext>
            </a:extLst>
          </p:cNvPr>
          <p:cNvSpPr/>
          <p:nvPr/>
        </p:nvSpPr>
        <p:spPr>
          <a:xfrm>
            <a:off x="548640" y="379476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434ABBB-5552-EF68-822B-316AB08DBBD8}"/>
              </a:ext>
            </a:extLst>
          </p:cNvPr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C836643-B008-2A1C-FAA4-369F4831863D}"/>
              </a:ext>
            </a:extLst>
          </p:cNvPr>
          <p:cNvSpPr/>
          <p:nvPr/>
        </p:nvSpPr>
        <p:spPr>
          <a:xfrm>
            <a:off x="82296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F41480D-DDDE-6BB6-7134-C784C50074D8}"/>
              </a:ext>
            </a:extLst>
          </p:cNvPr>
          <p:cNvSpPr/>
          <p:nvPr/>
        </p:nvSpPr>
        <p:spPr>
          <a:xfrm>
            <a:off x="1600200" y="406908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API-обработчики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FA1154D-92A3-86B9-D789-C45B960E9C4C}"/>
              </a:ext>
            </a:extLst>
          </p:cNvPr>
          <p:cNvSpPr/>
          <p:nvPr/>
        </p:nvSpPr>
        <p:spPr>
          <a:xfrm>
            <a:off x="822960" y="480060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endpoint'а: POST /api/enrich, GET /api/categories, POST /api/explain, GET /health; JSON in/out, стабильный контракт.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85F9EAB-ED4F-2131-E158-4018E66C35D8}"/>
              </a:ext>
            </a:extLst>
          </p:cNvPr>
          <p:cNvSpPr/>
          <p:nvPr/>
        </p:nvSpPr>
        <p:spPr>
          <a:xfrm>
            <a:off x="6278728" y="379476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5D3A885-AC4F-F7C1-5D1C-59A3FCB20EB7}"/>
              </a:ext>
            </a:extLst>
          </p:cNvPr>
          <p:cNvSpPr/>
          <p:nvPr/>
        </p:nvSpPr>
        <p:spPr>
          <a:xfrm>
            <a:off x="6553048" y="40690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114A8D6-7B56-F678-E4DE-95B0685F5BC0}"/>
              </a:ext>
            </a:extLst>
          </p:cNvPr>
          <p:cNvSpPr/>
          <p:nvPr/>
        </p:nvSpPr>
        <p:spPr>
          <a:xfrm>
            <a:off x="6553048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848EA09-F124-061E-BEFC-FCCF33021A12}"/>
              </a:ext>
            </a:extLst>
          </p:cNvPr>
          <p:cNvSpPr/>
          <p:nvPr/>
        </p:nvSpPr>
        <p:spPr>
          <a:xfrm>
            <a:off x="7330288" y="4069080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Экспериментальная оценка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6168498-4B6E-4F13-F110-DFF7DD2EED80}"/>
              </a:ext>
            </a:extLst>
          </p:cNvPr>
          <p:cNvSpPr/>
          <p:nvPr/>
        </p:nvSpPr>
        <p:spPr>
          <a:xfrm>
            <a:off x="6553048" y="4800600"/>
            <a:ext cx="48156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4350 тестовых ячеек × 11 рабочих точек; brand-clustered bootstrap CI; 24 обученных классификатора; 22 оценённых пары (категория, атрибут).</a:t>
            </a:r>
          </a:p>
        </p:txBody>
      </p:sp>
    </p:spTree>
    <p:extLst>
      <p:ext uri="{BB962C8B-B14F-4D97-AF65-F5344CB8AC3E}">
        <p14:creationId xmlns:p14="http://schemas.microsoft.com/office/powerpoint/2010/main" val="2744807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en-US" sz="28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программного средства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</a:p>
        </p:txBody>
      </p:sp>
      <p:pic>
        <p:nvPicPr>
          <p:cNvPr id="11" name="Image 1" descr="/tmp/docx_check/word/media/image25.png">
            <a:extLst>
              <a:ext uri="{FF2B5EF4-FFF2-40B4-BE49-F238E27FC236}">
                <a16:creationId xmlns:a16="http://schemas.microsoft.com/office/drawing/2014/main" id="{A0C1AAC8-F209-07FC-8866-B6787D615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855" y="1440180"/>
            <a:ext cx="4463631" cy="4846320"/>
          </a:xfrm>
          <a:prstGeom prst="rect">
            <a:avLst/>
          </a:prstGeom>
        </p:spPr>
      </p:pic>
      <p:sp>
        <p:nvSpPr>
          <p:cNvPr id="201" name="Caption Right"/>
          <p:cNvSpPr/>
          <p:nvPr/>
        </p:nvSpPr>
        <p:spPr>
          <a:xfrm>
            <a:off x="5845368" y="6355059"/>
            <a:ext cx="5934604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dirty="0">
                <a:latin typeface="Arial"/>
              </a:rPr>
              <a:t>Результат генерации — граф диалогового сценария</a:t>
            </a:r>
            <a:endParaRPr lang="en-US" dirty="0"/>
          </a:p>
        </p:txBody>
      </p:sp>
      <p:pic>
        <p:nvPicPr>
          <p:cNvPr id="202" name="Picture 201" descr="demo_pas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09" y="1394460"/>
            <a:ext cx="3456992" cy="4937760"/>
          </a:xfrm>
          <a:prstGeom prst="rect">
            <a:avLst/>
          </a:prstGeom>
        </p:spPr>
      </p:pic>
      <p:pic>
        <p:nvPicPr>
          <p:cNvPr id="203" name="Picture 202" descr="demo_choco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887" y="6360000"/>
            <a:ext cx="3986036" cy="22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Оперативный эффект от внедрения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186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155448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91,5 %</a:t>
            </a:r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4952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сквозная точность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каскада на brand-disjoint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тестовой выборке</a:t>
            </a:r>
          </a:p>
        </p:txBody>
      </p:sp>
      <p:sp>
        <p:nvSpPr>
          <p:cNvPr id="9" name="Shape 6"/>
          <p:cNvSpPr/>
          <p:nvPr/>
        </p:nvSpPr>
        <p:spPr>
          <a:xfrm>
            <a:off x="6324448" y="1371600"/>
            <a:ext cx="53186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07328" y="155448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275</a:t>
            </a:r>
          </a:p>
        </p:txBody>
      </p:sp>
      <p:sp>
        <p:nvSpPr>
          <p:cNvPr id="11" name="Text 8"/>
          <p:cNvSpPr/>
          <p:nvPr/>
        </p:nvSpPr>
        <p:spPr>
          <a:xfrm>
            <a:off x="6507328" y="2651760"/>
            <a:ext cx="4952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стоимости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относительно прямого вызова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53186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31520" y="397764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8,6 %</a:t>
            </a:r>
          </a:p>
        </p:txBody>
      </p:sp>
      <p:sp>
        <p:nvSpPr>
          <p:cNvPr id="14" name="Text 11"/>
          <p:cNvSpPr/>
          <p:nvPr/>
        </p:nvSpPr>
        <p:spPr>
          <a:xfrm>
            <a:off x="731520" y="5074920"/>
            <a:ext cx="4952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ячеек, требующих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обращения к большой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языковой модели</a:t>
            </a:r>
          </a:p>
        </p:txBody>
      </p:sp>
      <p:sp>
        <p:nvSpPr>
          <p:cNvPr id="15" name="Shape 12"/>
          <p:cNvSpPr/>
          <p:nvPr/>
        </p:nvSpPr>
        <p:spPr>
          <a:xfrm>
            <a:off x="6324448" y="3794760"/>
            <a:ext cx="53186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507328" y="397764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+ 21,2 п. п.</a:t>
            </a:r>
          </a:p>
        </p:txBody>
      </p:sp>
      <p:sp>
        <p:nvSpPr>
          <p:cNvPr id="17" name="Text 14"/>
          <p:cNvSpPr/>
          <p:nvPr/>
        </p:nvSpPr>
        <p:spPr>
          <a:xfrm>
            <a:off x="6507328" y="5074920"/>
            <a:ext cx="4952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600" dirty="0"/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прирост точности на открытой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gpt-oss-120b</a:t>
            </a:r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каскаде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00AB9-9AA0-3627-C49E-294C1EEF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2AB9EC-F2CF-2040-56C5-FFE7CA16E1DC}"/>
              </a:ext>
            </a:extLst>
          </p:cNvPr>
          <p:cNvSpPr/>
          <p:nvPr/>
        </p:nvSpPr>
        <p:spPr>
          <a:xfrm>
            <a:off x="548640" y="2743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  <a:r>
              <a:rPr lang="ru-RU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по внедрению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77EAC3-177F-5AE4-50C9-0F129AD3FC46}"/>
              </a:ext>
            </a:extLst>
          </p:cNvPr>
          <p:cNvSpPr/>
          <p:nvPr/>
        </p:nvSpPr>
        <p:spPr>
          <a:xfrm>
            <a:off x="548640" y="1005840"/>
            <a:ext cx="11094415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tmp/docx_check/word/media/image1.png">
            <a:extLst>
              <a:ext uri="{FF2B5EF4-FFF2-40B4-BE49-F238E27FC236}">
                <a16:creationId xmlns:a16="http://schemas.microsoft.com/office/drawing/2014/main" id="{71FC6BA6-E3F7-69B0-9CBD-DAE6A1F1D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274320"/>
            <a:ext cx="640080" cy="6400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AFD6BAA-9301-1E81-BFC5-913DCE6C6C39}"/>
              </a:ext>
            </a:extLst>
          </p:cNvPr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</a:p>
        </p:txBody>
      </p:sp>
      <p:sp>
        <p:nvSpPr>
          <p:cNvPr id="100" name="Card1 Bg"/>
          <p:cNvSpPr/>
          <p:nvPr/>
        </p:nvSpPr>
        <p:spPr>
          <a:xfrm>
            <a:off x="548640" y="1280160"/>
            <a:ext cx="3515258" cy="480060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1" name="Card1 Title"/>
          <p:cNvSpPr/>
          <p:nvPr/>
        </p:nvSpPr>
        <p:spPr>
          <a:xfrm>
            <a:off x="777240" y="1417320"/>
            <a:ext cx="30580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1E2761"/>
                </a:solidFill>
                <a:latin typeface="Arial"/>
              </a:rPr>
              <a:t>Внедрение</a:t>
            </a:r>
          </a:p>
        </p:txBody>
      </p:sp>
      <p:sp>
        <p:nvSpPr>
          <p:cNvPr id="102" name="Card1 Body"/>
          <p:cNvSpPr/>
          <p:nvPr/>
        </p:nvSpPr>
        <p:spPr>
          <a:xfrm>
            <a:off x="777240" y="2057400"/>
            <a:ext cx="30580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lnSpc>
                <a:spcPts val="2000"/>
              </a:lnSpc>
              <a:spcAft>
                <a:spcPts val="600"/>
              </a:spcAft>
              <a:buChar char="•"/>
            </a:pPr>
            <a:r>
              <a:rPr lang="ru-RU" sz="1400" dirty="0">
                <a:solidFill>
                  <a:srgbClr val="111827"/>
                </a:solidFill>
                <a:latin typeface="Arial"/>
              </a:rPr>
              <a:t>Развёртывание трёхкомпонентного комплекса (Go-шлюз, Python ML-сервис, веб-фронтенд) в инфраструктуре онлайн-магазина. Подключение к PIM-системе через стабильный REST API. Выбор поставщика большой языковой модели: коммерческий (Gemini Flash / Sonnet), бюджетный (GPT-4o) или on-premise (gpt-oss-120b).</a:t>
            </a:r>
          </a:p>
        </p:txBody>
      </p:sp>
      <p:sp>
        <p:nvSpPr>
          <p:cNvPr id="110" name="Card2 Bg"/>
          <p:cNvSpPr/>
          <p:nvPr/>
        </p:nvSpPr>
        <p:spPr>
          <a:xfrm>
            <a:off x="4338218" y="1280160"/>
            <a:ext cx="3515258" cy="480060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11" name="Card2 Title"/>
          <p:cNvSpPr/>
          <p:nvPr/>
        </p:nvSpPr>
        <p:spPr>
          <a:xfrm>
            <a:off x="4566818" y="1417320"/>
            <a:ext cx="30580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1E2761"/>
                </a:solidFill>
                <a:latin typeface="Arial"/>
              </a:rPr>
              <a:t>Эксплуатация</a:t>
            </a:r>
          </a:p>
        </p:txBody>
      </p:sp>
      <p:sp>
        <p:nvSpPr>
          <p:cNvPr id="112" name="Card2 Body"/>
          <p:cNvSpPr/>
          <p:nvPr/>
        </p:nvSpPr>
        <p:spPr>
          <a:xfrm>
            <a:off x="4566818" y="2057400"/>
            <a:ext cx="30580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lnSpc>
                <a:spcPts val="2000"/>
              </a:lnSpc>
              <a:spcAft>
                <a:spcPts val="600"/>
              </a:spcAft>
              <a:buChar char="•"/>
            </a:pPr>
            <a:r>
              <a:rPr lang="ru-RU" sz="1400" dirty="0">
                <a:solidFill>
                  <a:srgbClr val="111827"/>
                </a:solidFill>
                <a:latin typeface="Arial"/>
              </a:rPr>
              <a:t>Мониторинг доли обращений к большой языковой модели (целевая 8,6 ± 2 %) и сквозной точности по категориям. Запуск цикла «аудит → переобучение» при систематическом снижении точности на конкретном атрибуте. Выборочная верификация оператором ячеек с пометкой Bayes-валидатора и LLM-fallback.</a:t>
            </a:r>
          </a:p>
        </p:txBody>
      </p:sp>
      <p:sp>
        <p:nvSpPr>
          <p:cNvPr id="120" name="Card3 Bg"/>
          <p:cNvSpPr/>
          <p:nvPr/>
        </p:nvSpPr>
        <p:spPr>
          <a:xfrm>
            <a:off x="8127796" y="1280160"/>
            <a:ext cx="3515258" cy="480060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1" name="Card3 Title"/>
          <p:cNvSpPr/>
          <p:nvPr/>
        </p:nvSpPr>
        <p:spPr>
          <a:xfrm>
            <a:off x="8356396" y="1417320"/>
            <a:ext cx="30580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1E2761"/>
                </a:solidFill>
                <a:latin typeface="Arial"/>
              </a:rPr>
              <a:t>Развитие</a:t>
            </a:r>
          </a:p>
        </p:txBody>
      </p:sp>
      <p:sp>
        <p:nvSpPr>
          <p:cNvPr id="122" name="Card3 Body"/>
          <p:cNvSpPr/>
          <p:nvPr/>
        </p:nvSpPr>
        <p:spPr>
          <a:xfrm>
            <a:off x="8356396" y="2057400"/>
            <a:ext cx="30580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lnSpc>
                <a:spcPts val="2000"/>
              </a:lnSpc>
              <a:spcAft>
                <a:spcPts val="600"/>
              </a:spcAft>
              <a:buChar char="•"/>
            </a:pPr>
            <a:r>
              <a:rPr lang="ru-RU" sz="1400" dirty="0">
                <a:solidFill>
                  <a:srgbClr val="111827"/>
                </a:solidFill>
                <a:latin typeface="Arial"/>
              </a:rPr>
              <a:t>Расширение на не-продовольственные категории (электроника, косметика). Привязка эталона к внешним регуляторным реестрам (PDO/PGI). Интеграция со стандартными PIM-системами семейства Akeneo, Pimcore. Открытие исходного кода: github.com/Qworl/diploma.</a:t>
            </a:r>
          </a:p>
        </p:txBody>
      </p:sp>
    </p:spTree>
    <p:extLst>
      <p:ext uri="{BB962C8B-B14F-4D97-AF65-F5344CB8AC3E}">
        <p14:creationId xmlns:p14="http://schemas.microsoft.com/office/powerpoint/2010/main" val="2962237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792" y="1021666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1231575" y="65836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1497</Words>
  <Application>Microsoft Macintosh PowerPoint</Application>
  <PresentationFormat>Широкоэкранный</PresentationFormat>
  <Paragraphs>253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Aptos Narrow</vt:lpstr>
      <vt:lpstr>Arial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Гаврилов 206 — Автоматическая генерация диалоговых сценариев</dc:title>
  <dc:subject>PptxGenJS Presentation</dc:subject>
  <dc:creator>Гаврилов А.</dc:creator>
  <cp:lastModifiedBy>Artyom Gavrilov</cp:lastModifiedBy>
  <cp:revision>77</cp:revision>
  <dcterms:created xsi:type="dcterms:W3CDTF">2026-05-14T17:43:54Z</dcterms:created>
  <dcterms:modified xsi:type="dcterms:W3CDTF">2026-05-17T22:58:48Z</dcterms:modified>
</cp:coreProperties>
</file>