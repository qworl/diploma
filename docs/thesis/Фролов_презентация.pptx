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7"/>
    <p:sldId id="259" r:id="rId5"/>
    <p:sldId id="260" r:id="rId6"/>
    <p:sldId id="273" r:id="rId24"/>
    <p:sldId id="262" r:id="rId8"/>
    <p:sldId id="274" r:id="rId25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4.xml"/><Relationship Id="rId8" Type="http://schemas.openxmlformats.org/officeDocument/2006/relationships/slide" Target="slides/slide8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7.xml"/><Relationship Id="rId2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" y="685800"/>
            <a:ext cx="16952976" cy="815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200" spc="96" kern="0" dirty="0">
                <a:solidFill>
                  <a:srgbClr val="2024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МОСКОВСКИЙ АВИАЦИОННЫЙ ИНСТИТУТ </a:t>
            </a:r>
            <a:pPr algn="ctr" indent="0" marL="0">
              <a:lnSpc>
                <a:spcPct val="170000"/>
              </a:lnSpc>
              <a:buNone/>
            </a:pPr>
            <a:r>
              <a:rPr lang="en-US" sz="1200" spc="96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(НАЦИОНАЛЬНЫЙ ИССЛЕДОВАТЕЛЬСКИЙ УНИВЕРСИТЕТ) ИНСТИТУТ № 8 «ИНФОРМАЦИОННЫЕ ТЕХНОЛОГИИ И ПРИКЛАДНАЯ МАТЕМАТИКА» · КАФЕДРА 806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05675" y="3266852"/>
            <a:ext cx="527665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144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ВЫПУСКНАЯ КВАЛИФИКАЦИОННАЯ РАБОТА МАГИСТРА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85938" y="3733577"/>
            <a:ext cx="14716125" cy="2835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Система автоматизированного обогащения товарных данных для интернет-магазина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914400" y="8335417"/>
            <a:ext cx="164592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8725942"/>
            <a:ext cx="737139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СТУДЕНТ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914400" y="9025979"/>
            <a:ext cx="7371399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Фролов Михаил Александрович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9361215"/>
            <a:ext cx="7371399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Группа М8О-206СВ-24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833098" y="8725942"/>
            <a:ext cx="737139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НАУЧНЫЙ РУКОВОДИТЕЛЬ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8833098" y="9025979"/>
            <a:ext cx="7371399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Судаков Владимир Анатольевич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833098" y="9361215"/>
            <a:ext cx="7371399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д.м.н., доцент кафедры 806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6751796" y="9201150"/>
            <a:ext cx="69800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МОСКВА 2026</a:t>
            </a:r>
            <a:endParaRPr lang="en-US" sz="1200" dirty="0"/>
          </a:p>
        </p:txBody>
      </p:sp>
      <p:pic>
        <p:nvPicPr>
          <p:cNvPr id="13" name="Picture 12" descr="ma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759" y="502920"/>
            <a:ext cx="1371600" cy="13213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283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51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75" dirty="0"/>
          </a:p>
        </p:txBody>
      </p:sp>
      <p:sp>
        <p:nvSpPr>
          <p:cNvPr id="3" name="Shape 1"/>
          <p:cNvSpPr/>
          <p:nvPr/>
        </p:nvSpPr>
        <p:spPr>
          <a:xfrm>
            <a:off x="1293168" y="771525"/>
            <a:ext cx="38100" cy="38100"/>
          </a:xfrm>
          <a:prstGeom prst="ellipse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502718" y="685800"/>
            <a:ext cx="90532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КОНТЕКСТ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6952976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42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Актуальность темы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100039"/>
            <a:ext cx="147161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Карточка товара — центр цифровой витрины: от её полноты зависят поиск, ранжирование и конверсия. Партнёрский ввод неоднороден, пробелы исторически закрывают контент-менеджеры вручную — и этот подход не масштабируется.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4176638"/>
            <a:ext cx="5284698" cy="1232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900" b="1" spc="-297" kern="0" dirty="0">
                <a:solidFill>
                  <a:srgbClr val="4A5D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</a:t>
            </a:r>
            <a:pPr algn="l" indent="0" marL="0">
              <a:lnSpc>
                <a:spcPct val="95000"/>
              </a:lnSpc>
              <a:buNone/>
            </a:pPr>
            <a:r>
              <a:rPr lang="en-US" sz="2700" spc="-297" kern="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трлн ₽</a:t>
            </a:r>
            <a:endParaRPr lang="en-US" sz="9900" dirty="0"/>
          </a:p>
        </p:txBody>
      </p:sp>
      <p:sp>
        <p:nvSpPr>
          <p:cNvPr id="8" name="Text 6"/>
          <p:cNvSpPr/>
          <p:nvPr/>
        </p:nvSpPr>
        <p:spPr>
          <a:xfrm>
            <a:off x="914400" y="5637758"/>
            <a:ext cx="528469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ГОДОВОЙ ОБЪЁМ ЭЛЕКТРОННОЙ КОММЕРЦИИ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5894933"/>
            <a:ext cx="5284698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России, 2024–2025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6578575" y="4176638"/>
            <a:ext cx="5284698" cy="1232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900" b="1" spc="-297" kern="0" dirty="0">
                <a:solidFill>
                  <a:srgbClr val="4A5D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3–7 </a:t>
            </a:r>
            <a:pPr algn="l" indent="0" marL="0">
              <a:lnSpc>
                <a:spcPct val="95000"/>
              </a:lnSpc>
              <a:buNone/>
            </a:pPr>
            <a:r>
              <a:rPr lang="en-US" sz="2700" spc="-297" kern="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мин</a:t>
            </a:r>
            <a:endParaRPr lang="en-US" sz="9900" dirty="0"/>
          </a:p>
        </p:txBody>
      </p:sp>
      <p:sp>
        <p:nvSpPr>
          <p:cNvPr id="11" name="Text 9"/>
          <p:cNvSpPr/>
          <p:nvPr/>
        </p:nvSpPr>
        <p:spPr>
          <a:xfrm>
            <a:off x="6578575" y="5637758"/>
            <a:ext cx="528469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РУЧНОЙ ТРУД ОПЕРАТОРА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78575" y="5894933"/>
            <a:ext cx="5284698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 одну карточку товара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2242750" y="4176638"/>
            <a:ext cx="5284775" cy="1232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900" b="1" spc="-297" kern="0" dirty="0">
                <a:solidFill>
                  <a:srgbClr val="4A5D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10⁷ </a:t>
            </a:r>
            <a:pPr algn="l" indent="0" marL="0">
              <a:lnSpc>
                <a:spcPct val="95000"/>
              </a:lnSpc>
              <a:buNone/>
            </a:pPr>
            <a:r>
              <a:rPr lang="en-US" sz="2700" spc="-297" kern="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позиций</a:t>
            </a:r>
            <a:endParaRPr lang="en-US" sz="9900" dirty="0"/>
          </a:p>
        </p:txBody>
      </p:sp>
      <p:sp>
        <p:nvSpPr>
          <p:cNvPr id="14" name="Text 12"/>
          <p:cNvSpPr/>
          <p:nvPr/>
        </p:nvSpPr>
        <p:spPr>
          <a:xfrm>
            <a:off x="12242750" y="5637758"/>
            <a:ext cx="52847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КАТАЛОГИ КРУПНЫХ МАГАЗИНОВ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242750" y="5894933"/>
            <a:ext cx="5284775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тысячи новинок ежедневно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914400" y="7481887"/>
            <a:ext cx="164592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4400" y="7872413"/>
            <a:ext cx="630900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B08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ПОЧЕМУ СИСТЕМЫ УПРАВЛЕНИЯ ТОВАРНОЙ ИНФОРМАЦИЕЙ (PIM) НЕ РЕШАЮТ ЗАДАЧУ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914400" y="8172450"/>
            <a:ext cx="451294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Существующие платформы хранят товарную информацию, но не извлекают её из партнёрского ввода: обогащение приходится строить отдельно.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7573045" y="7872413"/>
            <a:ext cx="19050" cy="1214438"/>
          </a:xfrm>
          <a:prstGeom prst="rect">
            <a:avLst/>
          </a:prstGeom>
          <a:solidFill>
            <a:srgbClr val="B0833F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82595" y="7910512"/>
            <a:ext cx="467443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B08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AKENEO · PIMCORE · SALSIFY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7782595" y="8191500"/>
            <a:ext cx="4674439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Спроектированы хранить уже готовую товарную информацию — не извлекают её из неструктурированного партнёрского ввода.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2625685" y="7872413"/>
            <a:ext cx="19050" cy="1214438"/>
          </a:xfrm>
          <a:prstGeom prst="rect">
            <a:avLst/>
          </a:prstGeom>
          <a:solidFill>
            <a:srgbClr val="B0833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2835235" y="7910512"/>
            <a:ext cx="46745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B08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МОДУЛИ АВТООБОГАЩЕНИЯ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2835235" y="8191500"/>
            <a:ext cx="467451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Обёртка над одной LLM на каждый товар: дорого и без гарантий фактической корректности, особенно на числовых полях.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14400" y="9558338"/>
            <a:ext cx="164592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14400" y="9720263"/>
            <a:ext cx="629558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Система автоматизированного обогащения товарных данных · ВКР магистра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6773525" y="9720263"/>
            <a:ext cx="676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19</a:t>
            </a:r>
            <a:pPr algn="l" indent="0" marL="0">
              <a:buNone/>
            </a:pPr>
            <a:r>
              <a:rPr lang="en-US" sz="1125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25" dirty="0"/>
          </a:p>
        </p:txBody>
      </p:sp>
      <p:pic>
        <p:nvPicPr>
          <p:cNvPr id="28" name="Picture 27" descr="ma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19" y="411480"/>
            <a:ext cx="777240" cy="7487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283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51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75" dirty="0"/>
          </a:p>
        </p:txBody>
      </p:sp>
      <p:sp>
        <p:nvSpPr>
          <p:cNvPr id="3" name="Shape 1"/>
          <p:cNvSpPr/>
          <p:nvPr/>
        </p:nvSpPr>
        <p:spPr>
          <a:xfrm>
            <a:off x="1293168" y="771525"/>
            <a:ext cx="38100" cy="38100"/>
          </a:xfrm>
          <a:prstGeom prst="ellipse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502718" y="685800"/>
            <a:ext cx="13198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НАУЧНАЯ ПРОБЛЕМА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6952976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42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Научная проблема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100039"/>
            <a:ext cx="147161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Ни одна изолированная технология не покрывает все типы атрибутов с приемлемой точностью и стоимостью одновременно.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300189"/>
            <a:ext cx="5308550" cy="4215036"/>
          </a:xfrm>
          <a:prstGeom prst="rect">
            <a:avLst/>
          </a:prstGeom>
          <a:solidFill>
            <a:srgbClr val="EEEAE0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14400" y="3300189"/>
            <a:ext cx="5308550" cy="28575"/>
          </a:xfrm>
          <a:prstGeom prst="rect">
            <a:avLst/>
          </a:prstGeom>
          <a:solidFill>
            <a:srgbClr val="4A5DA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19200" y="3633564"/>
            <a:ext cx="483991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ПОДХОД 1 · ПРАВИЛА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219200" y="3933602"/>
            <a:ext cx="483991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45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Регулярные выражения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219200" y="4619402"/>
            <a:ext cx="4839919" cy="96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Надёжны и бесплатны на числовых и словарных полях, но почти не покрывают семантически нагруженные атрибуты.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219200" y="6530429"/>
            <a:ext cx="469895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19200" y="6730454"/>
            <a:ext cx="4839919" cy="556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spc="12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детерминированно, бесплатно − узкая зона применимости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89650" y="3300189"/>
            <a:ext cx="5308625" cy="4215036"/>
          </a:xfrm>
          <a:prstGeom prst="rect">
            <a:avLst/>
          </a:prstGeom>
          <a:solidFill>
            <a:srgbClr val="EEEAE0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489650" y="3300189"/>
            <a:ext cx="5308625" cy="28575"/>
          </a:xfrm>
          <a:prstGeom prst="rect">
            <a:avLst/>
          </a:prstGeom>
          <a:solidFill>
            <a:srgbClr val="4A5DA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94450" y="3633564"/>
            <a:ext cx="483999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ПОДХОД 2 · ОБУЧЕНИЕ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6794450" y="3933602"/>
            <a:ext cx="483999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45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Классическое машинное обучение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794450" y="4619402"/>
            <a:ext cx="4839996" cy="96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Высокая предсказательная сила, но требует значительной размеченной обучающей выборки по каждому атрибуту.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6794450" y="6530429"/>
            <a:ext cx="4699025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94450" y="6730454"/>
            <a:ext cx="4839996" cy="556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spc="12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точно, дёшево на этапе применения − дорогая разметка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2064975" y="3300189"/>
            <a:ext cx="5308550" cy="4215036"/>
          </a:xfrm>
          <a:prstGeom prst="rect">
            <a:avLst/>
          </a:prstGeom>
          <a:solidFill>
            <a:srgbClr val="EEEAE0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2064975" y="3300189"/>
            <a:ext cx="5308550" cy="28575"/>
          </a:xfrm>
          <a:prstGeom prst="rect">
            <a:avLst/>
          </a:prstGeom>
          <a:solidFill>
            <a:srgbClr val="B0833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2369775" y="3633564"/>
            <a:ext cx="483991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B08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ПОДХОД 3 · УНИВЕРСАЛЬНОСТЬ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2369775" y="3933602"/>
            <a:ext cx="483991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45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Большие LLM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2369775" y="4619402"/>
            <a:ext cx="4839919" cy="96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Универсальны, но дороги при вызове на каждое поле и подвержены фактическим ошибкам — особенно на числах.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12369775" y="6530429"/>
            <a:ext cx="469895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2369775" y="6730454"/>
            <a:ext cx="4839919" cy="556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spc="12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универсальны без обучения − дорого, нестабильно на числах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7820025"/>
            <a:ext cx="16459200" cy="1552575"/>
          </a:xfrm>
          <a:prstGeom prst="rect">
            <a:avLst/>
          </a:prstGeom>
          <a:solidFill>
            <a:srgbClr val="202428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257300" y="8271049"/>
            <a:ext cx="657320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E8C9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РЕШЕНИЕ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257300" y="8532986"/>
            <a:ext cx="6573203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spc="-25" kern="0" dirty="0">
                <a:solidFill>
                  <a:srgbClr val="F5F2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Гибридная каскадная архитектура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8096250" y="8124825"/>
            <a:ext cx="9202484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2EB">
                    <a:alpha val="8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Композиция последовательных слоёв, где каждый следующий слой подключается только к остатку, не закрытому предыдущими с заданной уверенностью — семантика LLM при стоимости классических методов.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914400" y="9558338"/>
            <a:ext cx="164592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14400" y="9720263"/>
            <a:ext cx="629558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Система автоматизированного обогащения товарных данных · ВКР магистра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6773525" y="9720263"/>
            <a:ext cx="676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19</a:t>
            </a:r>
            <a:pPr algn="l" indent="0" marL="0">
              <a:buNone/>
            </a:pPr>
            <a:r>
              <a:rPr lang="en-US" sz="1125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25" dirty="0"/>
          </a:p>
        </p:txBody>
      </p:sp>
      <p:pic>
        <p:nvPicPr>
          <p:cNvPr id="35" name="Picture 34" descr="ma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19" y="411480"/>
            <a:ext cx="777240" cy="7487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283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51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75" dirty="0"/>
          </a:p>
        </p:txBody>
      </p:sp>
      <p:sp>
        <p:nvSpPr>
          <p:cNvPr id="3" name="Shape 1"/>
          <p:cNvSpPr/>
          <p:nvPr/>
        </p:nvSpPr>
        <p:spPr>
          <a:xfrm>
            <a:off x="1293168" y="771525"/>
            <a:ext cx="38100" cy="38100"/>
          </a:xfrm>
          <a:prstGeom prst="ellipse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502718" y="685800"/>
            <a:ext cx="80166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АНАЛОГИ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6952976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42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Анализ существующих решений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100039"/>
            <a:ext cx="147161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Существующие подходы либо не извлекают атрибуты, либо делают это дорого и без контроля качества.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338289"/>
            <a:ext cx="3620988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3004914"/>
            <a:ext cx="35010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РЕШЕНИЕ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4535388" y="3338289"/>
            <a:ext cx="6583635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35388" y="3004914"/>
            <a:ext cx="655254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ПОДХОД К ОБОГАЩЕНИЮ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11119024" y="3338289"/>
            <a:ext cx="6254576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119024" y="3004914"/>
            <a:ext cx="621361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ОГРАНИЧЕНИЕ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914400" y="4070747"/>
            <a:ext cx="3620988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3557364"/>
            <a:ext cx="3501018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Akeneo / Pimcore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4535388" y="4070747"/>
            <a:ext cx="6583635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35388" y="3557364"/>
            <a:ext cx="6552544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Хранилище и редактор готовой товарной информации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1119024" y="4070747"/>
            <a:ext cx="6254576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119024" y="3557364"/>
            <a:ext cx="6213614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Извлечение атрибутов из сырого ввода не решается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14400" y="4803204"/>
            <a:ext cx="3620988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4289822"/>
            <a:ext cx="3501018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Salsify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4535388" y="4803204"/>
            <a:ext cx="6583635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35388" y="4289822"/>
            <a:ext cx="6552544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PIM с синдикацией и обменом данными с партнёрами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1119024" y="4803204"/>
            <a:ext cx="6254576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1119024" y="4289822"/>
            <a:ext cx="6213614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Автообогащение — внешний модуль поверх одной LLM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914400" y="5535662"/>
            <a:ext cx="3620988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14400" y="5022279"/>
            <a:ext cx="3501018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Прямой вызов LLM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4535388" y="5535662"/>
            <a:ext cx="6583635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35388" y="5022279"/>
            <a:ext cx="6552544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Одна публичная LLM вызывается на каждое поле товара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1119024" y="5535662"/>
            <a:ext cx="6254576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1119024" y="5022279"/>
            <a:ext cx="6213614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Дорого на больших каталогах; ошибки на числах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914400" y="5545187"/>
            <a:ext cx="16459200" cy="727695"/>
          </a:xfrm>
          <a:prstGeom prst="rect">
            <a:avLst/>
          </a:prstGeom>
          <a:solidFill>
            <a:srgbClr val="EEEAE0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143000" y="5754737"/>
            <a:ext cx="3272418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4A5D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Каскад · работа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4763988" y="5754737"/>
            <a:ext cx="6323944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Регулярные выражения → классификатор машинного обучения → Байес-валидатор → LLM на остаточные ячейки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1347624" y="5754737"/>
            <a:ext cx="5985014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4A5D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Точность 91,5 %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 доле LLM-вызовов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4A5D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8,6 %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914400" y="7745909"/>
            <a:ext cx="164592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14400" y="8098334"/>
            <a:ext cx="952294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B08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ЧЕМ ОТЛИЧАЕТСЯ РАБОТА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914400" y="8398371"/>
            <a:ext cx="9522942" cy="1012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Каскад собирает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сильные стороны всех подходов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регулярные выражения закрывают дешёвые поля, машинное обучение — основной объём, LLM подключается только там, где никто ниже не справился с нужной уверенностью.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0769575" y="8290173"/>
            <a:ext cx="300369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96" kern="0" dirty="0">
                <a:solidFill>
                  <a:srgbClr val="4A5D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91,5 </a:t>
            </a:r>
            <a:pPr algn="l" indent="0" marL="0">
              <a:lnSpc>
                <a:spcPct val="100000"/>
              </a:lnSpc>
              <a:buNone/>
            </a:pPr>
            <a:r>
              <a:rPr lang="en-US" sz="1650" spc="-96" kern="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</a:t>
            </a:r>
            <a:endParaRPr lang="en-US" sz="4800" dirty="0"/>
          </a:p>
        </p:txBody>
      </p:sp>
      <p:sp>
        <p:nvSpPr>
          <p:cNvPr id="39" name="Text 37"/>
          <p:cNvSpPr/>
          <p:nvPr/>
        </p:nvSpPr>
        <p:spPr>
          <a:xfrm>
            <a:off x="10769575" y="8995023"/>
            <a:ext cx="300369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ТОЧНОСТЬ КАСКАДА</a:t>
            </a:r>
            <a:endParaRPr lang="en-US" sz="1125" dirty="0"/>
          </a:p>
        </p:txBody>
      </p:sp>
      <p:sp>
        <p:nvSpPr>
          <p:cNvPr id="40" name="Shape 38"/>
          <p:cNvSpPr/>
          <p:nvPr/>
        </p:nvSpPr>
        <p:spPr>
          <a:xfrm>
            <a:off x="14066788" y="8430667"/>
            <a:ext cx="9525" cy="609600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4457313" y="8290173"/>
            <a:ext cx="300369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96" kern="0" dirty="0">
                <a:solidFill>
                  <a:srgbClr val="4A5D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8,6 </a:t>
            </a:r>
            <a:pPr algn="l" indent="0" marL="0">
              <a:lnSpc>
                <a:spcPct val="100000"/>
              </a:lnSpc>
              <a:buNone/>
            </a:pPr>
            <a:r>
              <a:rPr lang="en-US" sz="1650" spc="-96" kern="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</a:t>
            </a:r>
            <a:endParaRPr lang="en-US" sz="4800" dirty="0"/>
          </a:p>
        </p:txBody>
      </p:sp>
      <p:sp>
        <p:nvSpPr>
          <p:cNvPr id="42" name="Text 40"/>
          <p:cNvSpPr/>
          <p:nvPr/>
        </p:nvSpPr>
        <p:spPr>
          <a:xfrm>
            <a:off x="14457313" y="8995023"/>
            <a:ext cx="300369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ДОЛЯ LLM-ВЫЗОВОВ</a:t>
            </a:r>
            <a:endParaRPr lang="en-US" sz="1125" dirty="0"/>
          </a:p>
        </p:txBody>
      </p:sp>
      <p:sp>
        <p:nvSpPr>
          <p:cNvPr id="43" name="Shape 41"/>
          <p:cNvSpPr/>
          <p:nvPr/>
        </p:nvSpPr>
        <p:spPr>
          <a:xfrm>
            <a:off x="914400" y="9558338"/>
            <a:ext cx="164592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914400" y="9720263"/>
            <a:ext cx="629558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Система автоматизированного обогащения товарных данных · ВКР магистра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16773525" y="9720263"/>
            <a:ext cx="676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19</a:t>
            </a:r>
            <a:pPr algn="l" indent="0" marL="0">
              <a:buNone/>
            </a:pPr>
            <a:r>
              <a:rPr lang="en-US" sz="1125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25" dirty="0"/>
          </a:p>
        </p:txBody>
      </p:sp>
      <p:pic>
        <p:nvPicPr>
          <p:cNvPr id="46" name="Picture 45" descr="ma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19" y="411480"/>
            <a:ext cx="777240" cy="7487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283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51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275" dirty="0"/>
          </a:p>
        </p:txBody>
      </p:sp>
      <p:sp>
        <p:nvSpPr>
          <p:cNvPr id="3" name="Shape 1"/>
          <p:cNvSpPr/>
          <p:nvPr/>
        </p:nvSpPr>
        <p:spPr>
          <a:xfrm>
            <a:off x="1293168" y="771525"/>
            <a:ext cx="38100" cy="38100"/>
          </a:xfrm>
          <a:prstGeom prst="ellipse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502718" y="685800"/>
            <a:ext cx="183795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ПОСТАНОВКА · ЦЕЛЬ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6952976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42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Цель работы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100039"/>
            <a:ext cx="147161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Прикладная задача — снять с контент-менеджеров рутину заполнения карточек и закрыть пробелы партнёрского ввода производственно-применимой системой.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147789"/>
            <a:ext cx="16459200" cy="1766888"/>
          </a:xfrm>
          <a:prstGeom prst="rect">
            <a:avLst/>
          </a:prstGeom>
          <a:solidFill>
            <a:srgbClr val="EEEAE0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14400" y="3147789"/>
            <a:ext cx="28575" cy="1766888"/>
          </a:xfrm>
          <a:prstGeom prst="rect">
            <a:avLst/>
          </a:prstGeom>
          <a:solidFill>
            <a:srgbClr val="4A5DA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62075" y="3452589"/>
            <a:ext cx="1606019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ЦЕЛЬ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362075" y="3809777"/>
            <a:ext cx="15697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-11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Разработать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spc="-11" kern="0" dirty="0">
                <a:solidFill>
                  <a:srgbClr val="4A5D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гибридную каскадную систему </a:t>
            </a:r>
            <a:pPr algn="l" indent="0" marL="0">
              <a:lnSpc>
                <a:spcPct val="140000"/>
              </a:lnSpc>
              <a:buNone/>
            </a:pPr>
            <a:r>
              <a:rPr lang="en-US" sz="2250" spc="-11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обогащения товарных данных с высокой точностью извлечения атрибутов, сокращённой стоимостью обращения к LLM и поддержкой открытых моделей.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14400" y="6718995"/>
            <a:ext cx="164592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7071420"/>
            <a:ext cx="169529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ЦЕЛЕВЫЕ КРИТЕРИИ УСПЕХА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14400" y="7485757"/>
            <a:ext cx="528469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180" kern="0" dirty="0">
                <a:solidFill>
                  <a:srgbClr val="4A5D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90 </a:t>
            </a:r>
            <a:pPr algn="l" indent="0" marL="0">
              <a:lnSpc>
                <a:spcPct val="100000"/>
              </a:lnSpc>
              <a:buNone/>
            </a:pPr>
            <a:r>
              <a:rPr lang="en-US" sz="2700" spc="-180" kern="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914400" y="8571607"/>
            <a:ext cx="528469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ТОЧНОСТЬ ИЗВЛЕЧЕНИЯ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8847832"/>
            <a:ext cx="4120515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сравнимо с прямым вызовом LLM на каждое поле товара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6578575" y="7485757"/>
            <a:ext cx="528469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180" kern="0" dirty="0">
                <a:solidFill>
                  <a:srgbClr val="4A5D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≤ 10 </a:t>
            </a:r>
            <a:pPr algn="l" indent="0" marL="0">
              <a:lnSpc>
                <a:spcPct val="100000"/>
              </a:lnSpc>
              <a:buNone/>
            </a:pPr>
            <a:r>
              <a:rPr lang="en-US" sz="2700" spc="-180" kern="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6578575" y="8571607"/>
            <a:ext cx="528469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ДОЛЯ LLM-ВЫЗОВОВ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78575" y="8847832"/>
            <a:ext cx="4120515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основную работу выполняют дешёвые локальные слои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2242750" y="7485757"/>
            <a:ext cx="528477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180" kern="0" dirty="0">
                <a:solidFill>
                  <a:srgbClr val="4A5D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локально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12242750" y="8571607"/>
            <a:ext cx="52847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СОВМЕСТИМОСТЬ С ОТКРЫТЫМИ МОДЕЛЯМИ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242750" y="8847832"/>
            <a:ext cx="4120515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архитектурная независимость от вендора LLM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914400" y="9558338"/>
            <a:ext cx="164592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14400" y="9720263"/>
            <a:ext cx="629558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Система автоматизированного обогащения товарных данных · ВКР магистра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6773525" y="9720263"/>
            <a:ext cx="676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19</a:t>
            </a:r>
            <a:pPr algn="l" indent="0" marL="0">
              <a:buNone/>
            </a:pPr>
            <a:r>
              <a:rPr lang="en-US" sz="1125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25" dirty="0"/>
          </a:p>
        </p:txBody>
      </p:sp>
      <p:pic>
        <p:nvPicPr>
          <p:cNvPr id="25" name="Picture 24" descr="ma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19" y="411480"/>
            <a:ext cx="777240" cy="7487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283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51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275" dirty="0"/>
          </a:p>
        </p:txBody>
      </p:sp>
      <p:sp>
        <p:nvSpPr>
          <p:cNvPr id="3" name="Shape 1"/>
          <p:cNvSpPr/>
          <p:nvPr/>
        </p:nvSpPr>
        <p:spPr>
          <a:xfrm>
            <a:off x="1293168" y="771525"/>
            <a:ext cx="38100" cy="38100"/>
          </a:xfrm>
          <a:prstGeom prst="ellipse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502718" y="685800"/>
            <a:ext cx="204527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ПОСТАНОВКА · ЗАДАЧИ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6952976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42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Задачи работы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100039"/>
            <a:ext cx="147161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Пять последовательных задач — от архитектурного решения до демонстрационного комплекса.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880247"/>
            <a:ext cx="16459200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933477"/>
            <a:ext cx="83820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981200" y="2852514"/>
            <a:ext cx="15854172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spc="-12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Спроектировать архитектуру системы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981200" y="3313509"/>
            <a:ext cx="1275397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Гибридный каскад с многоуровневой фильтрацией по уверенности и явным разделением слоёв.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914400" y="5184204"/>
            <a:ext cx="16459200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4237434"/>
            <a:ext cx="83820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981200" y="4156472"/>
            <a:ext cx="15854172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spc="-12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Реализовать слои каскада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981200" y="4617467"/>
            <a:ext cx="1275397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Регулярные выражения, классификатор машинного обучения на эмбеддингах, байесовский валидатор и запасной слой на LLM.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914400" y="6488162"/>
            <a:ext cx="16459200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5541392"/>
            <a:ext cx="83820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981200" y="5460429"/>
            <a:ext cx="15854172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spc="-12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Построить эталонную выборку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81200" y="5921425"/>
            <a:ext cx="1275397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Разметка трёх категорий без пересечения брендов: слабый надзор OFF, согласие LLM, слепая ре-разметка.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914400" y="7792120"/>
            <a:ext cx="16459200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6845350"/>
            <a:ext cx="83820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981200" y="6764387"/>
            <a:ext cx="15854172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spc="-12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Провести оценку качества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981200" y="7225382"/>
            <a:ext cx="1275397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Точность, покрытие и стоимость; сравнение с прямым вызовом LLM; вклад каждого слоя.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914400" y="8149307"/>
            <a:ext cx="83820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981200" y="8068345"/>
            <a:ext cx="15854172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spc="-12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Создать демонстрационный комплекс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981200" y="8529340"/>
            <a:ext cx="1275397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Веб-интерфейс оператора и API; три сценария развёртывания Слоя 4.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914400" y="9558338"/>
            <a:ext cx="164592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14400" y="9720263"/>
            <a:ext cx="629558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Система автоматизированного обогащения товарных данных · ВКР магистра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6773525" y="9720263"/>
            <a:ext cx="676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19</a:t>
            </a:r>
            <a:pPr algn="l" indent="0" marL="0">
              <a:buNone/>
            </a:pPr>
            <a:r>
              <a:rPr lang="en-US" sz="1125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25" dirty="0"/>
          </a:p>
        </p:txBody>
      </p:sp>
      <p:pic>
        <p:nvPicPr>
          <p:cNvPr id="29" name="Picture 28" descr="ma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19" y="411480"/>
            <a:ext cx="777240" cy="7487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914400" y="685800"/>
            <a:ext cx="283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51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275" dirty="0"/>
          </a:p>
        </p:txBody>
      </p:sp>
      <p:sp>
        <p:nvSpPr>
          <p:cNvPr id="3" name="Shape 1"/>
          <p:cNvSpPr/>
          <p:nvPr/>
        </p:nvSpPr>
        <p:spPr>
          <a:xfrm>
            <a:off x="1293168" y="771525"/>
            <a:ext cx="38100" cy="38100"/>
          </a:xfrm>
          <a:prstGeom prst="ellipse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502718" y="685800"/>
            <a:ext cx="194161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ЗАДАЧА 1 · КОНТЕКСТ СИСТЕМЫ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6952976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42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Архитектура программного средства по ГОСТ Р 57100-2016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100039"/>
            <a:ext cx="147161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Контекстная диаграмма: исследуемая система, заинтересованные стороны, внешние системы и хранилища данных.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14400" y="9558338"/>
            <a:ext cx="164592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14400" y="9720263"/>
            <a:ext cx="629558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Система автоматизированного обогащения товарных данных · ВКР магистра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6773525" y="9720263"/>
            <a:ext cx="676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19</a:t>
            </a:r>
            <a:pPr algn="l" indent="0" marL="0">
              <a:buNone/>
            </a:pPr>
            <a:r>
              <a:rPr lang="en-US" sz="1125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25" dirty="0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19" y="411480"/>
            <a:ext cx="777240" cy="748786"/>
          </a:xfrm>
          <a:prstGeom prst="rect">
            <a:avLst/>
          </a:prstGeom>
        </p:spPr>
      </p:pic>
      <p:pic>
        <p:nvPicPr>
          <p:cNvPr id="37" name="Picture 36" descr="gost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2569" y="3017520"/>
            <a:ext cx="1228286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283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51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275" dirty="0"/>
          </a:p>
        </p:txBody>
      </p:sp>
      <p:sp>
        <p:nvSpPr>
          <p:cNvPr id="3" name="Shape 1"/>
          <p:cNvSpPr/>
          <p:nvPr/>
        </p:nvSpPr>
        <p:spPr>
          <a:xfrm>
            <a:off x="1293168" y="771525"/>
            <a:ext cx="38100" cy="38100"/>
          </a:xfrm>
          <a:prstGeom prst="ellipse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502718" y="685800"/>
            <a:ext cx="194161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ЗАДАЧА 1 · АРХИТЕКТУРА КАСКАДА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6952976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42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Архитектура гибридного каскада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100039"/>
            <a:ext cx="147161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Вход — партнёр-доступные поля (product_name, brands, ingredients_text, quantity); выход — заполненная карточка товара с указанием слоя-источника. Каждая ячейка проходит слои по возрастанию стоимости, пока один из них не закроет её с уверенностью выше калиброванного порога.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185889"/>
            <a:ext cx="3200400" cy="2286000"/>
          </a:xfrm>
          <a:prstGeom prst="roundRect">
            <a:avLst>
              <a:gd name="adj" fmla="val 1667"/>
            </a:avLst>
          </a:prstGeom>
          <a:solidFill>
            <a:srgbClr val="EEEAE0"/>
          </a:solidFill>
          <a:ln w="9525">
            <a:solidFill>
              <a:srgbClr val="D9D3C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33475" y="3424014"/>
            <a:ext cx="284511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СЛОЙ 0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133475" y="3762152"/>
            <a:ext cx="284511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9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Классификатор категории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33475" y="4171727"/>
            <a:ext cx="2845118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XGBoost на векторных представлениях SBERT + детектор аномальных входов. Маршрутизирует товар в одну из категорий (паста, шоколад, сыры) и подключает соответствующие модели слоёв 2–3.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4229100" y="3185889"/>
            <a:ext cx="3200400" cy="2286000"/>
          </a:xfrm>
          <a:prstGeom prst="roundRect">
            <a:avLst>
              <a:gd name="adj" fmla="val 1667"/>
            </a:avLst>
          </a:prstGeom>
          <a:solidFill>
            <a:srgbClr val="EEEAE0"/>
          </a:solidFill>
          <a:ln w="9525">
            <a:solidFill>
              <a:srgbClr val="D9D3C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448175" y="3424014"/>
            <a:ext cx="284511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СЛОЙ 1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448175" y="3762152"/>
            <a:ext cx="284511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9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Регулярные выражения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48175" y="4171727"/>
            <a:ext cx="2845118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Детерминированные грамматики словарных полей: жирность, масса, форма пасты, тип крупы. 28 модульных тестов; бесплатно и без обучения.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7543800" y="3185889"/>
            <a:ext cx="3200400" cy="2286000"/>
          </a:xfrm>
          <a:prstGeom prst="roundRect">
            <a:avLst>
              <a:gd name="adj" fmla="val 1667"/>
            </a:avLst>
          </a:prstGeom>
          <a:solidFill>
            <a:srgbClr val="EEEAE0"/>
          </a:solidFill>
          <a:ln w="9525">
            <a:solidFill>
              <a:srgbClr val="D9D3C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62875" y="3424014"/>
            <a:ext cx="284511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СЛОЙ 2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7762875" y="3762152"/>
            <a:ext cx="284511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9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Машинное обучение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62875" y="4171727"/>
            <a:ext cx="2845118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XGBoost на 384-мерных векторных представлениях paraphrase-multilingual-MiniLM (50+ языков). Поатрибутный порог уверенности с изотонической калибровкой.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10858500" y="3185889"/>
            <a:ext cx="3200400" cy="2286000"/>
          </a:xfrm>
          <a:prstGeom prst="roundRect">
            <a:avLst>
              <a:gd name="adj" fmla="val 1667"/>
            </a:avLst>
          </a:prstGeom>
          <a:solidFill>
            <a:srgbClr val="EEEAE0"/>
          </a:solidFill>
          <a:ln w="9525">
            <a:solidFill>
              <a:srgbClr val="D9D3C4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077575" y="3424014"/>
            <a:ext cx="284511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СЛОЙ 3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1077575" y="3762152"/>
            <a:ext cx="284511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9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Байес-валидатор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077575" y="4171727"/>
            <a:ext cx="2845118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Сеть условных вероятностей (pgmpy, Hill Climb + BIC). Отбраковывает межатрибутно-несовместные предсказания по плотности ниже 5-го перцентиля обучающего распределения.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14173200" y="3185889"/>
            <a:ext cx="3200400" cy="2286000"/>
          </a:xfrm>
          <a:prstGeom prst="roundRect">
            <a:avLst>
              <a:gd name="adj" fmla="val 1667"/>
            </a:avLst>
          </a:prstGeom>
          <a:ln w="9525">
            <a:solidFill>
              <a:srgbClr val="B0833F"/>
            </a:solidFill>
            <a:prstDash val="dash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4392275" y="3424014"/>
            <a:ext cx="284511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B08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СЛОЙ 4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4392275" y="3762152"/>
            <a:ext cx="284511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9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Запасной слой на LLM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392275" y="4171727"/>
            <a:ext cx="2845118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Унифицированный JSON-протокол. Коммерческие (Gemini 2.5 Flash, Sonnet 4.5, GPT-4o) или открытые модели (gpt-oss-120b, llama-3.2-3b) на остаточные ячейки.</a:t>
            </a:r>
            <a:endParaRPr lang="en-US" sz="1425" dirty="0"/>
          </a:p>
        </p:txBody>
      </p:sp>
      <p:sp>
        <p:nvSpPr>
          <p:cNvPr id="27" name="Shape 25"/>
          <p:cNvSpPr/>
          <p:nvPr/>
        </p:nvSpPr>
        <p:spPr>
          <a:xfrm>
            <a:off x="914400" y="5814789"/>
            <a:ext cx="16459200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14400" y="6329139"/>
            <a:ext cx="1473375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B08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КОНЪЮНКТИВНОЕ УСЛОВИЕ НА ПОРОГИ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914400" y="6591077"/>
            <a:ext cx="11772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Уверенность каждого слоя калибруется изотонической регрессией. Пороги задаются по каждому атрибуту независимо; если уверенность ниже порога — слой выдаёт отказ от ответа и решение переходит дальше.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5600015" y="6052914"/>
            <a:ext cx="177358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200" b="1" spc="-84" kern="0" dirty="0">
                <a:solidFill>
                  <a:srgbClr val="4A5D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8,6 %</a:t>
            </a:r>
            <a:endParaRPr lang="en-US" sz="4200" dirty="0"/>
          </a:p>
        </p:txBody>
      </p:sp>
      <p:sp>
        <p:nvSpPr>
          <p:cNvPr id="31" name="Text 29"/>
          <p:cNvSpPr/>
          <p:nvPr/>
        </p:nvSpPr>
        <p:spPr>
          <a:xfrm>
            <a:off x="15600015" y="6681564"/>
            <a:ext cx="177358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spc="68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ЯЧЕЕК ДОХОДИТ ДО LLM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914400" y="9558338"/>
            <a:ext cx="164592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14400" y="9720263"/>
            <a:ext cx="629558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Система автоматизированного обогащения товарных данных · ВКР магистра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6773525" y="9720263"/>
            <a:ext cx="676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19</a:t>
            </a:r>
            <a:pPr algn="l" indent="0" marL="0">
              <a:buNone/>
            </a:pPr>
            <a:r>
              <a:rPr lang="en-US" sz="1125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25" dirty="0"/>
          </a:p>
        </p:txBody>
      </p:sp>
      <p:pic>
        <p:nvPicPr>
          <p:cNvPr id="35" name="Picture 34" descr="ma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19" y="411480"/>
            <a:ext cx="777240" cy="7487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914400" y="685800"/>
            <a:ext cx="283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51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275" dirty="0"/>
          </a:p>
        </p:txBody>
      </p:sp>
      <p:sp>
        <p:nvSpPr>
          <p:cNvPr id="3" name="Shape 1"/>
          <p:cNvSpPr/>
          <p:nvPr/>
        </p:nvSpPr>
        <p:spPr>
          <a:xfrm>
            <a:off x="1293168" y="771525"/>
            <a:ext cx="38100" cy="38100"/>
          </a:xfrm>
          <a:prstGeom prst="ellipse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502718" y="685800"/>
            <a:ext cx="194161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ЗАДАЧА 2 · РЕАЛИЗАЦИЯ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6952976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42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Основы технического проекта программного средства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100039"/>
            <a:ext cx="147161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Программная архитектура: API-слой (Go gateway + FastAPI), сервисный слой, доменный слой из пяти слоёв каскада, слой хранения.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14400" y="9558338"/>
            <a:ext cx="164592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14400" y="9720263"/>
            <a:ext cx="629558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Система автоматизированного обогащения товарных данных · ВКР магистра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6773525" y="9720263"/>
            <a:ext cx="676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19</a:t>
            </a:r>
            <a:pPr algn="l" indent="0" marL="0">
              <a:buNone/>
            </a:pPr>
            <a:r>
              <a:rPr lang="en-US" sz="1125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25" dirty="0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19" y="411480"/>
            <a:ext cx="777240" cy="748786"/>
          </a:xfrm>
          <a:prstGeom prst="rect">
            <a:avLst/>
          </a:prstGeom>
        </p:spPr>
      </p:pic>
      <p:pic>
        <p:nvPicPr>
          <p:cNvPr id="37" name="Picture 36" descr="solution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9285" y="3017520"/>
            <a:ext cx="10449429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283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51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275" dirty="0"/>
          </a:p>
        </p:txBody>
      </p:sp>
      <p:sp>
        <p:nvSpPr>
          <p:cNvPr id="3" name="Shape 1"/>
          <p:cNvSpPr/>
          <p:nvPr/>
        </p:nvSpPr>
        <p:spPr>
          <a:xfrm>
            <a:off x="1293168" y="771525"/>
            <a:ext cx="38100" cy="38100"/>
          </a:xfrm>
          <a:prstGeom prst="ellipse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502718" y="685800"/>
            <a:ext cx="204527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ЗАДАЧА 3 · МЕТОДИКА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6952976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42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Методика экспериментальной оценки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100039"/>
            <a:ext cx="147161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Эталонная разметка построена на открытом каталоге Open Food Facts для трёх категорий товаров. Тестовая выборка — без пересечения брендов: ни один бренд тестовой выборки не встречается в обучающей.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376389"/>
            <a:ext cx="164592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3690714"/>
            <a:ext cx="400278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spc="-120" kern="0" dirty="0">
                <a:solidFill>
                  <a:srgbClr val="4A5D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914400" y="4586064"/>
            <a:ext cx="400278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КАТЕГОРИИ ТОВАРОВ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914400" y="4828952"/>
            <a:ext cx="400278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Паста · шоколад · сыры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5105400" y="3690714"/>
            <a:ext cx="400278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spc="-120" kern="0" dirty="0">
                <a:solidFill>
                  <a:srgbClr val="4A5D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5105400" y="4586064"/>
            <a:ext cx="400278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ЦЕЛЕВЫХ АТРИБУТОВ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5105400" y="4828952"/>
            <a:ext cx="400278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Бинарные и категориальные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296400" y="3690714"/>
            <a:ext cx="400278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spc="-120" kern="0" dirty="0">
                <a:solidFill>
                  <a:srgbClr val="4A5D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4 350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9296400" y="4586064"/>
            <a:ext cx="400278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ТЕСТОВЫХ ЯЧЕЕК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9296400" y="4828952"/>
            <a:ext cx="400278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Товар × атрибут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3487400" y="3690714"/>
            <a:ext cx="400278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spc="-120" kern="0" dirty="0">
                <a:solidFill>
                  <a:srgbClr val="B08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95 </a:t>
            </a:r>
            <a:pPr algn="l" indent="0" marL="0">
              <a:lnSpc>
                <a:spcPct val="100000"/>
              </a:lnSpc>
              <a:buNone/>
            </a:pPr>
            <a:r>
              <a:rPr lang="en-US" sz="2700" spc="-120" kern="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13487400" y="4586064"/>
            <a:ext cx="400278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СОГЛАСОВАННОСТЬ С OPUS 4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3487400" y="4828952"/>
            <a:ext cx="400278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Слепая ре-разметка эталона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914400" y="7824787"/>
            <a:ext cx="16459200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4400" y="8177213"/>
            <a:ext cx="169529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ТРИ НЕЗАВИСИМЫХ ИСТОЧНИКА ЭТАЛОНА СНИЖАЮТ РИСК УТЕЧКИ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914400" y="8534400"/>
            <a:ext cx="54416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Теги каталога OFF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8829675"/>
            <a:ext cx="544167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Регуляторные метки и категории — внешний источник, защищённый правом ЕС.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6502375" y="8534400"/>
            <a:ext cx="54416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Согласие трёх LLM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02375" y="8829675"/>
            <a:ext cx="544167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Поатрибутное голосование независимых моделей с проверкой Opus 4 на спорных позициях.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12090350" y="8534400"/>
            <a:ext cx="544174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Слепая ре-разметка эталона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090350" y="8829675"/>
            <a:ext cx="5441747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Opus 4 размечает только партнёр-поля, без доступа к тегам OFF и промежуточным меткам.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914400" y="9558338"/>
            <a:ext cx="164592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14400" y="9720263"/>
            <a:ext cx="629558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Система автоматизированного обогащения товарных данных · ВКР магистра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6773525" y="9720263"/>
            <a:ext cx="676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19</a:t>
            </a:r>
            <a:pPr algn="l" indent="0" marL="0">
              <a:buNone/>
            </a:pPr>
            <a:r>
              <a:rPr lang="en-US" sz="1125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25" dirty="0"/>
          </a:p>
        </p:txBody>
      </p:sp>
      <p:pic>
        <p:nvPicPr>
          <p:cNvPr id="31" name="Picture 30" descr="ma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19" y="411480"/>
            <a:ext cx="777240" cy="7487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283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51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275" dirty="0"/>
          </a:p>
        </p:txBody>
      </p:sp>
      <p:sp>
        <p:nvSpPr>
          <p:cNvPr id="3" name="Shape 1"/>
          <p:cNvSpPr/>
          <p:nvPr/>
        </p:nvSpPr>
        <p:spPr>
          <a:xfrm>
            <a:off x="1293168" y="771525"/>
            <a:ext cx="38100" cy="38100"/>
          </a:xfrm>
          <a:prstGeom prst="ellipse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502718" y="685800"/>
            <a:ext cx="225251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ЗАДАЧА 4 · РЕЗУЛЬТАТЫ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6952976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42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Главный результат: точность ↔ стоимость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100039"/>
            <a:ext cx="147161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конфигураций; вертикальные планки — 95 %-й доверительный интервал бутстрэпа с кластеризацией по брендам. В промышленном диапазоне стоимости каскад точнее любого прямого вызова LLM.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2776314"/>
            <a:ext cx="9334500" cy="6596286"/>
          </a:xfrm>
          <a:prstGeom prst="rect">
            <a:avLst/>
          </a:prstGeom>
          <a:ln w="9525">
            <a:solidFill>
              <a:srgbClr val="D9D3C4"/>
            </a:solidFill>
            <a:prstDash val="dash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706100" y="2776314"/>
            <a:ext cx="6667500" cy="2119313"/>
          </a:xfrm>
          <a:prstGeom prst="rect">
            <a:avLst/>
          </a:prstGeom>
          <a:solidFill>
            <a:srgbClr val="20242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010900" y="3119214"/>
            <a:ext cx="623963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C8B7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КАСКАД + GEMINI 2.5 FLASH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1010900" y="3457352"/>
            <a:ext cx="623963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126" kern="0" dirty="0">
                <a:solidFill>
                  <a:srgbClr val="F5F2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91,5 </a:t>
            </a:r>
            <a:pPr algn="l" indent="0" marL="0">
              <a:lnSpc>
                <a:spcPct val="100000"/>
              </a:lnSpc>
              <a:buNone/>
            </a:pPr>
            <a:r>
              <a:rPr lang="en-US" sz="2400" spc="-126" kern="0" dirty="0">
                <a:solidFill>
                  <a:srgbClr val="F5F2EB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</a:t>
            </a:r>
            <a:endParaRPr lang="en-US" sz="6300" dirty="0"/>
          </a:p>
        </p:txBody>
      </p:sp>
      <p:sp>
        <p:nvSpPr>
          <p:cNvPr id="14" name="Text 12"/>
          <p:cNvSpPr/>
          <p:nvPr/>
        </p:nvSpPr>
        <p:spPr>
          <a:xfrm>
            <a:off x="11010900" y="4352702"/>
            <a:ext cx="623963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2EB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точности на эталонной выборке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706100" y="5124227"/>
            <a:ext cx="3257550" cy="1436340"/>
          </a:xfrm>
          <a:prstGeom prst="rect">
            <a:avLst/>
          </a:prstGeom>
          <a:solidFill>
            <a:srgbClr val="EEEAE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934700" y="5352827"/>
            <a:ext cx="288436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spc="-54" kern="0" dirty="0">
                <a:solidFill>
                  <a:srgbClr val="4A5D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≈ 275×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0934700" y="5905277"/>
            <a:ext cx="2884361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дешевле опорной конфигурации Sonnet 4.5 на каждое поле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4116050" y="5124227"/>
            <a:ext cx="3257550" cy="1436340"/>
          </a:xfrm>
          <a:prstGeom prst="rect">
            <a:avLst/>
          </a:prstGeom>
          <a:solidFill>
            <a:srgbClr val="EEEAE0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4344650" y="5352827"/>
            <a:ext cx="288436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spc="-54" kern="0" dirty="0">
                <a:solidFill>
                  <a:srgbClr val="B08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+7,7 </a:t>
            </a:r>
            <a:pPr algn="l" indent="0" marL="0">
              <a:lnSpc>
                <a:spcPct val="100000"/>
              </a:lnSpc>
              <a:buNone/>
            </a:pPr>
            <a:r>
              <a:rPr lang="en-US" sz="1650" spc="-54" kern="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п.п.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4344650" y="5905277"/>
            <a:ext cx="2884361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точнее, чем прямой вызов Sonnet 4.5 на каждое поле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706100" y="6789167"/>
            <a:ext cx="66675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706100" y="6970142"/>
            <a:ext cx="68675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Все гибриды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точнее любой промышленной конфигурации «LLM на каждое поле».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14400" y="9558338"/>
            <a:ext cx="164592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14400" y="9720263"/>
            <a:ext cx="629558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Система автоматизированного обогащения товарных данных · ВКР магистра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6773525" y="9720263"/>
            <a:ext cx="676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19</a:t>
            </a:r>
            <a:pPr algn="l" indent="0" marL="0">
              <a:buNone/>
            </a:pPr>
            <a:r>
              <a:rPr lang="en-US" sz="1125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25" dirty="0"/>
          </a:p>
        </p:txBody>
      </p:sp>
      <p:pic>
        <p:nvPicPr>
          <p:cNvPr id="26" name="Picture 25" descr="cost_quality_scat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398328"/>
            <a:ext cx="9336024" cy="5355718"/>
          </a:xfrm>
          <a:prstGeom prst="rect">
            <a:avLst/>
          </a:prstGeom>
        </p:spPr>
      </p:pic>
      <p:pic>
        <p:nvPicPr>
          <p:cNvPr id="27" name="Picture 26" descr="mai_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90719" y="411480"/>
            <a:ext cx="777240" cy="7487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283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51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275" dirty="0"/>
          </a:p>
        </p:txBody>
      </p:sp>
      <p:sp>
        <p:nvSpPr>
          <p:cNvPr id="3" name="Shape 1"/>
          <p:cNvSpPr/>
          <p:nvPr/>
        </p:nvSpPr>
        <p:spPr>
          <a:xfrm>
            <a:off x="1293168" y="771525"/>
            <a:ext cx="38100" cy="38100"/>
          </a:xfrm>
          <a:prstGeom prst="ellipse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502718" y="685800"/>
            <a:ext cx="11125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ЗАДАЧА 4 · ВКЛАД СЛОЁВ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6952976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42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Послойный вклад каскада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100039"/>
            <a:ext cx="147161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Распределение финальных предсказаний по слоям каскада на трёх категориях товаров.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2776314"/>
            <a:ext cx="9334500" cy="6596286"/>
          </a:xfrm>
          <a:prstGeom prst="rect">
            <a:avLst/>
          </a:prstGeom>
          <a:ln w="9525">
            <a:solidFill>
              <a:srgbClr val="D9D3C4"/>
            </a:solidFill>
            <a:prstDash val="dash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706100" y="2776314"/>
            <a:ext cx="6667500" cy="1559123"/>
          </a:xfrm>
          <a:prstGeom prst="rect">
            <a:avLst/>
          </a:prstGeom>
          <a:solidFill>
            <a:srgbClr val="EEEAE0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706100" y="2776314"/>
            <a:ext cx="19050" cy="1559123"/>
          </a:xfrm>
          <a:prstGeom prst="rect">
            <a:avLst/>
          </a:prstGeom>
          <a:solidFill>
            <a:srgbClr val="4A5DA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953750" y="2966814"/>
            <a:ext cx="637698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СЛОЙ 1 · РЕГУЛЯРНЫЕ ВЫРАЖЕНИЯ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0953750" y="3209702"/>
            <a:ext cx="637698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spc="-27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18–22 </a:t>
            </a:r>
            <a:pPr algn="l" indent="0" marL="0">
              <a:lnSpc>
                <a:spcPct val="100000"/>
              </a:lnSpc>
              <a:buNone/>
            </a:pPr>
            <a:r>
              <a:rPr lang="en-US" sz="1650" spc="-27" kern="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0953750" y="3647852"/>
            <a:ext cx="6376988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Закрывают словарные поля в пасте и шоколаде; в сырах детерминированные правила не строятся.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706100" y="4506888"/>
            <a:ext cx="6667500" cy="1559123"/>
          </a:xfrm>
          <a:prstGeom prst="rect">
            <a:avLst/>
          </a:prstGeom>
          <a:solidFill>
            <a:srgbClr val="EEEAE0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0706100" y="4506888"/>
            <a:ext cx="19050" cy="1559123"/>
          </a:xfrm>
          <a:prstGeom prst="rect">
            <a:avLst/>
          </a:prstGeom>
          <a:solidFill>
            <a:srgbClr val="4A5DA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953750" y="4697388"/>
            <a:ext cx="637698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СЛОЙ 2 · МАШИННОЕ ОБУЧЕНИЕ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0953750" y="4940275"/>
            <a:ext cx="637698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spc="-27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68–87 </a:t>
            </a:r>
            <a:pPr algn="l" indent="0" marL="0">
              <a:lnSpc>
                <a:spcPct val="100000"/>
              </a:lnSpc>
              <a:buNone/>
            </a:pPr>
            <a:r>
              <a:rPr lang="en-US" sz="1650" spc="-27" kern="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0953750" y="5378425"/>
            <a:ext cx="6376988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XGBoost на многоязычных векторных представлениях закрывает большую часть ячеек локально, без обращения к внешним сервисам.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0706100" y="7968420"/>
            <a:ext cx="6667500" cy="1559123"/>
          </a:xfrm>
          <a:prstGeom prst="rect">
            <a:avLst/>
          </a:prstGeom>
          <a:solidFill>
            <a:srgbClr val="EEEAE0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706100" y="7968420"/>
            <a:ext cx="19050" cy="1559123"/>
          </a:xfrm>
          <a:prstGeom prst="rect">
            <a:avLst/>
          </a:prstGeom>
          <a:solidFill>
            <a:srgbClr val="B0833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953750" y="8158920"/>
            <a:ext cx="637698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B08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СЛОЙ 4 · ЗАПАСНОЙ СЛОЙ НА LLM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0953750" y="8401808"/>
            <a:ext cx="637698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spc="-27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5–13 </a:t>
            </a:r>
            <a:pPr algn="l" indent="0" marL="0">
              <a:lnSpc>
                <a:spcPct val="100000"/>
              </a:lnSpc>
              <a:buNone/>
            </a:pPr>
            <a:r>
              <a:rPr lang="en-US" sz="1650" spc="-27" kern="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10953750" y="8839958"/>
            <a:ext cx="6376988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Дорогой слой запрашивается только на остаток, не закрытый с нужной уверенностью.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14400" y="9558338"/>
            <a:ext cx="164592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14400" y="9720263"/>
            <a:ext cx="629558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Система автоматизированного обогащения товарных данных · ВКР магистра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6773525" y="9720263"/>
            <a:ext cx="676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19</a:t>
            </a:r>
            <a:pPr algn="l" indent="0" marL="0">
              <a:buNone/>
            </a:pPr>
            <a:r>
              <a:rPr lang="en-US" sz="1125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25" dirty="0"/>
          </a:p>
        </p:txBody>
      </p:sp>
      <p:sp>
        <p:nvSpPr>
          <p:cNvPr id="29" name="L3_Bayes_29"/>
          <p:cNvSpPr/>
          <p:nvPr/>
        </p:nvSpPr>
        <p:spPr>
          <a:xfrm>
            <a:off x="10706100" y="6237461"/>
            <a:ext cx="6667500" cy="1559123"/>
          </a:xfrm>
          <a:prstGeom prst="rect">
            <a:avLst/>
          </a:prstGeom>
          <a:solidFill>
            <a:srgbClr val="EEEAE0"/>
          </a:solidFill>
          <a:ln/>
        </p:spPr>
        <p:txBody>
          <a:bodyPr/>
          <a:p/>
        </p:txBody>
      </p:sp>
      <p:sp>
        <p:nvSpPr>
          <p:cNvPr id="30" name="L3_Bayes_30"/>
          <p:cNvSpPr/>
          <p:nvPr/>
        </p:nvSpPr>
        <p:spPr>
          <a:xfrm>
            <a:off x="10706100" y="6237461"/>
            <a:ext cx="19050" cy="1559123"/>
          </a:xfrm>
          <a:prstGeom prst="rect">
            <a:avLst/>
          </a:prstGeom>
          <a:solidFill>
            <a:srgbClr val="B0833F"/>
          </a:solidFill>
          <a:ln/>
        </p:spPr>
        <p:txBody>
          <a:bodyPr/>
          <a:p/>
        </p:txBody>
      </p:sp>
      <p:sp>
        <p:nvSpPr>
          <p:cNvPr id="31" name="L3_Bayes_31"/>
          <p:cNvSpPr/>
          <p:nvPr/>
        </p:nvSpPr>
        <p:spPr>
          <a:xfrm>
            <a:off x="10953750" y="6427961"/>
            <a:ext cx="637698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B08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СЛОЙ 3 · БАЙЕС-ВАЛИДАТОР</a:t>
            </a:r>
            <a:endParaRPr lang="en-US" sz="1125" dirty="0"/>
          </a:p>
        </p:txBody>
      </p:sp>
      <p:sp>
        <p:nvSpPr>
          <p:cNvPr id="32" name="L3_Bayes_32"/>
          <p:cNvSpPr/>
          <p:nvPr/>
        </p:nvSpPr>
        <p:spPr>
          <a:xfrm>
            <a:off x="10953750" y="6670849"/>
            <a:ext cx="637698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spc="-27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+38 </a:t>
            </a:r>
            <a:pPr algn="l" indent="0" marL="0">
              <a:lnSpc>
                <a:spcPct val="100000"/>
              </a:lnSpc>
              <a:buNone/>
            </a:pPr>
            <a:r>
              <a:rPr lang="en-US" sz="1650" spc="-27" kern="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п.п.</a:t>
            </a:r>
            <a:endParaRPr lang="en-US" sz="2700" dirty="0"/>
          </a:p>
        </p:txBody>
      </p:sp>
      <p:sp>
        <p:nvSpPr>
          <p:cNvPr id="33" name="L3_Bayes_33"/>
          <p:cNvSpPr/>
          <p:nvPr/>
        </p:nvSpPr>
        <p:spPr>
          <a:xfrm>
            <a:off x="10953750" y="7108999"/>
            <a:ext cx="6376988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Селективный валидатор плотностей: на атрибуте «содержит орехи» в шоколаде даёт +38 п.п., на других атрибутах нейтрален.</a:t>
            </a:r>
            <a:endParaRPr lang="en-US" sz="1350" dirty="0"/>
          </a:p>
        </p:txBody>
      </p:sp>
      <p:pic>
        <p:nvPicPr>
          <p:cNvPr id="34" name="Picture 33" descr="layer_con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558" y="2779776"/>
            <a:ext cx="9323706" cy="6592824"/>
          </a:xfrm>
          <a:prstGeom prst="rect">
            <a:avLst/>
          </a:prstGeom>
        </p:spPr>
      </p:pic>
      <p:pic>
        <p:nvPicPr>
          <p:cNvPr id="35" name="Picture 34" descr="mai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90719" y="411480"/>
            <a:ext cx="777240" cy="7487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283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51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275" dirty="0"/>
          </a:p>
        </p:txBody>
      </p:sp>
      <p:sp>
        <p:nvSpPr>
          <p:cNvPr id="3" name="Shape 1"/>
          <p:cNvSpPr/>
          <p:nvPr/>
        </p:nvSpPr>
        <p:spPr>
          <a:xfrm>
            <a:off x="1293168" y="771525"/>
            <a:ext cx="38100" cy="38100"/>
          </a:xfrm>
          <a:prstGeom prst="ellipse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502718" y="685800"/>
            <a:ext cx="225251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ЗАДАЧА 4 · ОТКРЫТЫЕ МОДЕЛИ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6952976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42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Развёртывание на открытых моделях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100039"/>
            <a:ext cx="147161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Каскад архитектурно независим от поставщика LLM. С открытой моделью gpt-oss-120b в роли Слоя 4 возможно полностью локальное развёртывание без передачи данных во внешние сервисы.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3300189"/>
            <a:ext cx="820178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B08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ПРИРОСТ ОТ КАСКАДНОЙ АРХИТЕКТУРЫ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914400" y="3771677"/>
            <a:ext cx="174843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96" kern="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69,3 </a:t>
            </a:r>
            <a:pPr algn="l" indent="0" marL="0">
              <a:lnSpc>
                <a:spcPct val="100000"/>
              </a:lnSpc>
              <a:buNone/>
            </a:pPr>
            <a:r>
              <a:rPr lang="en-US" sz="1950" b="1" spc="-96" kern="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14400" y="4457477"/>
            <a:ext cx="174843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ПРЯМОЙ GPT-OSS-120B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815233" y="4005039"/>
            <a:ext cx="28269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B08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250332" y="3638327"/>
            <a:ext cx="20465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spc="-120" kern="0" dirty="0">
                <a:solidFill>
                  <a:srgbClr val="4A5D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90,5 </a:t>
            </a:r>
            <a:pPr algn="l" indent="0" marL="0">
              <a:lnSpc>
                <a:spcPct val="100000"/>
              </a:lnSpc>
              <a:buNone/>
            </a:pPr>
            <a:r>
              <a:rPr lang="en-US" sz="2400" spc="-120" kern="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3250332" y="4476527"/>
            <a:ext cx="204653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КАСКАД + GPT-OSS-120B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4881339"/>
            <a:ext cx="2465859" cy="490538"/>
          </a:xfrm>
          <a:prstGeom prst="rect">
            <a:avLst/>
          </a:prstGeom>
          <a:solidFill>
            <a:srgbClr val="B0833F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04900" y="5014689"/>
            <a:ext cx="2161059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F5F2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+21,2 п.п. точности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410700" y="3300189"/>
            <a:ext cx="820178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ЦЕНА ЛОКАЛЬНОСТИ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9410700" y="3638327"/>
            <a:ext cx="8201787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132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−1,0 </a:t>
            </a:r>
            <a:pPr algn="l" indent="0" marL="0">
              <a:lnSpc>
                <a:spcPct val="100000"/>
              </a:lnSpc>
              <a:buNone/>
            </a:pPr>
            <a:r>
              <a:rPr lang="en-US" sz="2400" spc="-132" kern="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п.п.</a:t>
            </a:r>
            <a:endParaRPr lang="en-US" sz="6600" dirty="0"/>
          </a:p>
        </p:txBody>
      </p:sp>
      <p:sp>
        <p:nvSpPr>
          <p:cNvPr id="17" name="Text 15"/>
          <p:cNvSpPr/>
          <p:nvPr/>
        </p:nvSpPr>
        <p:spPr>
          <a:xfrm>
            <a:off x="9410700" y="4628927"/>
            <a:ext cx="5886450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всего на столько каскад + gpt-oss-120b уступает коммерческой конфигурации — при полной независимости от внешних API.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914400" y="7391400"/>
            <a:ext cx="169529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ТРИ СЦЕНАРИЯ РАЗВЁРТЫВАНИЯ СЛОЯ 4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914400" y="7805738"/>
            <a:ext cx="5334000" cy="1566863"/>
          </a:xfrm>
          <a:prstGeom prst="rect">
            <a:avLst/>
          </a:prstGeom>
          <a:solidFill>
            <a:srgbClr val="202428"/>
          </a:solidFill>
          <a:ln w="9525">
            <a:solidFill>
              <a:srgbClr val="20242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90625" y="8081962"/>
            <a:ext cx="492499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8B7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 Sonnet 4.5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190625" y="8386763"/>
            <a:ext cx="492499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5F2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Премиальный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90625" y="8839200"/>
            <a:ext cx="49249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5F2EB">
                    <a:alpha val="78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Максимальные точность и SLA вендора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77000" y="7805738"/>
            <a:ext cx="5334000" cy="1566863"/>
          </a:xfrm>
          <a:prstGeom prst="rect">
            <a:avLst/>
          </a:prstGeom>
          <a:solidFill>
            <a:srgbClr val="EEEAE0"/>
          </a:solidFill>
          <a:ln w="9525">
            <a:solidFill>
              <a:srgbClr val="D9D3C4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53225" y="8081962"/>
            <a:ext cx="492499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Gemini 2.5 Flash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6753225" y="8386763"/>
            <a:ext cx="492499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Бюджетный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6753225" y="8839200"/>
            <a:ext cx="49249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Парето-победитель: 91,5 % при минимальной цене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12039600" y="7805738"/>
            <a:ext cx="5334000" cy="1566863"/>
          </a:xfrm>
          <a:prstGeom prst="rect">
            <a:avLst/>
          </a:prstGeom>
          <a:solidFill>
            <a:srgbClr val="EEEAE0"/>
          </a:solidFill>
          <a:ln w="9525">
            <a:solidFill>
              <a:srgbClr val="D9D3C4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2315825" y="8081962"/>
            <a:ext cx="492499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gpt-oss-120b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12315825" y="8386763"/>
            <a:ext cx="492499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Локальный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2315825" y="8839200"/>
            <a:ext cx="49249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 не покидают периметр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914400" y="9558338"/>
            <a:ext cx="164592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14400" y="9720263"/>
            <a:ext cx="629558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Система автоматизированного обогащения товарных данных · ВКР магистра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6773525" y="9720263"/>
            <a:ext cx="676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19</a:t>
            </a:r>
            <a:pPr algn="l" indent="0" marL="0">
              <a:buNone/>
            </a:pPr>
            <a:r>
              <a:rPr lang="en-US" sz="1125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25" dirty="0"/>
          </a:p>
        </p:txBody>
      </p:sp>
      <p:pic>
        <p:nvPicPr>
          <p:cNvPr id="34" name="Picture 33" descr="ma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19" y="411480"/>
            <a:ext cx="777240" cy="7487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283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51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1275" dirty="0"/>
          </a:p>
        </p:txBody>
      </p:sp>
      <p:sp>
        <p:nvSpPr>
          <p:cNvPr id="3" name="Shape 1"/>
          <p:cNvSpPr/>
          <p:nvPr/>
        </p:nvSpPr>
        <p:spPr>
          <a:xfrm>
            <a:off x="1293168" y="771525"/>
            <a:ext cx="38100" cy="38100"/>
          </a:xfrm>
          <a:prstGeom prst="ellipse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502718" y="685800"/>
            <a:ext cx="277529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ЗАДАЧА 4 · ДОСТОВЕРНОСТЬ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6952976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42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Достоверность результата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100039"/>
            <a:ext cx="147161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Контроль на структурную утечку между эталоном и признаками: точность приведена в разрезе типа эталонного сигнала. При утечке выше был бы «текстовый» ярус — наблюдается обратное.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147789"/>
            <a:ext cx="8728323" cy="6224811"/>
          </a:xfrm>
          <a:prstGeom prst="rect">
            <a:avLst/>
          </a:prstGeom>
          <a:ln w="9525">
            <a:solidFill>
              <a:srgbClr val="D9D3C4"/>
            </a:solidFill>
            <a:prstDash val="dash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099923" y="3147789"/>
            <a:ext cx="7273677" cy="1376363"/>
          </a:xfrm>
          <a:prstGeom prst="rect">
            <a:avLst/>
          </a:prstGeom>
          <a:solidFill>
            <a:srgbClr val="EEEAE0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099923" y="3147789"/>
            <a:ext cx="19050" cy="1376363"/>
          </a:xfrm>
          <a:prstGeom prst="rect">
            <a:avLst/>
          </a:prstGeom>
          <a:solidFill>
            <a:srgbClr val="B0833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385673" y="3414489"/>
            <a:ext cx="692286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B08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ОПРОВЕРЖЕНИЕ ПРЕТЕНЗИИ О СТРУКТУРНОЙ УТЕЧКЕ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0385673" y="3714527"/>
            <a:ext cx="6922864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«Текстовый» ярус, делящий сигнал с признаками модели, —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самый низкий (81,8 %)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на 11,8 п.п. ниже тег-ярусного. Завышения за счёт утечки нет.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0099923" y="4828952"/>
            <a:ext cx="342900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538073" y="4828952"/>
            <a:ext cx="704059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Выборка без пересечения брендов.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Бренды теста не пересекаются с обучающими.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0099923" y="5285184"/>
            <a:ext cx="342900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538073" y="5285184"/>
            <a:ext cx="7040593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Абляция по расстоянию до ближайших соседей.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Точность не падает на семантически дальних товарах.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099923" y="6045250"/>
            <a:ext cx="342900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538073" y="6045250"/>
            <a:ext cx="704059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Робастность к языку.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Сопоставимая точность на 5 языках этикеток.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14400" y="9558338"/>
            <a:ext cx="164592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14400" y="9720263"/>
            <a:ext cx="629558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Система автоматизированного обогащения товарных данных · ВКР магистра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6773525" y="9720263"/>
            <a:ext cx="676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19</a:t>
            </a:r>
            <a:pPr algn="l" indent="0" marL="0">
              <a:buNone/>
            </a:pPr>
            <a:r>
              <a:rPr lang="en-US" sz="1125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25" dirty="0"/>
          </a:p>
        </p:txBody>
      </p:sp>
      <p:pic>
        <p:nvPicPr>
          <p:cNvPr id="24" name="Picture 23" descr="tier_break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13579"/>
            <a:ext cx="8732520" cy="4890977"/>
          </a:xfrm>
          <a:prstGeom prst="rect">
            <a:avLst/>
          </a:prstGeom>
        </p:spPr>
      </p:pic>
      <p:pic>
        <p:nvPicPr>
          <p:cNvPr id="25" name="Picture 24" descr="mai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90719" y="411480"/>
            <a:ext cx="777240" cy="7487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283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51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1275" dirty="0"/>
          </a:p>
        </p:txBody>
      </p:sp>
      <p:sp>
        <p:nvSpPr>
          <p:cNvPr id="3" name="Shape 1"/>
          <p:cNvSpPr/>
          <p:nvPr/>
        </p:nvSpPr>
        <p:spPr>
          <a:xfrm>
            <a:off x="1293168" y="771525"/>
            <a:ext cx="38100" cy="38100"/>
          </a:xfrm>
          <a:prstGeom prst="ellipse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502718" y="685800"/>
            <a:ext cx="194161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ЗАДАЧА 4 · АУДИТ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6952976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42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Цикл аудита и переобучения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100039"/>
            <a:ext cx="147161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Ручной аудит 239 товаров пасты выявил систематическую ошибку слабой разметки: редкие формы пасты помечались как «прочее». Переобучение на исправленных метках устранило дефект.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5911230"/>
            <a:ext cx="164592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6263655"/>
            <a:ext cx="390276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B08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КЛЮЧЕВОЙ ЭФФЕКТ — АТРИБУТ «ФОРМА ПАСТЫ»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914400" y="6525592"/>
            <a:ext cx="3902762" cy="1232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900" b="1" spc="-297" kern="0" dirty="0">
                <a:solidFill>
                  <a:srgbClr val="4A5D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+49 </a:t>
            </a:r>
            <a:pPr algn="l" indent="0" marL="0">
              <a:lnSpc>
                <a:spcPct val="95000"/>
              </a:lnSpc>
              <a:buNone/>
            </a:pPr>
            <a:r>
              <a:rPr lang="en-US" sz="3600" spc="-297" kern="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п.п.</a:t>
            </a:r>
            <a:endParaRPr lang="en-US" sz="9900" dirty="0"/>
          </a:p>
        </p:txBody>
      </p:sp>
      <p:sp>
        <p:nvSpPr>
          <p:cNvPr id="10" name="Text 8"/>
          <p:cNvSpPr/>
          <p:nvPr/>
        </p:nvSpPr>
        <p:spPr>
          <a:xfrm>
            <a:off x="5236890" y="6335167"/>
            <a:ext cx="1250081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ТОЧНОСТИ ПОСЛЕ ПЕРЕОБУЧЕНИЯ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36890" y="6611392"/>
            <a:ext cx="8633460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 исправленных аудитом метках (n = 83). Эффект сосредоточен там, где аудит вскрыл реальную ошибку разметки; на корректно размеченных атрибутах изменения в пределах шума.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8443913"/>
            <a:ext cx="824103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ВЫВОД ДЛЯ МЕТОДОЛОГИИ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14400" y="8743950"/>
            <a:ext cx="824103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Цикл «аудит → переобучение → ре-оценка» переводит систему из режима фиксированной точности в режим управляемого улучшения качества.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372600" y="8443913"/>
            <a:ext cx="824103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СТОИМОСТЬ АУДИТА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9372600" y="8743950"/>
            <a:ext cx="824103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Окупается однократно — исправленная метка улучшает все будущие прогнозы атрибута.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14400" y="9558338"/>
            <a:ext cx="164592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4400" y="9720263"/>
            <a:ext cx="629558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Система автоматизированного обогащения товарных данных · ВКР магистра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6773525" y="9720263"/>
            <a:ext cx="676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19</a:t>
            </a:r>
            <a:pPr algn="l" indent="0" marL="0">
              <a:buNone/>
            </a:pPr>
            <a:r>
              <a:rPr lang="en-US" sz="1125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25" dirty="0"/>
          </a:p>
        </p:txBody>
      </p:sp>
      <p:pic>
        <p:nvPicPr>
          <p:cNvPr id="19" name="Picture 18" descr="ma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19" y="411480"/>
            <a:ext cx="777240" cy="74878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283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51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</a:t>
            </a:r>
            <a:endParaRPr lang="en-US" sz="1275" dirty="0"/>
          </a:p>
        </p:txBody>
      </p:sp>
      <p:sp>
        <p:nvSpPr>
          <p:cNvPr id="3" name="Shape 1"/>
          <p:cNvSpPr/>
          <p:nvPr/>
        </p:nvSpPr>
        <p:spPr>
          <a:xfrm>
            <a:off x="1293168" y="771525"/>
            <a:ext cx="38100" cy="38100"/>
          </a:xfrm>
          <a:prstGeom prst="ellipse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502718" y="685800"/>
            <a:ext cx="245975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ЗАДАЧА 5 · ДЕМОКОМПЛЕКС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6952976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42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Демонстрационный комплекс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100039"/>
            <a:ext cx="147161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Каскад обёрнут в программный комплекс для оператора каталога: стабильный API и веб-интерфейс переводят ручное заполнение в режим выборочной верификации с явной отметкой слоя-источника.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147789"/>
            <a:ext cx="7620000" cy="6224811"/>
          </a:xfrm>
          <a:prstGeom prst="rect">
            <a:avLst/>
          </a:prstGeom>
          <a:ln w="9525">
            <a:solidFill>
              <a:srgbClr val="D9D3C4"/>
            </a:solidFill>
            <a:prstDash val="dash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991600" y="3147789"/>
            <a:ext cx="4095750" cy="1814513"/>
          </a:xfrm>
          <a:prstGeom prst="rect">
            <a:avLst/>
          </a:prstGeom>
          <a:solidFill>
            <a:srgbClr val="EEEAE0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991600" y="3147789"/>
            <a:ext cx="19050" cy="1814513"/>
          </a:xfrm>
          <a:prstGeom prst="rect">
            <a:avLst/>
          </a:prstGeom>
          <a:solidFill>
            <a:srgbClr val="4A5DA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239250" y="3376389"/>
            <a:ext cx="372808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9239250" y="3657377"/>
            <a:ext cx="372808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Веб-интерфейс оператора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239250" y="4005039"/>
            <a:ext cx="3728085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Карточка товара с по-атрибутным результатом: значение, слой-источник и индикатор уверенности.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13277850" y="3147789"/>
            <a:ext cx="4095750" cy="1814513"/>
          </a:xfrm>
          <a:prstGeom prst="rect">
            <a:avLst/>
          </a:prstGeom>
          <a:solidFill>
            <a:srgbClr val="EEEAE0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3277850" y="3147789"/>
            <a:ext cx="19050" cy="1814513"/>
          </a:xfrm>
          <a:prstGeom prst="rect">
            <a:avLst/>
          </a:prstGeom>
          <a:solidFill>
            <a:srgbClr val="4A5DA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525500" y="3376389"/>
            <a:ext cx="372808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3525500" y="3657377"/>
            <a:ext cx="372808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Программный интерфейс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525500" y="4005039"/>
            <a:ext cx="37280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Программный интерфейс обогащения с фиксированной спецификацией для встраивания в конвейер каталога интернет-магазина.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8991600" y="5152802"/>
            <a:ext cx="4095750" cy="1571625"/>
          </a:xfrm>
          <a:prstGeom prst="rect">
            <a:avLst/>
          </a:prstGeom>
          <a:solidFill>
            <a:srgbClr val="EEEAE0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991600" y="5152802"/>
            <a:ext cx="19050" cy="1571625"/>
          </a:xfrm>
          <a:prstGeom prst="rect">
            <a:avLst/>
          </a:prstGeom>
          <a:solidFill>
            <a:srgbClr val="4A5DAA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239250" y="5381402"/>
            <a:ext cx="372808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9239250" y="5662389"/>
            <a:ext cx="372808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Отметка источника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239250" y="6010052"/>
            <a:ext cx="37280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Каждое значение помечено слоем (регулярные выражения / машинное обучение / LLM) — оператор проверяет выборочно.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13277850" y="5152802"/>
            <a:ext cx="4095750" cy="1571625"/>
          </a:xfrm>
          <a:prstGeom prst="rect">
            <a:avLst/>
          </a:prstGeom>
          <a:solidFill>
            <a:srgbClr val="EEEAE0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3277850" y="5152802"/>
            <a:ext cx="19050" cy="1571625"/>
          </a:xfrm>
          <a:prstGeom prst="rect">
            <a:avLst/>
          </a:prstGeom>
          <a:solidFill>
            <a:srgbClr val="4A5DAA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3525500" y="5381402"/>
            <a:ext cx="372808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3525500" y="5662389"/>
            <a:ext cx="372808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Байес-валидатор как сигнал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3525500" y="6010052"/>
            <a:ext cx="37280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Подозрительные предсказания помечаются и направляются на приоритетную проверку.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8991600" y="7029227"/>
            <a:ext cx="8382000" cy="1374428"/>
          </a:xfrm>
          <a:prstGeom prst="rect">
            <a:avLst/>
          </a:prstGeom>
          <a:solidFill>
            <a:srgbClr val="20242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258300" y="7257827"/>
            <a:ext cx="808405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C8B7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ЭФФЕКТ ДЛЯ ОПЕРАТОРА КАТАЛОГА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9258300" y="7557864"/>
            <a:ext cx="8084058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5F2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Доля ячеек, требующих ручной верификации, снижается до 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E8C99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5–10 %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5F2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ручная нагрузка сокращается в 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E8C99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10–20 раз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5F2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14400" y="9558338"/>
            <a:ext cx="164592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14400" y="9720263"/>
            <a:ext cx="629558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Система автоматизированного обогащения товарных данных · ВКР магистра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16773525" y="9720263"/>
            <a:ext cx="676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19</a:t>
            </a:r>
            <a:pPr algn="l" indent="0" marL="0">
              <a:buNone/>
            </a:pPr>
            <a:r>
              <a:rPr lang="en-US" sz="1125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25" dirty="0"/>
          </a:p>
        </p:txBody>
      </p:sp>
      <p:pic>
        <p:nvPicPr>
          <p:cNvPr id="38" name="Picture 37" descr="ma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0719" y="411480"/>
            <a:ext cx="777240" cy="748786"/>
          </a:xfrm>
          <a:prstGeom prst="rect">
            <a:avLst/>
          </a:prstGeom>
        </p:spPr>
      </p:pic>
      <p:pic>
        <p:nvPicPr>
          <p:cNvPr id="39" name="Picture 38" descr="demo_chocolate_confli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9462" y="3145536"/>
            <a:ext cx="5746827" cy="62270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283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51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</a:t>
            </a:r>
            <a:endParaRPr lang="en-US" sz="1275" dirty="0"/>
          </a:p>
        </p:txBody>
      </p:sp>
      <p:sp>
        <p:nvSpPr>
          <p:cNvPr id="3" name="Shape 1"/>
          <p:cNvSpPr/>
          <p:nvPr/>
        </p:nvSpPr>
        <p:spPr>
          <a:xfrm>
            <a:off x="1293168" y="771525"/>
            <a:ext cx="38100" cy="38100"/>
          </a:xfrm>
          <a:prstGeom prst="ellipse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502718" y="685800"/>
            <a:ext cx="5944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ИТОГИ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6952976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42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Достигнутые результаты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100039"/>
            <a:ext cx="147161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Все числовые значения подтверждены воспроизводимыми артефактами эталонной выборки.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300189"/>
            <a:ext cx="4608537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966814"/>
            <a:ext cx="451819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ПОКАЗАТЕЛЬ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5522937" y="3300189"/>
            <a:ext cx="5266879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522937" y="2966814"/>
            <a:ext cx="51962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БЫЛО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10789816" y="3300189"/>
            <a:ext cx="6583784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789816" y="2966814"/>
            <a:ext cx="655269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СТАЛО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914400" y="4032647"/>
            <a:ext cx="4608537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3519264"/>
            <a:ext cx="451819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Точность обогащения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5522937" y="4032647"/>
            <a:ext cx="5266879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522937" y="3519264"/>
            <a:ext cx="5196285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100 % ручной труд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0789816" y="4032647"/>
            <a:ext cx="6583784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789816" y="3519264"/>
            <a:ext cx="6552698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каскад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4A5D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91,5 %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автоматически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14400" y="4765104"/>
            <a:ext cx="4608537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4251722"/>
            <a:ext cx="451819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Доля обращений к LLM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5522937" y="4765104"/>
            <a:ext cx="5266879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522937" y="4251722"/>
            <a:ext cx="5196285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100 % ячеек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789816" y="4765104"/>
            <a:ext cx="6583784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789816" y="4251722"/>
            <a:ext cx="6552698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4A5D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8,6 %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ячеек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914400" y="5497562"/>
            <a:ext cx="4608537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14400" y="4984179"/>
            <a:ext cx="451819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Открытая модель · локально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5522937" y="5497562"/>
            <a:ext cx="5266879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522937" y="4984179"/>
            <a:ext cx="5196285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прямой gpt-oss-120b — 69,3 %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0789816" y="5497562"/>
            <a:ext cx="6583784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0789816" y="4984179"/>
            <a:ext cx="6552698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каскад + gpt-oss —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4A5D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90,5 % (+21,2 п.п.)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914400" y="6230020"/>
            <a:ext cx="4608537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14400" y="5716637"/>
            <a:ext cx="451819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Ручная верификация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5522937" y="6230020"/>
            <a:ext cx="5266879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522937" y="5716637"/>
            <a:ext cx="5196285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~100 % ячеек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0789816" y="6230020"/>
            <a:ext cx="6583784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0789816" y="5716637"/>
            <a:ext cx="6552698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4A5D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~5–10 %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ячеек · в 10–20 раз меньше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914400" y="6449095"/>
            <a:ext cx="4518193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Независимость от вендора LLM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5522937" y="6449095"/>
            <a:ext cx="5196285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привязка к одному поставщику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0789816" y="6449095"/>
            <a:ext cx="6552698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4A5D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пять моделей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 близкой точностью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914400" y="9558338"/>
            <a:ext cx="164592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914400" y="9720263"/>
            <a:ext cx="629558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Система автоматизированного обогащения товарных данных · ВКР магистра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16773525" y="9720263"/>
            <a:ext cx="676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19</a:t>
            </a:r>
            <a:pPr algn="l" indent="0" marL="0">
              <a:buNone/>
            </a:pPr>
            <a:r>
              <a:rPr lang="en-US" sz="1125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25" dirty="0"/>
          </a:p>
        </p:txBody>
      </p:sp>
      <p:pic>
        <p:nvPicPr>
          <p:cNvPr id="43" name="Picture 42" descr="ma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19" y="411480"/>
            <a:ext cx="777240" cy="74878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283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51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</a:t>
            </a:r>
            <a:endParaRPr lang="en-US" sz="1275" dirty="0"/>
          </a:p>
        </p:txBody>
      </p:sp>
      <p:sp>
        <p:nvSpPr>
          <p:cNvPr id="3" name="Shape 1"/>
          <p:cNvSpPr/>
          <p:nvPr/>
        </p:nvSpPr>
        <p:spPr>
          <a:xfrm>
            <a:off x="1293168" y="771525"/>
            <a:ext cx="38100" cy="38100"/>
          </a:xfrm>
          <a:prstGeom prst="ellipse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502718" y="685800"/>
            <a:ext cx="11125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ЗАКЛЮЧЕНИЕ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6952976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42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Цель работы достигнута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935224"/>
            <a:ext cx="84124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984248" y="2852928"/>
            <a:ext cx="1585569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spc="-9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Архитектура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84248" y="3310128"/>
            <a:ext cx="141732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Спроектирована и реализована гибридная каскадная архитектура из пяти слоёв с фильтрацией по калиброванной уверенности.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4233672"/>
            <a:ext cx="84124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84248" y="4151376"/>
            <a:ext cx="1585569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spc="-9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Эталонная выборка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84248" y="4608576"/>
            <a:ext cx="141732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Построена эталонная выборка без пересечения брендов на трёх категориях с тройным контролем источника разметки.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5541264"/>
            <a:ext cx="84124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84248" y="5458968"/>
            <a:ext cx="1585569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spc="-9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Парето-доминирование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84248" y="5916168"/>
            <a:ext cx="141732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Каскад достигает 91,5 % точности, вызывая LLM лишь на 8,6 % ячеек — превосходит прямой вызов LLM.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" y="6848856"/>
            <a:ext cx="84124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84248" y="6766560"/>
            <a:ext cx="1585569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spc="-9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Открытая модель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84248" y="7223760"/>
            <a:ext cx="141732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Подтверждена работа на gpt-oss-120b: +21,2 п.п. над прямым вызовом при потере 1,0 п.п. к коммерческой.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14400" y="8147304"/>
            <a:ext cx="84124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84248" y="8065008"/>
            <a:ext cx="1585569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spc="-9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Демонстрационный комплекс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984248" y="8522208"/>
            <a:ext cx="141732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Создан комплекс с тремя сценариями развёртывания и выборочной верификацией оператором.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14400" y="9720263"/>
            <a:ext cx="629558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Система автоматизированного обогащения товарных данных · ВКР магистра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16773525" y="9720263"/>
            <a:ext cx="676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19</a:t>
            </a:r>
            <a:pPr algn="l" indent="0" marL="0">
              <a:buNone/>
            </a:pPr>
            <a:r>
              <a:rPr lang="en-US" sz="1125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25" dirty="0"/>
          </a:p>
        </p:txBody>
      </p:sp>
      <p:pic>
        <p:nvPicPr>
          <p:cNvPr id="27" name="Picture 26" descr="ma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19" y="411480"/>
            <a:ext cx="777240" cy="74878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283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51" kern="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</a:t>
            </a:r>
            <a:endParaRPr lang="en-US" sz="1275" dirty="0"/>
          </a:p>
        </p:txBody>
      </p:sp>
      <p:sp>
        <p:nvSpPr>
          <p:cNvPr id="3" name="Shape 1"/>
          <p:cNvSpPr/>
          <p:nvPr/>
        </p:nvSpPr>
        <p:spPr>
          <a:xfrm>
            <a:off x="1293168" y="771525"/>
            <a:ext cx="38100" cy="38100"/>
          </a:xfrm>
          <a:prstGeom prst="ellipse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502718" y="685800"/>
            <a:ext cx="80166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СПАСИБО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914400" y="2133600"/>
            <a:ext cx="16952976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0" b="1" spc="-270" kern="0" dirty="0">
                <a:solidFill>
                  <a:srgbClr val="2024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Спасибо за внимание</a:t>
            </a:r>
            <a:endParaRPr lang="en-US" sz="10800" dirty="0"/>
          </a:p>
        </p:txBody>
      </p:sp>
      <p:sp>
        <p:nvSpPr>
          <p:cNvPr id="6" name="Text 4"/>
          <p:cNvSpPr/>
          <p:nvPr/>
        </p:nvSpPr>
        <p:spPr>
          <a:xfrm>
            <a:off x="914400" y="3810000"/>
            <a:ext cx="1695297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A3F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Готов ответить на вопросы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7312968"/>
            <a:ext cx="164592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7589193"/>
            <a:ext cx="16952976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spc="90" kern="0" dirty="0">
                <a:solidFill>
                  <a:srgbClr val="3A3F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КЛЮЧЕВЫЕ ИСТОЧНИКИ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914400" y="7963049"/>
            <a:ext cx="3429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57300" y="7963049"/>
            <a:ext cx="7809357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Итоги интернет-торговли в России за 2025 год: пресс-релиз АКИТ от 19.02.2026 — URL: akit.ru/news (дата обр. 19.05.2026).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448800" y="7963049"/>
            <a:ext cx="3429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91700" y="7963049"/>
            <a:ext cx="7809357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Reimers N., Gurevych I. Making Monolingual Sentence Embeddings Multilingual using Knowledge Distillation // Proceedings of EMNLP 2020. ACL, 2020. P. 4512–4525.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8549729"/>
            <a:ext cx="3429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57300" y="8549729"/>
            <a:ext cx="7809357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Chen T., Guestrin C. XGBoost: A Scalable Tree Boosting System // KDD'16. ACM, 2016. P. 785–794.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48800" y="8549729"/>
            <a:ext cx="3429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91700" y="8549729"/>
            <a:ext cx="7809357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Тулупьев А. Л., Николенко С. И., Сироткин А. В. Байесовские сети: логико-вероятностный подход. — СПб.: Наука, 2006. — 607 с.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9136410"/>
            <a:ext cx="3429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4A5D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57300" y="9136410"/>
            <a:ext cx="7809357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F74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Ratner A. et al. Snorkel: Rapid Training Data Creation with Weak Supervision // VLDB Endowment. 2017.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9558338"/>
            <a:ext cx="164592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9720263"/>
            <a:ext cx="693428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Фролов Михаил Александрович · ВКР магистра · МАИ, кафедра 806 · Москва, 2026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6773525" y="9720263"/>
            <a:ext cx="676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024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 / 19</a:t>
            </a:r>
            <a:pPr algn="l" indent="0" marL="0">
              <a:buNone/>
            </a:pPr>
            <a:r>
              <a:rPr lang="en-US" sz="1125" dirty="0">
                <a:solidFill>
                  <a:srgbClr val="6F74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25" dirty="0"/>
          </a:p>
        </p:txBody>
      </p:sp>
      <p:pic>
        <p:nvPicPr>
          <p:cNvPr id="22" name="Picture 21" descr="ma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19" y="411480"/>
            <a:ext cx="777240" cy="7487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2026-05-19T10:27:01Z</dcterms:created>
  <dcterms:modified xsi:type="dcterms:W3CDTF">2026-05-19T10:27:01Z</dcterms:modified>
</cp:coreProperties>
</file>