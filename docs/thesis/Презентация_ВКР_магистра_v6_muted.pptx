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2" r:id="rId23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3" r:id="rId24"/>
    <p:sldId id="267" r:id="rId18"/>
    <p:sldId id="268" r:id="rId19"/>
    <p:sldId id="274" r:id="rId25"/>
    <p:sldId id="269" r:id="rId20"/>
    <p:sldId id="275" r:id="rId26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5.xml"/><Relationship Id="rId24" Type="http://schemas.openxmlformats.org/officeDocument/2006/relationships/slide" Target="slides/slide13.xml"/><Relationship Id="rId25" Type="http://schemas.openxmlformats.org/officeDocument/2006/relationships/slide" Target="slides/slide16.xml"/><Relationship Id="rId26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76656"/>
            <a:ext cx="1033272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МОСКОВСКИЙ АВИАЦИОННЫЙ ИНСТИТУТ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(национальный исследовательский университет)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Институт № 8 «Информационные технологии и прикладная математика»  ·  Кафедра 806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103327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ВЫПУСКНАЯ КВАЛИФИКАЦИОННАЯ РАБОТА МАГИСТРА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2505456"/>
            <a:ext cx="9079992" cy="1627632"/>
          </a:xfrm>
          <a:prstGeom prst="roundRect">
            <a:avLst>
              <a:gd name="adj" fmla="val 6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0" y="2505456"/>
            <a:ext cx="109728" cy="1627632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2615184"/>
            <a:ext cx="8321040" cy="142646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Система автоматизированного обогащения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товарных данных для интернет-магазина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15968"/>
            <a:ext cx="8531352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Гибридный каскад  </a:t>
            </a:r>
            <a:r>
              <a:rPr sz="13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Regex → ML → Байес-валидатор → LLM-fallback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4882896"/>
            <a:ext cx="3611880" cy="1243584"/>
          </a:xfrm>
          <a:prstGeom prst="roundRect">
            <a:avLst>
              <a:gd name="adj" fmla="val 9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5029200"/>
            <a:ext cx="3200400" cy="10058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СТУДЕНТ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</a:pPr>
            <a:r>
              <a:rPr sz="13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Фролов Михаил Александрович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Группа М8О-211М-24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882896"/>
            <a:ext cx="3611880" cy="1243584"/>
          </a:xfrm>
          <a:prstGeom prst="roundRect">
            <a:avLst>
              <a:gd name="adj" fmla="val 9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5029200"/>
            <a:ext cx="3200400" cy="10058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НАУЧНЫЙ РУКОВОДИТЕЛЬ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</a:pPr>
            <a:r>
              <a:rPr sz="13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Чернышов Лев Николаевич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к.ф.-м.н., доцент кафедры 806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72784"/>
            <a:ext cx="1033272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Москва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КОНТЕКСТ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Актуальность 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7772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Карточка товара — центр цифровой витрины: от её полноты зависят поиск,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ранжирование и конверсия. Партнёрский ввод неоднороден, пробелы исторически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закрывают контент-менеджеры вручную — и этот подход не масштабируется.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91440" cy="137160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11+ трлн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годовой объём e-commerce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в России (2024–2025)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3752" y="2286000"/>
            <a:ext cx="91440" cy="1371600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3–7 мин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ручной труд оператора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на одну карточку товара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286000"/>
            <a:ext cx="91440" cy="1371600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10⁷ позиций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каталоги крупных магазинов;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тысячи новинок ежедневно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95344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041648"/>
            <a:ext cx="88696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Почему существующие PIM-системы не решают задачу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43984"/>
            <a:ext cx="8869680" cy="12801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•  </a:t>
            </a:r>
            <a:r>
              <a:rPr sz="13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Akeneo, Pimcore, Salsify </a:t>
            </a:r>
            <a:r>
              <a:rPr sz="13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спроектированы хранить уже готовую товарную информацию,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   но не извлекать её из неструктурированного партнёрского ввода;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•  </a:t>
            </a:r>
            <a:r>
              <a:rPr sz="13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модули автообогащения </a:t>
            </a:r>
            <a:r>
              <a:rPr sz="13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— обёртка над одной LLM на каждый товар: дорого и без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   гарантий фактической корректности, особенно на числовых полях.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ПРОТИВОРЕЧИЕ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Научная 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Ни одна </a:t>
            </a:r>
            <a:r>
              <a:rPr sz="14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изолированная технология</a:t>
            </a:r>
            <a:r>
              <a:rPr sz="14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 не покрывает все типы атрибутов с приемлемой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точностью и стоимостью одновременно: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66543"/>
            <a:ext cx="3246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066543"/>
            <a:ext cx="3246120" cy="457200"/>
          </a:xfrm>
          <a:prstGeom prst="roundRect">
            <a:avLst>
              <a:gd name="adj" fmla="val 13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286000"/>
            <a:ext cx="3246120" cy="237744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3246120" cy="40233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Правила (Regex)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670048"/>
            <a:ext cx="2770632" cy="133502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7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Надёжны и бесплатны на числовых и словарных полях, но почти не покрывают семантически нагруженные атрибуты.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73752" y="2066543"/>
            <a:ext cx="3246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73752" y="2066543"/>
            <a:ext cx="3246120" cy="457200"/>
          </a:xfrm>
          <a:prstGeom prst="roundRect">
            <a:avLst>
              <a:gd name="adj" fmla="val 13000"/>
            </a:avLst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2" y="2286000"/>
            <a:ext cx="3246120" cy="237744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2103120"/>
            <a:ext cx="3246120" cy="40233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Классическое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670048"/>
            <a:ext cx="2770632" cy="133502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7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Высокая предсказательная сила, но требует значительной размеченной обучающей выборки по каждому атрибуту.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5904" y="2066543"/>
            <a:ext cx="3246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75904" y="2066543"/>
            <a:ext cx="3246120" cy="457200"/>
          </a:xfrm>
          <a:prstGeom prst="roundRect">
            <a:avLst>
              <a:gd name="adj" fmla="val 13000"/>
            </a:avLst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75904" y="2286000"/>
            <a:ext cx="3246120" cy="237744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2103120"/>
            <a:ext cx="3246120" cy="40233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Большие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670048"/>
            <a:ext cx="2770632" cy="133502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7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Универсальны, но дороги при вызове на каждое поле и подвержены фактическим ошибкам — особенно на числах.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443984"/>
            <a:ext cx="9445752" cy="1298448"/>
          </a:xfrm>
          <a:prstGeom prst="roundRect">
            <a:avLst>
              <a:gd name="adj" fmla="val 6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590288"/>
            <a:ext cx="89611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Решение — гибридная каскадная архитектура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992624"/>
            <a:ext cx="9006840" cy="6400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Композиция последовательных слоёв, где каждый следующий слой подключается только к остатку, 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не закрытому предыдущими с заданной уверенностью — семантика LLM при стоимости классических методов.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ПОСТАНОВКА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Цель и задачи работы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35024"/>
            <a:ext cx="9445752" cy="1078992"/>
          </a:xfrm>
          <a:prstGeom prst="roundRect">
            <a:avLst>
              <a:gd name="adj" fmla="val 7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444752"/>
            <a:ext cx="900684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ЦЕЛЬ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55648"/>
            <a:ext cx="9006840" cy="60350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Разработать гибридную каскадную систему обогащения товарных данных с высокой точностью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извлечения атрибутов, сокращённой стоимостью обращения к LLM и поддержкой открытых моделей.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615184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17904" y="2734056"/>
            <a:ext cx="402336" cy="402336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2679191"/>
            <a:ext cx="2788920" cy="53035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7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Спроектировать архитектуру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79191"/>
            <a:ext cx="5650992" cy="53035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Гибридный каскад с многоуровневой фильтрацией по уверенности и явным разделением слоёв.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328415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17904" y="3447287"/>
            <a:ext cx="402336" cy="402336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9696" y="3392423"/>
            <a:ext cx="2788920" cy="53035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7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Реализовать слои каскада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92423"/>
            <a:ext cx="5650992" cy="53035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Regex-экстрактор, ML-классификатор на эмбеддингах, байесовский валидатор, LLM-fallback.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041648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17904" y="4160520"/>
            <a:ext cx="402336" cy="402336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4105656"/>
            <a:ext cx="2788920" cy="53035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7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Построить эталонную выборку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05656"/>
            <a:ext cx="5650992" cy="53035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Brand-disjoint разметка 3 категорий: слабый надзор OFF, согласие LLM, слепая ре-разметка.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754880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17904" y="4873752"/>
            <a:ext cx="402336" cy="402336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39696" y="4818888"/>
            <a:ext cx="2788920" cy="53035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7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Провести оценку качества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818888"/>
            <a:ext cx="5650992" cy="53035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Точность, покрытие и стоимость; сравнение с прямым вызовом LLM; вклад каждого слоя.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468112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17904" y="5586984"/>
            <a:ext cx="402336" cy="402336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39696" y="5532120"/>
            <a:ext cx="2788920" cy="53035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7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Создать демонстрационный комплекс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532120"/>
            <a:ext cx="5650992" cy="53035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Веб-интерфейс оператора и API; три сценария развёртывания Layer 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ПОСТАНОВКА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Объект, предмет, 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7772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Формальная постановка работы согласно требованиям выпускной квалификационной работы магистра кафедры 806.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91440" cy="137160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ОБЪЕКТ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процесс автоматизированного обогащения товарных каталогов из открытых источников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3752" y="2286000"/>
            <a:ext cx="91440" cy="1371600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ПРЕДМЕТ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гибридная каскадная архитектура с ансамблевой оценкой уверенности слоёв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286000"/>
            <a:ext cx="91440" cy="1371600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ГИПОТЕЗА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композиция слоёв с фильтрацией по уверенности превосходит каждый слой в одиночку по точности и стоимости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95344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041648"/>
            <a:ext cx="88696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Теоретические и методические основы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43984"/>
            <a:ext cx="8869680" cy="12801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Слабый надзор (Snorkel, Ratner et al., 2017), векторные представления (Reimers &amp; Gurevych, 2020), градиентный бустинг (Chen &amp; Guestrin, 2016), байесовские сети (Pearl, 1988), парето-оптимизация качества и стоимости (FrugalGPT, AutoMix). Брэнд-disjoint валидация и бутстрэп с кластеризацией по брендам.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АНАЛОГИ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Анализ существующих решений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Существующие подходы либо не извлекают атрибуты, либо делают это дорого и без контроля качества.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65376"/>
            <a:ext cx="2331720" cy="475488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9616" y="1865376"/>
            <a:ext cx="2075687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РЕШЕНИЕ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865376"/>
            <a:ext cx="3611880" cy="475488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31335" y="1865376"/>
            <a:ext cx="3355848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ПОДХОД К ОБОГАЩЕНИЮ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865376"/>
            <a:ext cx="3520440" cy="475488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3216" y="1865376"/>
            <a:ext cx="3264408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ОГРАНИЧЕНИЕ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340864"/>
            <a:ext cx="233172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2340864"/>
            <a:ext cx="73152" cy="768096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2340864"/>
            <a:ext cx="2020824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Akeneo / Pimcore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340864"/>
            <a:ext cx="36118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9624" y="2340864"/>
            <a:ext cx="3337560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Хранилище и редактор готовой товарной информации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340864"/>
            <a:ext cx="352044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340864"/>
            <a:ext cx="3246120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Извлечение атрибутов из сырого ввода не решается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108960"/>
            <a:ext cx="233172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3108960"/>
            <a:ext cx="73152" cy="768096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2768" y="3108960"/>
            <a:ext cx="2020824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Salsify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3108960"/>
            <a:ext cx="361188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9624" y="3108960"/>
            <a:ext cx="3337560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PIM с синдикацией и обменом данными с партнёрами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108960"/>
            <a:ext cx="352044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3108960"/>
            <a:ext cx="3246120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Автообогащение — внешний модуль поверх одной 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877056"/>
            <a:ext cx="233172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3877056"/>
            <a:ext cx="73152" cy="768096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72768" y="3877056"/>
            <a:ext cx="2020824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Прямой вызов LLM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3877056"/>
            <a:ext cx="36118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9624" y="3877056"/>
            <a:ext cx="3337560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Одна публичная LLM вызывается на каждое поле товара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877056"/>
            <a:ext cx="352044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61504" y="3877056"/>
            <a:ext cx="3246120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Дорого на больших каталогах; ошибки на числах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4645152"/>
            <a:ext cx="233172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71600" y="4645152"/>
            <a:ext cx="73152" cy="768096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72768" y="4645152"/>
            <a:ext cx="2020824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Каскад (работа)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3320" y="4645152"/>
            <a:ext cx="361188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9624" y="4645152"/>
            <a:ext cx="3337560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Regex → ML → Байес-валидатор → LLM только на остаток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645152"/>
            <a:ext cx="352044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61504" y="4645152"/>
            <a:ext cx="3246120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Точность 91.5 % при доле LLM-вызовов 8.6 %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РЕШЕНИЕ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Архитектура гибридного каскада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103327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Товар проходит слои в порядке возрастания стоимости; следующий слой получает только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те ячейки, которые предыдущий не закрыл с уверенностью выше калиброванного порога.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6B6B6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450591"/>
            <a:ext cx="1852574" cy="347472"/>
          </a:xfrm>
          <a:prstGeom prst="rect">
            <a:avLst/>
          </a:prstGeom>
          <a:solidFill>
            <a:srgbClr val="6B6B6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57984"/>
            <a:ext cx="1852574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68879"/>
            <a:ext cx="1852574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Категорайзер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926079"/>
            <a:ext cx="1633118" cy="13716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XGBoost на SBERT-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эмбеддингах + OOD-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детектор</a:t>
            </a:r>
          </a:p>
        </p:txBody>
      </p:sp>
      <p:sp>
        <p:nvSpPr>
          <p:cNvPr id="13" name="Chevron 12"/>
          <p:cNvSpPr/>
          <p:nvPr/>
        </p:nvSpPr>
        <p:spPr>
          <a:xfrm>
            <a:off x="3187598" y="3104387"/>
            <a:ext cx="256032" cy="292608"/>
          </a:xfrm>
          <a:prstGeom prst="chevron">
            <a:avLst/>
          </a:prstGeom>
          <a:solidFill>
            <a:srgbClr val="6B6B6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7054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07054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7054" y="2450591"/>
            <a:ext cx="1852574" cy="347472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7054" y="2157984"/>
            <a:ext cx="1852574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7054" y="2468879"/>
            <a:ext cx="1852574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Regex-экстрактор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6782" y="2926079"/>
            <a:ext cx="1633118" cy="13716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Детермини­рованные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грамматики словарных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полей</a:t>
            </a:r>
          </a:p>
        </p:txBody>
      </p:sp>
      <p:sp>
        <p:nvSpPr>
          <p:cNvPr id="20" name="Chevron 19"/>
          <p:cNvSpPr/>
          <p:nvPr/>
        </p:nvSpPr>
        <p:spPr>
          <a:xfrm>
            <a:off x="5223052" y="3104387"/>
            <a:ext cx="256032" cy="292608"/>
          </a:xfrm>
          <a:prstGeom prst="chevron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42508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2508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2508" y="2450591"/>
            <a:ext cx="1852574" cy="347472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2508" y="2157984"/>
            <a:ext cx="1852574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2508" y="2468879"/>
            <a:ext cx="1852574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ML-классификатор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2236" y="2926079"/>
            <a:ext cx="1633118" cy="13716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XGBoost на много­языч­ных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векторных пред­ставле­ниях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полей товара</a:t>
            </a:r>
          </a:p>
        </p:txBody>
      </p:sp>
      <p:sp>
        <p:nvSpPr>
          <p:cNvPr id="27" name="Chevron 26"/>
          <p:cNvSpPr/>
          <p:nvPr/>
        </p:nvSpPr>
        <p:spPr>
          <a:xfrm>
            <a:off x="7258507" y="3104387"/>
            <a:ext cx="256032" cy="292608"/>
          </a:xfrm>
          <a:prstGeom prst="chevron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7963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77963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77963" y="2450591"/>
            <a:ext cx="1852574" cy="347472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7963" y="2157984"/>
            <a:ext cx="1852574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7963" y="2468879"/>
            <a:ext cx="1852574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Байес-валидатор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7691" y="2926079"/>
            <a:ext cx="1633118" cy="13716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Сеть плотностей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атрибутов отбраковы­вает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невероятные значения</a:t>
            </a:r>
          </a:p>
        </p:txBody>
      </p:sp>
      <p:sp>
        <p:nvSpPr>
          <p:cNvPr id="34" name="Chevron 33"/>
          <p:cNvSpPr/>
          <p:nvPr/>
        </p:nvSpPr>
        <p:spPr>
          <a:xfrm>
            <a:off x="9293961" y="3104387"/>
            <a:ext cx="256032" cy="292608"/>
          </a:xfrm>
          <a:prstGeom prst="chevron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13417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13417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13417" y="2450591"/>
            <a:ext cx="1852574" cy="347472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13417" y="2157984"/>
            <a:ext cx="1852574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3417" y="2468879"/>
            <a:ext cx="1852574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LLM-fallback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3145" y="2926079"/>
            <a:ext cx="1633118" cy="13716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Запасной слой: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коммерческая, бюджетная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или открытая модель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4663440"/>
            <a:ext cx="4901184" cy="1060704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71600" y="4663440"/>
            <a:ext cx="91440" cy="1060704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4809744"/>
            <a:ext cx="4526280" cy="7680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2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Конъюнктивное условие на пороги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400"/>
              </a:spcAft>
            </a:pPr>
            <a:r>
              <a:rPr sz="106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Уверенность каждого слоя калибруется изотонической регрессией; пороги — поатрибутные.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37376" y="4663440"/>
            <a:ext cx="4379976" cy="1060704"/>
          </a:xfrm>
          <a:prstGeom prst="roundRect">
            <a:avLst>
              <a:gd name="adj" fmla="val 8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93408" y="4754880"/>
            <a:ext cx="39319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LLM вызывается лишь на </a:t>
            </a:r>
            <a:r>
              <a:rPr sz="17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8.6 %</a:t>
            </a:r>
            <a:r>
              <a:rPr sz="11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ячеек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5175504"/>
            <a:ext cx="39319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остальное закрывают дешёвые локальные слои L0–L3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ЗАДАЧА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Методика экспериментальной оценки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Эталонная разметка построена на открытом каталоге </a:t>
            </a:r>
            <a:r>
              <a:rPr sz="13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Open Food Facts</a:t>
            </a: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 для трёх категорий товаров.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Тестовый сплит — </a:t>
            </a:r>
            <a:r>
              <a:rPr sz="13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brand-disjoint</a:t>
            </a: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: ни один бренд тестовой выборки не встречается в обучающей.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2286000" cy="51206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798064"/>
            <a:ext cx="2066543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категории товаров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паста · шоколад · сыры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58183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3" y="2286000"/>
            <a:ext cx="2286000" cy="51206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1" y="2798064"/>
            <a:ext cx="2066543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целевых атрибута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бинарные и категориальные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7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7" y="2286000"/>
            <a:ext cx="2286000" cy="51206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4350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5" y="2798064"/>
            <a:ext cx="2066543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тестовых ячеек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товар × атрибут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1351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1" y="2286000"/>
            <a:ext cx="2286000" cy="51206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95.0 %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79" y="2798064"/>
            <a:ext cx="2066543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согласованность слепой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ре-разметки Opus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712463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3877056"/>
            <a:ext cx="886968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Три независимых источника эталона снижают риск утечки</a:t>
            </a:r>
          </a:p>
        </p:txBody>
      </p:sp>
      <p:sp>
        <p:nvSpPr>
          <p:cNvPr id="21" name="Oval 20"/>
          <p:cNvSpPr/>
          <p:nvPr/>
        </p:nvSpPr>
        <p:spPr>
          <a:xfrm>
            <a:off x="1737360" y="4315968"/>
            <a:ext cx="118872" cy="118872"/>
          </a:xfrm>
          <a:prstGeom prst="ellipse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4261104"/>
            <a:ext cx="8595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Теги каталога OFF.  </a:t>
            </a:r>
            <a:r>
              <a:rPr sz="113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регуляторные метки и категории — внешний источник, защищённый правом ЕС</a:t>
            </a:r>
          </a:p>
        </p:txBody>
      </p:sp>
      <p:sp>
        <p:nvSpPr>
          <p:cNvPr id="23" name="Oval 22"/>
          <p:cNvSpPr/>
          <p:nvPr/>
        </p:nvSpPr>
        <p:spPr>
          <a:xfrm>
            <a:off x="1737360" y="4773168"/>
            <a:ext cx="118872" cy="118872"/>
          </a:xfrm>
          <a:prstGeom prst="ellipse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4718304"/>
            <a:ext cx="8595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Согласие трёх LLM.  </a:t>
            </a:r>
            <a:r>
              <a:rPr sz="113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поатрибутное голосование независимых моделей с проверкой Opus 4 на спорных позициях</a:t>
            </a:r>
          </a:p>
        </p:txBody>
      </p:sp>
      <p:sp>
        <p:nvSpPr>
          <p:cNvPr id="25" name="Oval 24"/>
          <p:cNvSpPr/>
          <p:nvPr/>
        </p:nvSpPr>
        <p:spPr>
          <a:xfrm>
            <a:off x="1737360" y="5230368"/>
            <a:ext cx="118872" cy="118872"/>
          </a:xfrm>
          <a:prstGeom prst="ellipse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5175504"/>
            <a:ext cx="8595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Слепая ре-разметка.  </a:t>
            </a:r>
            <a:r>
              <a:rPr sz="113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Opus 4 размечает только партнёр-поля, без доступа к тегам OFF и промежуточным меткам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ЗАДАЧА 4 ·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Главный результат: точность ↔ стоимость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53328"/>
            <a:ext cx="685800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11 рабочих точек; планки — 95 % brand-clustered bootstrap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371600"/>
            <a:ext cx="39319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ГИБРИД ПАРЕТО-ДОМИНИРУЕТ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700784"/>
            <a:ext cx="3950208" cy="1207008"/>
          </a:xfrm>
          <a:prstGeom prst="roundRect">
            <a:avLst>
              <a:gd name="adj" fmla="val 8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64423" y="1810512"/>
            <a:ext cx="352044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Каскад + Gemini 2.5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4423" y="2157984"/>
            <a:ext cx="3520440" cy="64008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91.5 %</a:t>
            </a:r>
            <a:r>
              <a:rPr sz="12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 точности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072384"/>
            <a:ext cx="3950208" cy="841248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3072384"/>
            <a:ext cx="91440" cy="841248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3072384"/>
            <a:ext cx="1371600" cy="84124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≈ 110×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3163824"/>
            <a:ext cx="2240280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дешевле прямого вызова GPT-4o на каждое поле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023360"/>
            <a:ext cx="3950208" cy="841248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4023360"/>
            <a:ext cx="91440" cy="841248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4023360"/>
            <a:ext cx="1371600" cy="84124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+7.7 п.п.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4114800"/>
            <a:ext cx="2240280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точнее, чем прямой вызов Sonnet 4.5 на каждое поле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974336"/>
            <a:ext cx="3950208" cy="841248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4974336"/>
            <a:ext cx="91440" cy="841248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4423" y="4974336"/>
            <a:ext cx="1371600" cy="84124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Все гибриды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5065776"/>
            <a:ext cx="2240280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точнее любой конфигурации «LLM на каждое поле»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9</a:t>
            </a:r>
          </a:p>
        </p:txBody>
      </p:sp>
      <p:pic>
        <p:nvPicPr>
          <p:cNvPr id="26" name="Picture 25" descr="cost_quality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35024"/>
            <a:ext cx="6903720" cy="4707082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Послойный вклад каскада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Распределение финальных предсказаний по слоям каскада на трёх категориях товаров.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975104"/>
            <a:ext cx="3749039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975104"/>
            <a:ext cx="91440" cy="1225296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2103120"/>
            <a:ext cx="33832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Regex закрывает 18–22 %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3" y="2432304"/>
            <a:ext cx="338328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словарных полей в пасте и шоколаде; в сырах доменные сигналы плохо параметризуются.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310128"/>
            <a:ext cx="3749039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3310128"/>
            <a:ext cx="91440" cy="1225296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3438144"/>
            <a:ext cx="33832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ML — основная доля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3767328"/>
            <a:ext cx="338328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XGBoost на многоязычных эмбеддингах закрывает 69–87 % ячеек локально, на CPU.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645152"/>
            <a:ext cx="3749039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4645152"/>
            <a:ext cx="91440" cy="1225296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4773168"/>
            <a:ext cx="33832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LLM-fallback — 5–13 %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5102352"/>
            <a:ext cx="338328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дорогой слой запрашивается только на остаток, не закрытый с нужной уверенностью.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10</a:t>
            </a:r>
          </a:p>
        </p:txBody>
      </p:sp>
      <p:pic>
        <p:nvPicPr>
          <p:cNvPr id="22" name="Picture 21" descr="layer_con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7040880" cy="296037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РЕЗУЛЬТАТЫ · ЗАДАЧА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Развёртывание на открытых моделях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Каскад архитектурно независим от поставщика LLM. С открытой моделью </a:t>
            </a:r>
            <a:r>
              <a:rPr sz="13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gpt-oss-120b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в роли Layer 4 возможно полностью локальное развёртывание без передачи данных во внешние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57984"/>
            <a:ext cx="4617720" cy="1828800"/>
          </a:xfrm>
          <a:prstGeom prst="roundRect">
            <a:avLst>
              <a:gd name="adj" fmla="val 7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2286000"/>
            <a:ext cx="411480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ПРИРОСТ ОТ КАСКАДНОЙ АРХИТЕКТУРЫ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596896"/>
            <a:ext cx="411480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69.3 %</a:t>
            </a:r>
            <a:r>
              <a:rPr sz="15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  →  </a:t>
            </a:r>
            <a:r>
              <a:rPr sz="26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90.5 %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163824"/>
            <a:ext cx="411480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прямой gpt-oss-120b  →  каскад + gpt-oss-120b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2" y="3511296"/>
            <a:ext cx="4096512" cy="384048"/>
          </a:xfrm>
          <a:prstGeom prst="roundRect">
            <a:avLst>
              <a:gd name="adj" fmla="val 30000"/>
            </a:avLst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3511296"/>
            <a:ext cx="4096512" cy="38404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+21.2 п.п. точности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57984"/>
            <a:ext cx="4617720" cy="1828800"/>
          </a:xfrm>
          <a:prstGeom prst="roundRect">
            <a:avLst>
              <a:gd name="adj" fmla="val 7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286000"/>
            <a:ext cx="411480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ЦЕНА ЛОКАЛЬНОСТИ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596896"/>
            <a:ext cx="4114800" cy="60350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−0.9 п.п.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200400"/>
            <a:ext cx="4160520" cy="6949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всего на столько каскад + gpt-oss-120b уступает коммерческой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конфигурации — при полной независимости от внешних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87952"/>
            <a:ext cx="1005840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ТРИ СЦЕНАРИЯ РАЗВЁРТЫВАНИЯ LAYER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535424"/>
            <a:ext cx="30540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4535424"/>
            <a:ext cx="3054096" cy="73152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4663440"/>
            <a:ext cx="269748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Коммерческий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74336"/>
            <a:ext cx="269748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Gemini 2.5 Flash / Sonnet 4.5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5266944"/>
            <a:ext cx="2697480" cy="40233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максимальная точность 91.5 %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535424"/>
            <a:ext cx="30540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4535424"/>
            <a:ext cx="3054096" cy="73152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4663440"/>
            <a:ext cx="269748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Бюджетный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974336"/>
            <a:ext cx="269748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GPT-4o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5266944"/>
            <a:ext cx="2697480" cy="40233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баланс точности и доступности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535424"/>
            <a:ext cx="30540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4535424"/>
            <a:ext cx="3054096" cy="73152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4663440"/>
            <a:ext cx="269748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Локальный (on-premise)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974336"/>
            <a:ext cx="269748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gpt-oss-120b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266944"/>
            <a:ext cx="2697480" cy="40233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данные не покидают периметр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Достоверность результата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Контроль на </a:t>
            </a:r>
            <a:r>
              <a:rPr sz="13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структурную утечку (circularity)</a:t>
            </a: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: точность приведена в разрезе типа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эталонного сигнала. При утечке выше был бы «текстовый» ярус — наблюдается обратное.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993392"/>
            <a:ext cx="4846320" cy="1371600"/>
          </a:xfrm>
          <a:prstGeom prst="roundRect">
            <a:avLst>
              <a:gd name="adj" fmla="val 7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4032" y="2121408"/>
            <a:ext cx="43891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Опровержение претензии о circularity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2" y="2468880"/>
            <a:ext cx="438912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«Текстовый» ярус, делящий сигнал с признаками модели, — </a:t>
            </a:r>
            <a:r>
              <a:rPr sz="11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самый низкий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(81.8 %), на 11.8 п.п. ниже тег-ярусного. Завышения за счёт утечки нет.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511296"/>
            <a:ext cx="4846320" cy="676656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04304" y="3685032"/>
            <a:ext cx="329184" cy="32918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3511296"/>
            <a:ext cx="4114800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Brand-disjoint сплит.  </a:t>
            </a:r>
            <a:r>
              <a:rPr sz="106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бренды теста не пересекаются с обучающими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261104"/>
            <a:ext cx="4846320" cy="676656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04304" y="4434840"/>
            <a:ext cx="329184" cy="32918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4261104"/>
            <a:ext cx="4114800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k-NN distance ablation.  </a:t>
            </a:r>
            <a:r>
              <a:rPr sz="106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точность не падает на семантически дальних товарах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5010912"/>
            <a:ext cx="4846320" cy="676656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04304" y="5184648"/>
            <a:ext cx="329184" cy="32918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5010912"/>
            <a:ext cx="4114800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Робастность к языку.  </a:t>
            </a:r>
            <a:r>
              <a:rPr sz="106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сопоставимая точность на 6 языках этикеток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12</a:t>
            </a:r>
          </a:p>
        </p:txBody>
      </p:sp>
      <p:pic>
        <p:nvPicPr>
          <p:cNvPr id="22" name="Picture 21" descr="tier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011680"/>
            <a:ext cx="5989320" cy="323747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ВКЛАД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Научная новизна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7772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Три отличия настоящей работы от состояния области: ни одно из них не показано совместно в опубликованных работах TXtract, MAVE, OpenTag, FrugalGPT, AutoMix, RouterBench.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91440" cy="137160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ПАРЕТО-ДОМИНИРОВАНИЕ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одновременный выигрыш в точности +7.7 п.п. и стоимости ×275 над прямым вызовом коммерческой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3752" y="2286000"/>
            <a:ext cx="91440" cy="1371600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НЕГАТИВНЫЙ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обучаемый стоимостно-чувствительный маршрутизатор не превосходит статическое правило (H1 отклонена)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286000"/>
            <a:ext cx="91440" cy="1371600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ПРОТИВ CIRCULARITY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количественное опровержение завышения точности через стратификацию ярусов эталонного сигнала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95344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041648"/>
            <a:ext cx="88696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Дополнительный методический вклад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43984"/>
            <a:ext cx="8869680" cy="12801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Слепая ре-разметка независимой большой языковой моделью на всей тестовой выборке (κ Коэна &gt; 0.85 на 17/22 пар, согласованность 95.0 %); цикл «аудит → исправление экстракторов → переобучение → измерение» с воспроизведением на 3 категориях из 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Цикл аудита и переобучения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Ручной аудит 239 товаров пасты выявил систематическую ошибку слабой разметки: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редкие формы пасты помечались как «прочее». Переобучение на исправленных метках устранило дефект.</a:t>
            </a:r>
          </a:p>
        </p:txBody>
      </p:sp>
      <p:pic>
        <p:nvPicPr>
          <p:cNvPr id="7" name="Picture 6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011680"/>
            <a:ext cx="5989320" cy="3237470"/>
          </a:xfrm>
          <a:prstGeom prst="rect">
            <a:avLst/>
          </a:prstGeom>
          <a:ln>
            <a:solidFill/>
          </a:ln>
        </p:spPr>
      </p:pic>
      <p:sp>
        <p:nvSpPr>
          <p:cNvPr id="8" name="Rounded Rectangle 7"/>
          <p:cNvSpPr/>
          <p:nvPr/>
        </p:nvSpPr>
        <p:spPr>
          <a:xfrm>
            <a:off x="6858000" y="2011680"/>
            <a:ext cx="4846320" cy="1298448"/>
          </a:xfrm>
          <a:prstGeom prst="roundRect">
            <a:avLst>
              <a:gd name="adj" fmla="val 7000"/>
            </a:avLst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139696"/>
            <a:ext cx="42976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Ключевой эффект — атрибут «форма пасты»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05456"/>
            <a:ext cx="429768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+49 п.п.</a:t>
            </a:r>
            <a:r>
              <a:rPr sz="11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  точности после переобучения на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исправленных аудитом метках (n = 83).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456432"/>
            <a:ext cx="4846320" cy="2139696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602736"/>
            <a:ext cx="429768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Вывод для методологии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4014216"/>
            <a:ext cx="109728" cy="109728"/>
          </a:xfrm>
          <a:prstGeom prst="ellipse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3950208"/>
            <a:ext cx="411480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Цикл «аудит → переобучение → ре-оценка» переводит систему из режима фиксированной точности в режим управляемого улучшения качества.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4581144"/>
            <a:ext cx="109728" cy="109728"/>
          </a:xfrm>
          <a:prstGeom prst="ellipse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4517136"/>
            <a:ext cx="411480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Эффект сосредоточен там, где аудит вскрыл реальную ошибку разметки; на корректно размеченных атрибутах изменения в пределах шума.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5148072"/>
            <a:ext cx="109728" cy="109728"/>
          </a:xfrm>
          <a:prstGeom prst="ellipse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5084064"/>
            <a:ext cx="411480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Стоимость аудита окупается однократно — исправленная метка улучшает все будущие прогнозы атрибута.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ЗАДАЧА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Демонстрационный комплекс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Каскад обёрнут в программный комплекс для оператора каталога: стабильный API и веб-интерфейс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переводят ручное заполнение в режим выборочной верификации с явной отметкой слоя-источника.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57984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157984"/>
            <a:ext cx="91440" cy="109728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286000"/>
            <a:ext cx="420624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Веб-интерфейс оператора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615184"/>
            <a:ext cx="420624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Карточка товара с по-атрибутным результатом: значение, слой-источник и индикатор уверенности.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57984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157984"/>
            <a:ext cx="91440" cy="109728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286000"/>
            <a:ext cx="420624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Программный интерфейс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615184"/>
            <a:ext cx="420624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Стабильный API обогащения для интеграции в конвейер каталога интернет-магазина.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401568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3401568"/>
            <a:ext cx="91440" cy="109728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7632" y="3529584"/>
            <a:ext cx="420624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Отметка источника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3858768"/>
            <a:ext cx="420624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Каждое значение помечено слоем (regex / ML / LLM) — оператор проверяет выборочно, а не всё.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401568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401568"/>
            <a:ext cx="91440" cy="109728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529584"/>
            <a:ext cx="420624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Байес-валидатор как сигнал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858768"/>
            <a:ext cx="420624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Подозрительные предсказания помечаются флагом и направляются на приоритетную проверку.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736592"/>
            <a:ext cx="9445752" cy="969264"/>
          </a:xfrm>
          <a:prstGeom prst="roundRect">
            <a:avLst>
              <a:gd name="adj" fmla="val 7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4846320"/>
            <a:ext cx="457200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Эффект для оператора каталога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175504"/>
            <a:ext cx="88696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Доля ячеек, требующих ручной верификации, снижается до </a:t>
            </a:r>
            <a:r>
              <a:rPr sz="15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5–10 %</a:t>
            </a:r>
            <a:r>
              <a:rPr sz="12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 — ручная нагрузка сокращается в 10–20 раз.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ДЕМО · ОТКРЫТЫЙ КОД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Демонстрационный комплекс — визуально и публично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7772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Веб-интерфейс оператора каталога: ввод партнёрских полей, поатрибутный результат с отметкой слоя-источника. Стабильный REST API для интеграции в конвейер каталога.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91440" cy="137160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Go-шлюз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≈ 200 строк, валидация JSON, проксирование, CORS, без внешних зависимостей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3752" y="2286000"/>
            <a:ext cx="91440" cy="1371600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Python ·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ML-сервис: каскад L0–L4, 4 endpoint, объяснение через Shapley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286000"/>
            <a:ext cx="91440" cy="1371600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Web-фронтенд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Статический HTML/CSS/JS, форма ввода, отметка слоя-источника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16</a:t>
            </a:r>
          </a:p>
        </p:txBody>
      </p:sp>
      <p:pic>
        <p:nvPicPr>
          <p:cNvPr id="24" name="Picture 23" descr="demo_pa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95344"/>
            <a:ext cx="9445752" cy="2194560"/>
          </a:xfrm>
          <a:prstGeom prst="rect">
            <a:avLst/>
          </a:prstGeom>
          <a:ln>
            <a:solidFill/>
          </a:ln>
        </p:spPr>
      </p:pic>
      <p:sp>
        <p:nvSpPr>
          <p:cNvPr id="25" name="TextBox 24"/>
          <p:cNvSpPr txBox="1"/>
          <p:nvPr/>
        </p:nvSpPr>
        <p:spPr>
          <a:xfrm>
            <a:off x="1371600" y="6163056"/>
            <a:ext cx="9445752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Исходный код, ноутбук, артефакты:  github.com/Qworl/diploma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ИТОГИ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Достигнутые результаты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Все числовые значения подтверждены воспроизводимыми артефактами проверочной выборки.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3200400" cy="45720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1828800"/>
            <a:ext cx="29260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ПОКАЗАТЕЛЬ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063240" cy="45720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8304" y="1828800"/>
            <a:ext cx="27889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БЫЛО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828800"/>
            <a:ext cx="3182112" cy="45720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81544" y="1828800"/>
            <a:ext cx="2907792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СТАЛО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286000"/>
            <a:ext cx="32004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2286000"/>
            <a:ext cx="73152" cy="676656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2286000"/>
            <a:ext cx="2889504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Точность обогащения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286000"/>
            <a:ext cx="30632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2286000"/>
            <a:ext cx="2788920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100 % ручной труд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2286000"/>
            <a:ext cx="3182112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1544" y="2286000"/>
            <a:ext cx="2907792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каскад 91.5 % автоматически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962656"/>
            <a:ext cx="320040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2962656"/>
            <a:ext cx="73152" cy="676656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2768" y="2962656"/>
            <a:ext cx="2889504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Доля обращений к 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962656"/>
            <a:ext cx="306324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4" y="2962656"/>
            <a:ext cx="2788920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100 % ячеек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962656"/>
            <a:ext cx="3182112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81544" y="2962656"/>
            <a:ext cx="2907792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8.6 % ячеек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639312"/>
            <a:ext cx="32004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3639312"/>
            <a:ext cx="73152" cy="676656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72768" y="3639312"/>
            <a:ext cx="2889504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Открытая модель (on-premise)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639312"/>
            <a:ext cx="30632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3639312"/>
            <a:ext cx="2788920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прямой gpt-oss-120b — 69.3 %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3639312"/>
            <a:ext cx="3182112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81544" y="3639312"/>
            <a:ext cx="2907792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каскад + gpt-oss — 90.5 %  (+21.2 п.п.)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4315968"/>
            <a:ext cx="320040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71600" y="4315968"/>
            <a:ext cx="73152" cy="676656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72768" y="4315968"/>
            <a:ext cx="2889504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Ручная верификация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315968"/>
            <a:ext cx="306324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18304" y="4315968"/>
            <a:ext cx="2788920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~100 % ячеек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4315968"/>
            <a:ext cx="3182112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81544" y="4315968"/>
            <a:ext cx="2907792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~5–10 % ячеек  (в 10–20 раз меньше)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4992624"/>
            <a:ext cx="32004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71600" y="4992624"/>
            <a:ext cx="73152" cy="676656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72768" y="4992624"/>
            <a:ext cx="2889504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Независимость от вендора LLM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992624"/>
            <a:ext cx="30632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4992624"/>
            <a:ext cx="2788920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привязка к одному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5240" y="4992624"/>
            <a:ext cx="3182112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81544" y="4992624"/>
            <a:ext cx="2907792" cy="67665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пять моделей с близкой точностью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ВНЕДРЕНИЕ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Готовность к внедрению и перспективы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7772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Архитектура доведена до уровня прототипа PIM-обогатителя; разделение на три независимых компонента упрощает интеграцию в производственные конвейеры товарных каталогов.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91440" cy="137160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ПРОТОТИП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программный комплекс работает локально на CPU; ≈15-20 с прогрев SBERT; десятки миллисекунд на товар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3752" y="2286000"/>
            <a:ext cx="91440" cy="1371600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ЦЕЛЕВЫЕ РОЛИ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контент-менеджер · системный аналитик · инженер машинного обучения (см. §4.1 ВКР)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286000"/>
            <a:ext cx="91440" cy="1371600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432304"/>
            <a:ext cx="288036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ON-PREMISE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926080"/>
            <a:ext cx="288036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сценарий полной локальности на открытой gpt-oss-120b — данные не покидают периметр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95344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041648"/>
            <a:ext cx="88696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Перспективы развития темы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43984"/>
            <a:ext cx="8869680" cy="12801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Расширение на не-продовольственные категории (электроника, косметика — заделы есть в §5.5); привязка эталона к внешним регуляторным реестрам (PDO/PGI) для устранения зависимости от тегов OFF; интеграция с PIM-системами семейства Akeneo через стабильный REST-контракт.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03504"/>
            <a:ext cx="103327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ЗАКЛЮЧЕНИЕ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32720" cy="6400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Цель работы достигнута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5564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929384"/>
            <a:ext cx="402336" cy="402336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1755648"/>
            <a:ext cx="9326880" cy="74980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Спроектирована и реализована гибридная каскадная архитектура из пяти слоёв с фильтрацией по калиброванной уверенности.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7860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752344"/>
            <a:ext cx="402336" cy="402336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578608"/>
            <a:ext cx="9326880" cy="74980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Построена brand-disjoint эталонная выборка на трёх категориях с тройным контролем источника разметки.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0156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3575303"/>
            <a:ext cx="402336" cy="402336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3401568"/>
            <a:ext cx="9326880" cy="74980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Каскад достигает 91.5 % точности, вызывая LLM лишь на 8.6 % ячеек — парето-доминирование над прямым вызовом LLM.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2452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398264"/>
            <a:ext cx="402336" cy="402336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4224528"/>
            <a:ext cx="9326880" cy="74980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Подтверждена работа на открытой модели: +21.2 п.п. над прямым gpt-oss-120b при потере всего 0.9 п.п. к коммерческой.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4748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5221224"/>
            <a:ext cx="402336" cy="402336"/>
          </a:xfrm>
          <a:prstGeom prst="ellipse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5047488"/>
            <a:ext cx="9326880" cy="74980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Создан демонстрационный комплекс с тремя сценариями развёртывания и выборочной верификацией оператором.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53328"/>
            <a:ext cx="10360152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Практический результат — производственно-применимая система с контролируемой стоимостью и независимостью от вендора LLM.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B273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103327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Готов ответить на 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127248"/>
            <a:ext cx="1005840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lang="ru-RU">
                <a:solidFill>
                  <a:srgbClr val="2F2F2F"/>
                </a:solidFill>
                <a:latin typeface="Times New Roman"/>
                <a:cs typeface="Times New Roman"/>
                <a:ea typeface="Times New Roman"/>
              </a:rPr>
              <a:t>КЛЮЧЕВЫЕ ИСТОЧНИКИ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56432"/>
            <a:ext cx="9326880" cy="38404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1.  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Бакаев М. А. Системы управления товарной информацией: обзор архитектур PIM-платформ // Программная инженерия.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877056"/>
            <a:ext cx="9326880" cy="38404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2.  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Reimers N., Gurevych I. Making Monolingual Sentence Embeddings Multilingual using Knowledge Distillation. EMNLP, 2020.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297680"/>
            <a:ext cx="9326880" cy="38404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3.  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Chen T., Guestrin C. XGBoost: A Scalable Tree Boosting System // KDD’16. ACM, 2016. P. 785–794.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718304"/>
            <a:ext cx="9326880" cy="38404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4.  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Pearl J. Probabilistic Reasoning in Intelligent Systems: Networks of Plausible Inference. Morgan Kaufmann, 1988.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138928"/>
            <a:ext cx="9326880" cy="38404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6B2737"/>
                </a:solidFill>
                <a:latin typeface="Times New Roman"/>
                <a:cs typeface="Times New Roman"/>
                <a:ea typeface="Times New Roman"/>
              </a:rPr>
              <a:t>5.  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Ratner A. et al. Snorkel: Rapid Training Data Creation with Weak Supervision // VLDB Endowment. 2017.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5669280"/>
            <a:ext cx="9262872" cy="18288"/>
          </a:xfrm>
          <a:prstGeom prst="rect">
            <a:avLst/>
          </a:prstGeom>
          <a:solidFill>
            <a:srgbClr val="2F2F2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5797296"/>
            <a:ext cx="93268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6B6B6B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