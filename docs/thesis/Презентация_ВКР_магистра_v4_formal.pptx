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МИНИСТЕРСТВО НАУКИ И ВЫСШЕГО ОБРАЗОВАНИЯ РОССИЙСКОЙ ФЕДЕРАЦИИ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A8B0B8"/>
                </a:solidFill>
                <a:latin typeface="Times New Roman"/>
              </a:rPr>
              <a:t>Федеральное государственное бюджетное образовательное учреждение высшего образования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9536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A8B0B8"/>
                </a:solidFill>
                <a:latin typeface="Times New Roman"/>
              </a:rPr>
              <a:t>«Московский авиационный институт (национальный исследовательский университет)»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A8B0B8"/>
                </a:solidFill>
                <a:latin typeface="Times New Roman"/>
              </a:rPr>
              <a:t>Институт № 8  ·  Кафедра 806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A02334"/>
                </a:solidFill>
                <a:latin typeface="Times New Roman"/>
              </a:rPr>
              <a:t>ВЫПУСКНАЯ КВАЛИФИКАЦИОННАЯ РАБОТА МАГИСТРА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 i="0">
                <a:solidFill>
                  <a:srgbClr val="1B2A41"/>
                </a:solidFill>
                <a:latin typeface="Times New Roman"/>
              </a:rPr>
              <a:t>Система автоматизированного обогащения</a:t>
            </a:r>
          </a:p>
          <a:p>
            <a:pPr algn="l">
              <a:spcAft>
                <a:spcPts val="300"/>
              </a:spcAft>
            </a:pPr>
            <a:r>
              <a:rPr sz="3200" b="1" i="0">
                <a:solidFill>
                  <a:srgbClr val="1B2A41"/>
                </a:solidFill>
                <a:latin typeface="Times New Roman"/>
              </a:rPr>
              <a:t>товарных данных для интернет-магазина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319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5C6B7A"/>
                </a:solidFill>
                <a:latin typeface="Times New Roman"/>
              </a:rPr>
              <a:t>Гибридный каскад:  Regex → ML → Bayes-валидатор → LLM-fallback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663440"/>
            <a:ext cx="5486400" cy="13716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663440"/>
            <a:ext cx="91440" cy="13716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5C6B7A"/>
                </a:solidFill>
                <a:latin typeface="Times New Roman"/>
              </a:rPr>
              <a:t>СТУДЕНТ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2A41"/>
                </a:solidFill>
                <a:latin typeface="Times New Roman"/>
              </a:rPr>
              <a:t>Фролов Михаил Александрович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32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Группа М8О-211М-24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663440"/>
            <a:ext cx="5394960" cy="13716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4663440"/>
            <a:ext cx="91440" cy="13716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80060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5C6B7A"/>
                </a:solidFill>
                <a:latin typeface="Times New Roman"/>
              </a:rPr>
              <a:t>НАУЧНЫЙ РУКОВОДИТЕЛЬ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0749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2A41"/>
                </a:solidFill>
                <a:latin typeface="Times New Roman"/>
              </a:rPr>
              <a:t>Чернышов Лев Николаевич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532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к. ф.-м. н., доцент кафедры 806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Москва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Актуальность темы исследования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65392"/>
            <a:ext cx="1170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B2A41"/>
                </a:solidFill>
                <a:latin typeface="Times New Roman"/>
              </a:rPr>
              <a:t>2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Карточка товара — центр цифровой витрины: от её полноты зависят поиск, ранжирование и конверсия.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Партнёрский ввод неоднороден, пробелы исторически закрывают контент-менеджеры вручную — этот подход не масштабируется.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14600"/>
            <a:ext cx="3520440" cy="132588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3520440" cy="73152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1B2A41"/>
                </a:solidFill>
                <a:latin typeface="Times New Roman"/>
              </a:rPr>
              <a:t>11 трлн 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918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C6B7A"/>
                </a:solidFill>
                <a:latin typeface="Times New Roman"/>
              </a:rPr>
              <a:t>годовой объём e-commerce в России (2024–2025)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2514600"/>
            <a:ext cx="3520440" cy="132588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2514600"/>
            <a:ext cx="3520440" cy="73152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697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1B2A41"/>
                </a:solidFill>
                <a:latin typeface="Times New Roman"/>
              </a:rPr>
              <a:t>3–7 мин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2918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C6B7A"/>
                </a:solidFill>
                <a:latin typeface="Times New Roman"/>
              </a:rPr>
              <a:t>ручной труд оператора на одну карточку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2514600"/>
            <a:ext cx="3520440" cy="132588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2514600"/>
            <a:ext cx="3520440" cy="73152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2697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1B2A41"/>
                </a:solidFill>
                <a:latin typeface="Times New Roman"/>
              </a:rPr>
              <a:t>10⁷ позиций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2918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C6B7A"/>
                </a:solidFill>
                <a:latin typeface="Times New Roman"/>
              </a:rPr>
              <a:t>каталоги крупных магазинов; тысячи новинок ежедневно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519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Почему существующие PIM-системы не решают задачу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63440"/>
            <a:ext cx="1088136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—  Akeneo, Pimcore, Salsify хранят готовую товарную информацию, но не извлекают её из неструктурированного партнёрского ввода;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—  Модули автообогащения — обёртка над одной языковой моделью на каждый товар: дорого и без гарантий точности на числовых полях.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Научная проблема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65392"/>
            <a:ext cx="1170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B2A41"/>
                </a:solidFill>
                <a:latin typeface="Times New Roman"/>
              </a:rPr>
              <a:t>3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Ни одна изолированная технология не покрывает все типы атрибутов с приемлемой точностью и стоимостью одновременно.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3520440" cy="21945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73152" cy="219456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2A41"/>
                </a:solidFill>
                <a:latin typeface="Times New Roman"/>
              </a:rPr>
              <a:t>Правила (Regex)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14600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Надёжны и бесплатны на числовых и словарных полях, но почти не покрывают семантически нагруженные атрибуты.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828800"/>
            <a:ext cx="3520440" cy="21945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828800"/>
            <a:ext cx="73152" cy="219456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011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2A41"/>
                </a:solidFill>
                <a:latin typeface="Times New Roman"/>
              </a:rPr>
              <a:t>Классическое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514600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Высокая предсказательная сила, но требует значительной размеченной обучающей выборки по каждому атрибуту.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828800"/>
            <a:ext cx="3520440" cy="21945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828800"/>
            <a:ext cx="73152" cy="219456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2011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2A41"/>
                </a:solidFill>
                <a:latin typeface="Times New Roman"/>
              </a:rPr>
              <a:t>Большие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514600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Универсальны, но дороги при вызове на каждое поле и подвержены фактическим ошибкам, особенно на числах.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572000"/>
            <a:ext cx="11155680" cy="1554480"/>
          </a:xfrm>
          <a:prstGeom prst="rect">
            <a:avLst/>
          </a:prstGeom>
          <a:solidFill>
            <a:srgbClr val="E7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572000"/>
            <a:ext cx="73152" cy="1554480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548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A02334"/>
                </a:solidFill>
                <a:latin typeface="Times New Roman"/>
              </a:rPr>
              <a:t>Решение — гибридная каскадная архитектура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30368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Композиция последовательных слоёв, где каждый следующий подключается только к остатку, не закрытому предыдущими с заданной уверенностью.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Семантика большой языковой модели — при стоимости классических методов.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Цель и задачи работы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65392"/>
            <a:ext cx="1170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B2A41"/>
                </a:solidFill>
                <a:latin typeface="Times New Roman"/>
              </a:rPr>
              <a:t>4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11155680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8016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A8B0B8"/>
                </a:solidFill>
                <a:latin typeface="Times New Roman"/>
              </a:rPr>
              <a:t>ЦЕЛЬ РАБОТЫ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5727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Times New Roman"/>
              </a:rPr>
              <a:t>Разработать гибридную каскадную систему обогащения товарных данных с высокой точностью извлечения атрибутов, сокращённой стоимостью обращения к большой языковой модели и поддержкой открытых моделей.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2A41"/>
                </a:solidFill>
                <a:latin typeface="Times New Roman"/>
              </a:rPr>
              <a:t>Задачи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7121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88950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Спроектировать архитектуру: гибридный каскад с многоуровневой фильтрацией по уверенности и явным разделением слоёв.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47872"/>
            <a:ext cx="4572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844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0273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Реализовать слои каскада: regex-экстрактор, ML-классификатор на эмбеддингах, байесовский валидатор, LLM-fallback.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61104"/>
            <a:ext cx="4572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97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31596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Построить эталонную выборку: brand-disjoint разметка трёх категорий со слабым надзором, согласием LLM и слепой ре-разметкой.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974336"/>
            <a:ext cx="4572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0109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029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Провести экспериментальную оценку: точность, покрытие, стоимость; сравнение с прямым вызовом LLM; вклад каждого слоя.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687568"/>
            <a:ext cx="457200" cy="4572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72414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742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Создать демонстрационный комплекс: веб-интерфейс оператора и REST API; три сценария развёртывания запасного слоя.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Объект, предмет и гипотеза исследования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A8B0B8"/>
                </a:solidFill>
                <a:latin typeface="Times New Roman"/>
              </a:rPr>
              <a:t>Формальная постановка по требованиям ВКР кафедры 806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170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B2A41"/>
                </a:solidFill>
                <a:latin typeface="Times New Roman"/>
              </a:rPr>
              <a:t>5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11155680" cy="11887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73152" cy="118872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19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A02334"/>
                </a:solidFill>
                <a:latin typeface="Times New Roman"/>
              </a:rPr>
              <a:t>ОБЪЕКТ ИССЛЕДОВАНИЯ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3736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Процесс автоматизированного обогащения товарных каталогов интернет-магазинов с использованием открытых источников данных.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06039"/>
            <a:ext cx="11155680" cy="11887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06039"/>
            <a:ext cx="73152" cy="118872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743199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A02334"/>
                </a:solidFill>
                <a:latin typeface="Times New Roman"/>
              </a:rPr>
              <a:t>ПРЕДМЕТ ИССЛЕДОВАНИЯ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63239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Гибридная каскадная архитектура с ансамблевой оценкой уверенности классификаторов и адаптивным обращением к большой языковой модели как запасному слою.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31920"/>
            <a:ext cx="11155680" cy="11887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931920"/>
            <a:ext cx="73152" cy="118872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6908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A02334"/>
                </a:solidFill>
                <a:latin typeface="Times New Roman"/>
              </a:rPr>
              <a:t>РАБОЧАЯ ГИПОТЕЗА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891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Композиция слоёв с фильтрацией по калиброванной уверенности превосходит каждый слой в одиночку по сумме «точность + стоимость» на задаче обогащения товарных атрибутов.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6692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Теоретические и методические основы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C6B7A"/>
                </a:solidFill>
                <a:latin typeface="Times New Roman"/>
              </a:rPr>
              <a:t>Слабый надзор (Ratner et al., 2017), векторные представления (Reimers &amp; Gurevych, 2020), градиентный бустинг (Chen &amp; Guestrin, 2016), байесовские сети (Pearl, 1988), парето-оптимизация (FrugalGPT, AutoMix). Brand-disjoint валидация, бутстрэп с кластеризацией по брендам.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Анализ существующих решений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65392"/>
            <a:ext cx="1170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B2A41"/>
                </a:solidFill>
                <a:latin typeface="Times New Roman"/>
              </a:rPr>
              <a:t>6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Существующие подходы либо не извлекают атрибуты, либо делают это дорого и без контроля качества.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5567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5381"/>
                <a:gridCol w="4563687"/>
                <a:gridCol w="4056610"/>
              </a:tblGrid>
              <a:tr h="841248">
                <a:tc>
                  <a:txBody>
                    <a:bodyPr wrap="square" lIns="88900" rIns="88900" tIns="50800" bIns="50800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Решение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Подход к обогащению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Ограничение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</a:tr>
              <a:tr h="841248"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Akeneo / Pimcore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Хранилище и редактор готовой товарной информации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Извлечение атрибутов из сырого ввода не решается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Salsify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PIM с синдикацией и обменом данными с партнёрами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Автообогащение — внешний модуль поверх одной LLM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841248"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Прямой вызов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Одна публичная LLM вызывается на каждое поле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Дорого на больших каталогах; ошибки на числах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Каскад (настоящая работа)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Regex → ML → Bayes → LLM только на остаток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Точность 91,5 % при доле LLM-вызовов 8,6 %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Архитектура гибридного каскада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65392"/>
            <a:ext cx="1170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B2A41"/>
                </a:solidFill>
                <a:latin typeface="Times New Roman"/>
              </a:rPr>
              <a:t>7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Товар проходит слои в порядке возрастания стоимости. Следующий слой получает только те ячейки, которые предыдущий не закрыл с уверенностью выше калиброванного порога.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2145731" cy="246888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2145731" cy="502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18714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L0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87141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A41"/>
                </a:solidFill>
                <a:latin typeface="Times New Roman"/>
              </a:rPr>
              <a:t>Категорайзер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187141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Times New Roman"/>
              </a:rPr>
              <a:t>XGBoost на SBERT-эмбеддингах + OOD-детектор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0091" y="2011680"/>
            <a:ext cx="2145731" cy="246888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0091" y="2011680"/>
            <a:ext cx="2145731" cy="502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7251" y="2075688"/>
            <a:ext cx="18714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L1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7251" y="2651760"/>
            <a:ext cx="187141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A41"/>
                </a:solidFill>
                <a:latin typeface="Times New Roman"/>
              </a:rPr>
              <a:t>Regex-экстрактор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7251" y="3154680"/>
            <a:ext cx="187141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Times New Roman"/>
              </a:rPr>
              <a:t>Детерминированные грамматики словарных полей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7262" y="2011680"/>
            <a:ext cx="2145731" cy="246888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77262" y="2011680"/>
            <a:ext cx="2145731" cy="502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4422" y="2075688"/>
            <a:ext cx="18714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L2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4422" y="2651760"/>
            <a:ext cx="187141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A41"/>
                </a:solidFill>
                <a:latin typeface="Times New Roman"/>
              </a:rPr>
              <a:t>ML-классификатор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4422" y="3154680"/>
            <a:ext cx="187141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Times New Roman"/>
              </a:rPr>
              <a:t>XGBoost на многоязычных векторных представлениях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14433" y="2011680"/>
            <a:ext cx="2145731" cy="246888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14433" y="2011680"/>
            <a:ext cx="2145731" cy="502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593" y="2075688"/>
            <a:ext cx="18714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L3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593" y="2651760"/>
            <a:ext cx="187141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A41"/>
                </a:solidFill>
                <a:latin typeface="Times New Roman"/>
              </a:rPr>
              <a:t>Bayes-валидатор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1593" y="3154680"/>
            <a:ext cx="187141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Times New Roman"/>
              </a:rPr>
              <a:t>Сеть плотностей отбраковывает невероятные значения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51604" y="2011680"/>
            <a:ext cx="2145731" cy="246888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51604" y="2011680"/>
            <a:ext cx="2145731" cy="502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88764" y="2075688"/>
            <a:ext cx="18714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L4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88764" y="2651760"/>
            <a:ext cx="187141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A41"/>
                </a:solidFill>
                <a:latin typeface="Times New Roman"/>
              </a:rPr>
              <a:t>LLM-fallback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8764" y="3154680"/>
            <a:ext cx="187141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Times New Roman"/>
              </a:rPr>
              <a:t>Запасной слой: коммерческая, бюджетная или открытая модель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617720"/>
            <a:ext cx="11155680" cy="54864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983480"/>
            <a:ext cx="11155680" cy="1417320"/>
          </a:xfrm>
          <a:prstGeom prst="rect">
            <a:avLst/>
          </a:prstGeom>
          <a:solidFill>
            <a:srgbClr val="E7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983480"/>
            <a:ext cx="73152" cy="14173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5148072"/>
            <a:ext cx="10826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A02334"/>
                </a:solidFill>
                <a:latin typeface="Times New Roman"/>
              </a:rPr>
              <a:t>LLM вызывается лишь на 8,6 % ячеек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5513832"/>
            <a:ext cx="10826496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Остальное закрывают дешёвые локальные слои L0–L3. Уверенность каждого слоя калибруется изотонической регрессией; пороги уверенности — поатрибутные.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Методика экспериментальной оценки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A8B0B8"/>
                </a:solidFill>
                <a:latin typeface="Times New Roman"/>
              </a:rPr>
              <a:t>Открытый каталог Open Food Facts, brand-disjoint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170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B2A41"/>
                </a:solidFill>
                <a:latin typeface="Times New Roman"/>
              </a:rPr>
              <a:t>8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Тестовый сплит без пересечения брендов: ни один бренд тестовой выборки не встречается в обучающей.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2705023" cy="16459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2705023" cy="64008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243070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1"/>
                </a:solidFill>
                <a:latin typeface="Times New Roman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34639"/>
            <a:ext cx="24307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1A1A"/>
                </a:solidFill>
                <a:latin typeface="Times New Roman"/>
              </a:rPr>
              <a:t>категории товаров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27248"/>
            <a:ext cx="24307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паста · шоколад · сыры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9383" y="1874519"/>
            <a:ext cx="2705023" cy="16459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9383" y="1874519"/>
            <a:ext cx="2705023" cy="64008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36543" y="2103120"/>
            <a:ext cx="243070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1"/>
                </a:solidFill>
                <a:latin typeface="Times New Roman"/>
              </a:rPr>
              <a:t>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6543" y="2834639"/>
            <a:ext cx="24307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1A1A"/>
                </a:solidFill>
                <a:latin typeface="Times New Roman"/>
              </a:rPr>
              <a:t>целевых атрибута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6543" y="3127248"/>
            <a:ext cx="24307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бинарные и категориальные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5847" y="1874519"/>
            <a:ext cx="2705023" cy="16459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5847" y="1874519"/>
            <a:ext cx="2705023" cy="64008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3007" y="2103120"/>
            <a:ext cx="243070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1"/>
                </a:solidFill>
                <a:latin typeface="Times New Roman"/>
              </a:rPr>
              <a:t>4 350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3007" y="2834639"/>
            <a:ext cx="24307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1A1A"/>
                </a:solidFill>
                <a:latin typeface="Times New Roman"/>
              </a:rPr>
              <a:t>тестовых ячеек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3007" y="3127248"/>
            <a:ext cx="24307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товар × атрибут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92311" y="1874519"/>
            <a:ext cx="2705023" cy="164592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92311" y="1874519"/>
            <a:ext cx="2705023" cy="64008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29471" y="2103120"/>
            <a:ext cx="243070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1"/>
                </a:solidFill>
                <a:latin typeface="Times New Roman"/>
              </a:rPr>
              <a:t>95,0 %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9471" y="2834639"/>
            <a:ext cx="24307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1A1A"/>
                </a:solidFill>
                <a:latin typeface="Times New Roman"/>
              </a:rPr>
              <a:t>согласованность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9471" y="3127248"/>
            <a:ext cx="24307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слепой ре-разметки Opus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84048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2A41"/>
                </a:solidFill>
                <a:latin typeface="Times New Roman"/>
              </a:rPr>
              <a:t>Три независимых источника эталона снижают риск утечки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343400"/>
            <a:ext cx="2705023" cy="1783080"/>
          </a:xfrm>
          <a:prstGeom prst="rect">
            <a:avLst/>
          </a:prstGeom>
          <a:solidFill>
            <a:srgbClr val="E7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343400"/>
            <a:ext cx="54864" cy="178308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4480560"/>
            <a:ext cx="24307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A41"/>
                </a:solidFill>
                <a:latin typeface="Times New Roman"/>
              </a:rPr>
              <a:t>Теги каталога 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846320"/>
            <a:ext cx="243070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регуляторные метки и категории — внешний источник, защищённый правом ЕС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9383" y="4343400"/>
            <a:ext cx="2705023" cy="1783080"/>
          </a:xfrm>
          <a:prstGeom prst="rect">
            <a:avLst/>
          </a:prstGeom>
          <a:solidFill>
            <a:srgbClr val="E7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99383" y="4343400"/>
            <a:ext cx="54864" cy="178308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63975" y="4480560"/>
            <a:ext cx="24307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A41"/>
                </a:solidFill>
                <a:latin typeface="Times New Roman"/>
              </a:rPr>
              <a:t>Согласие трёх LLM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63975" y="4846320"/>
            <a:ext cx="243070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поатрибутное голосование независимых моделей с проверкой Opus 4 на спорных позициях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5847" y="4343400"/>
            <a:ext cx="2705023" cy="1783080"/>
          </a:xfrm>
          <a:prstGeom prst="rect">
            <a:avLst/>
          </a:prstGeom>
          <a:solidFill>
            <a:srgbClr val="E7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95847" y="4343400"/>
            <a:ext cx="54864" cy="178308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0439" y="4480560"/>
            <a:ext cx="24307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A41"/>
                </a:solidFill>
                <a:latin typeface="Times New Roman"/>
              </a:rPr>
              <a:t>Слепая ре-разметка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0439" y="4846320"/>
            <a:ext cx="243070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Opus 4 размечает только партнёр-поля без доступа к тегам OFF и промежуточным меткам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Главный результат: точность ↔ стоимость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A8B0B8"/>
                </a:solidFill>
                <a:latin typeface="Times New Roman"/>
              </a:rPr>
              <a:t>11 рабочих точек; планки — 95 % brand-clustered bootstrap CI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170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B2A41"/>
                </a:solidFill>
                <a:latin typeface="Times New Roman"/>
              </a:rPr>
              <a:t>9 / 20</a:t>
            </a:r>
          </a:p>
        </p:txBody>
      </p:sp>
      <p:pic>
        <p:nvPicPr>
          <p:cNvPr id="9" name="Picture 8" descr="cost_quality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7680960" cy="424974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66760" y="1280160"/>
            <a:ext cx="3337560" cy="1508760"/>
          </a:xfrm>
          <a:prstGeom prst="rect">
            <a:avLst/>
          </a:prstGeom>
          <a:solidFill>
            <a:srgbClr val="E7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66760" y="1280160"/>
            <a:ext cx="73152" cy="150876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2" y="1444751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A41"/>
                </a:solidFill>
                <a:latin typeface="Times New Roman"/>
              </a:rPr>
              <a:t>Каскад + Gemini 2.5 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1810512"/>
            <a:ext cx="3008376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91,5 %  точности
≈ 110 × дешевле прямого вызова GPT-4o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2926080"/>
            <a:ext cx="3337560" cy="1508760"/>
          </a:xfrm>
          <a:prstGeom prst="rect">
            <a:avLst/>
          </a:prstGeom>
          <a:solidFill>
            <a:srgbClr val="E7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2926080"/>
            <a:ext cx="73152" cy="150876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2" y="3090672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A41"/>
                </a:solidFill>
                <a:latin typeface="Times New Roman"/>
              </a:rPr>
              <a:t>Преимущество в точности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3456432"/>
            <a:ext cx="3008376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+ 7,7 п. п.
точнее, чем прямой вызов Claude Sonnet 4.5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4572000"/>
            <a:ext cx="3337560" cy="1783080"/>
          </a:xfrm>
          <a:prstGeom prst="rect">
            <a:avLst/>
          </a:prstGeom>
          <a:solidFill>
            <a:srgbClr val="E7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66760" y="4572000"/>
            <a:ext cx="73152" cy="17830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4736592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A02334"/>
                </a:solidFill>
                <a:latin typeface="Times New Roman"/>
              </a:rPr>
              <a:t>Парето-доминирование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5102352"/>
            <a:ext cx="3008376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Все гибридные конфигурации точнее любой стратегии «LLM на каждое поле».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Послойный вклад каскада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65392"/>
            <a:ext cx="1170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B2A41"/>
                </a:solidFill>
                <a:latin typeface="Times New Roman"/>
              </a:rPr>
              <a:t>10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Распределение финальных предсказаний по слоям каскада на трёх категориях товаров.</a:t>
            </a:r>
          </a:p>
        </p:txBody>
      </p:sp>
      <p:pic>
        <p:nvPicPr>
          <p:cNvPr id="9" name="Picture 8" descr="layer_con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7680960" cy="215819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66760" y="1828800"/>
            <a:ext cx="3337560" cy="1417320"/>
          </a:xfrm>
          <a:prstGeom prst="rect">
            <a:avLst/>
          </a:prstGeom>
          <a:solidFill>
            <a:srgbClr val="E7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66760" y="1828800"/>
            <a:ext cx="73152" cy="14173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2" y="1993392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Regex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2359152"/>
            <a:ext cx="3008376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18–22 % словарных полей в pasta и chocolate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3383280"/>
            <a:ext cx="3337560" cy="1417320"/>
          </a:xfrm>
          <a:prstGeom prst="rect">
            <a:avLst/>
          </a:prstGeom>
          <a:solidFill>
            <a:srgbClr val="E7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3383280"/>
            <a:ext cx="73152" cy="14173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2" y="3547872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ML (XGBoost)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3913632"/>
            <a:ext cx="3008376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69–87 % ячеек локально, на CPU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4937760"/>
            <a:ext cx="3337560" cy="1417320"/>
          </a:xfrm>
          <a:prstGeom prst="rect">
            <a:avLst/>
          </a:prstGeom>
          <a:solidFill>
            <a:srgbClr val="E7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66760" y="4937760"/>
            <a:ext cx="73152" cy="14173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5102352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LLM-fallback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5468112"/>
            <a:ext cx="3008376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5–13 % самых сложных ячеек, остаток после L1–L3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Развёртывание на открытых моделях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A8B0B8"/>
                </a:solidFill>
                <a:latin typeface="Times New Roman"/>
              </a:rPr>
              <a:t>Полная локальность без передачи данных во внешние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170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B2A41"/>
                </a:solidFill>
                <a:latin typeface="Times New Roman"/>
              </a:rPr>
              <a:t>11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Каскад архитектурно независим от поставщика большой языковой модели. С открытой моделью gpt-oss-120b в роли запасного слоя возможно полностью локальное развёртывание.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5486400" cy="169164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5486400" cy="64008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6771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C6B7A"/>
                </a:solidFill>
                <a:latin typeface="Times New Roman"/>
              </a:rPr>
              <a:t>ПРИРОСТ ОТ КАСКАДНОЙ АРХИТЕКТУРЫ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33472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1B2A41"/>
                </a:solidFill>
                <a:latin typeface="Times New Roman"/>
              </a:rPr>
              <a:t>69,3 %  →  90,5 %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C6B7A"/>
                </a:solidFill>
                <a:latin typeface="Times New Roman"/>
              </a:rPr>
              <a:t>прямой gpt-oss-120b → каскад + gpt-oss-120b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747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A02334"/>
                </a:solidFill>
                <a:latin typeface="Times New Roman"/>
              </a:rPr>
              <a:t>+ 21,2 п. п. точности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103120"/>
            <a:ext cx="5486400" cy="169164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103120"/>
            <a:ext cx="5486400" cy="64008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26771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C6B7A"/>
                </a:solidFill>
                <a:latin typeface="Times New Roman"/>
              </a:rPr>
              <a:t>ЦЕНА ЛОКАЛЬНОСТИ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33472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1B2A41"/>
                </a:solidFill>
                <a:latin typeface="Times New Roman"/>
              </a:rPr>
              <a:t>− 0,9 п. п.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200400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C6B7A"/>
                </a:solidFill>
                <a:latin typeface="Times New Roman"/>
              </a:rPr>
              <a:t>на столько каскад + gpt-oss уступает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C6B7A"/>
                </a:solidFill>
                <a:latin typeface="Times New Roman"/>
              </a:rPr>
              <a:t>коммерческой при независимости от API.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148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Три сценария развёртывания запасного слоя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572000"/>
            <a:ext cx="3637178" cy="169164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572000"/>
            <a:ext cx="64008" cy="169164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36592"/>
            <a:ext cx="3362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Коммерческий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20640"/>
            <a:ext cx="3362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A"/>
                </a:solidFill>
                <a:latin typeface="Times New Roman"/>
              </a:rPr>
              <a:t>Gemini 2.5 Flash / Sonnet 4.5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522976"/>
            <a:ext cx="336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C6B7A"/>
                </a:solidFill>
                <a:latin typeface="Times New Roman"/>
              </a:rPr>
              <a:t>максимальная точность 91,5 %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31538" y="4572000"/>
            <a:ext cx="3637178" cy="169164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31538" y="4572000"/>
            <a:ext cx="64008" cy="1691640"/>
          </a:xfrm>
          <a:prstGeom prst="rect">
            <a:avLst/>
          </a:prstGeom>
          <a:solidFill>
            <a:srgbClr val="5C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4418" y="4736592"/>
            <a:ext cx="3362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Бюджетный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4418" y="5120640"/>
            <a:ext cx="3362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A"/>
                </a:solidFill>
                <a:latin typeface="Times New Roman"/>
              </a:rPr>
              <a:t>GPT-4o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4418" y="5522976"/>
            <a:ext cx="336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C6B7A"/>
                </a:solidFill>
                <a:latin typeface="Times New Roman"/>
              </a:rPr>
              <a:t>баланс точности и доступности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60156" y="4572000"/>
            <a:ext cx="3637178" cy="169164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60156" y="4572000"/>
            <a:ext cx="64008" cy="1691640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43036" y="4736592"/>
            <a:ext cx="3362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Локальный (on-premise)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3036" y="5120640"/>
            <a:ext cx="33628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A"/>
                </a:solidFill>
                <a:latin typeface="Times New Roman"/>
              </a:rPr>
              <a:t>gpt-oss-120b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3036" y="5522976"/>
            <a:ext cx="336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C6B7A"/>
                </a:solidFill>
                <a:latin typeface="Times New Roman"/>
              </a:rPr>
              <a:t>данные не покидают периметр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Достоверность результата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A8B0B8"/>
                </a:solidFill>
                <a:latin typeface="Times New Roman"/>
              </a:rPr>
              <a:t>Контроль на структурную утечку (circularity)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170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B2A41"/>
                </a:solidFill>
                <a:latin typeface="Times New Roman"/>
              </a:rPr>
              <a:t>12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Точность приведена в разрезе типа эталонного сигнала. При утечке выше был бы «текстовый» ярус — наблюдается обратное.</a:t>
            </a:r>
          </a:p>
        </p:txBody>
      </p:sp>
      <p:pic>
        <p:nvPicPr>
          <p:cNvPr id="10" name="Picture 9" descr="tier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766560" cy="36516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98079" y="1828800"/>
            <a:ext cx="4160520" cy="1554480"/>
          </a:xfrm>
          <a:prstGeom prst="rect">
            <a:avLst/>
          </a:prstGeom>
          <a:solidFill>
            <a:srgbClr val="E7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1828800"/>
            <a:ext cx="64008" cy="1554480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96596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A02334"/>
                </a:solidFill>
                <a:latin typeface="Times New Roman"/>
              </a:rPr>
              <a:t>Опровержение претензии о circularity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331720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«Текстовый» ярус, делящий сигнал с признаками модели, — самый низкий (81,8 %), на 11,8 п. п. ниже tag-ярусного. Завышения за счёт утечки нет.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520440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A41"/>
                </a:solidFill>
                <a:latin typeface="Times New Roman"/>
              </a:rPr>
              <a:t>Дополнительные контроли устойчивости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886200"/>
            <a:ext cx="416052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—  Brand-disjoint сплит: бренды теста не пересекаются с обучающими.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—  k-NN distance ablation: точность не падает на семантически дальних товарах.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—  Робастность к языку: сопоставимая точность на 6 языках этикеток.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Научная новизна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65392"/>
            <a:ext cx="1170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B2A41"/>
                </a:solidFill>
                <a:latin typeface="Times New Roman"/>
              </a:rPr>
              <a:t>13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Три отличия настоящей работы от состояния области; ни одно из них не показано совместно в опубликованных работах TXtract, MAVE, OpenTag, FrugalGPT, AutoMix, RouterBench.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11155680" cy="10515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73152" cy="1051560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A02334"/>
                </a:solidFill>
                <a:latin typeface="Times New Roman"/>
              </a:rPr>
              <a:t>ПАРЕТО-ДОМИНИРОВАНИЕ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Одновременный выигрыш в точности +7,7 п. п. и стоимости × 275 над прямым вызовом коммерческой большой языковой модели.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08960"/>
            <a:ext cx="11155680" cy="10515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108960"/>
            <a:ext cx="73152" cy="1051560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461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A02334"/>
                </a:solidFill>
                <a:latin typeface="Times New Roman"/>
              </a:rPr>
              <a:t>НЕГАТИВНЫЙ РЕЗУЛЬТАТ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Обучаемый стоимостно-чувствительный маршрутизатор не превосходит статическое правило (предзарегистрированная гипотеза H1 отклонена).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297680"/>
            <a:ext cx="11155680" cy="10515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297680"/>
            <a:ext cx="73152" cy="1051560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A02334"/>
                </a:solidFill>
                <a:latin typeface="Times New Roman"/>
              </a:rPr>
              <a:t>ОПРОВЕРЖЕНИЕ CIRCULARITY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54880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Количественное опровержение завышения точности через стратификацию ярусов эталонного сигнала.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5321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Дополнительный методический вклад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9788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C6B7A"/>
                </a:solidFill>
                <a:latin typeface="Times New Roman"/>
              </a:rPr>
              <a:t>Слепая ре-разметка независимой большой языковой моделью на всей тестовой выборке (κ Коэна &gt; 0,85 на 17 из 22 пар, согласованность 95,0 %); цикл «аудит → исправление экстракторов → переобучение → измерение» с воспроизведением на 3 категориях из 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Цикл «аудит → переобучение → ре-оценка»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65392"/>
            <a:ext cx="1170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B2A41"/>
                </a:solidFill>
                <a:latin typeface="Times New Roman"/>
              </a:rPr>
              <a:t>14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Ручной аудит 239 товаров категории pasta выявил систематическую ошибку слабой разметки: редкие формы пасты помечались как «прочее». Переобучение на исправленных метках устранило дефект.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240280"/>
            <a:ext cx="7616952" cy="201168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0" y="2240280"/>
            <a:ext cx="7616952" cy="73152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42316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C6B7A"/>
                </a:solidFill>
                <a:latin typeface="Times New Roman"/>
              </a:rPr>
              <a:t>КЛЮЧЕВОЙ ЭФФЕКТ — АТРИБУТ «ФОРМА ПАСТЫ»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834640"/>
            <a:ext cx="7223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5000" b="1" i="0">
                <a:solidFill>
                  <a:srgbClr val="A02334"/>
                </a:solidFill>
                <a:latin typeface="Times New Roman"/>
              </a:rPr>
              <a:t>+ 49 п. п.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84048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C6B7A"/>
                </a:solidFill>
                <a:latin typeface="Times New Roman"/>
              </a:rPr>
              <a:t>точности после переобучения на исправленных аудитом метках (n = 83)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177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Вывод для методологии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29200"/>
            <a:ext cx="111556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—  Цикл переводит систему из режима фиксированной точности в режим управляемого улучшения качества.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—  Эффект сосредоточен там, где аудит вскрыл реальную ошибку разметки; на корректно размеченных атрибутах изменения в пределах шума.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—  Стоимость аудита окупается однократно: исправленная метка улучшает все будущие прогнозы атрибута.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Демонстрационный комплекс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65392"/>
            <a:ext cx="1170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B2A41"/>
                </a:solidFill>
                <a:latin typeface="Times New Roman"/>
              </a:rPr>
              <a:t>15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Каскад обёрнут в программный комплекс для оператора каталога. Стабильный REST API и веб-интерфейс переводят ручное заполнение в режим выборочной верификации.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Веб-интерфейс оператора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78608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Карточка товара с поатрибутным результатом: значение, слой-источник и индикатор уверенности.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Программный интерфейс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93008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Стабильный REST API обогащения для интеграции в конвейер каталога интернет-магазина.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Отметка источника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07408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Каждое значение помечено слоем (regex / ML / LLM) — оператор проверяет выборочно, а не всё.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2920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Bayes-валидатор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21808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Подозрительные предсказания помечаются флагом и направляются на приоритетную проверку.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286000"/>
            <a:ext cx="4983480" cy="2011680"/>
          </a:xfrm>
          <a:prstGeom prst="rect">
            <a:avLst/>
          </a:prstGeom>
          <a:solidFill>
            <a:srgbClr val="E7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2286000"/>
            <a:ext cx="73152" cy="2011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9712" y="2450592"/>
            <a:ext cx="4654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Эффект для оператора каталога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816352"/>
            <a:ext cx="4654296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Доля ячеек, требующих ручной верификации, снижается до 5–10 %.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434840"/>
            <a:ext cx="4983480" cy="150876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4617720"/>
            <a:ext cx="4617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в 10–20 раз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44068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сокращение ручной нагрузки оператора при сохранении контроля качества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Демонстрационный комплекс — визуально и публично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65392"/>
            <a:ext cx="1170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B2A41"/>
                </a:solidFill>
                <a:latin typeface="Times New Roman"/>
              </a:rPr>
              <a:t>16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Веб-интерфейс оператора: ввод партнёрских полей слева, поатрибутный результат с отметкой слоя справа.</a:t>
            </a:r>
          </a:p>
        </p:txBody>
      </p:sp>
      <p:pic>
        <p:nvPicPr>
          <p:cNvPr id="9" name="Picture 8" descr="demo_pa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7680960" cy="489277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66760" y="1783080"/>
            <a:ext cx="3337560" cy="1280160"/>
          </a:xfrm>
          <a:prstGeom prst="rect">
            <a:avLst/>
          </a:prstGeom>
          <a:solidFill>
            <a:srgbClr val="E7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66760" y="1783080"/>
            <a:ext cx="73152" cy="128016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2" y="1947672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A41"/>
                </a:solidFill>
                <a:latin typeface="Times New Roman"/>
              </a:rPr>
              <a:t>Go-шлюз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2313432"/>
            <a:ext cx="3008376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Times New Roman"/>
              </a:rPr>
              <a:t>≈ 200 строк, валидация JSON, проксирование, CORS, без внешних зависимостей.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3200400"/>
            <a:ext cx="3337560" cy="1280160"/>
          </a:xfrm>
          <a:prstGeom prst="rect">
            <a:avLst/>
          </a:prstGeom>
          <a:solidFill>
            <a:srgbClr val="E7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3200400"/>
            <a:ext cx="73152" cy="128016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2" y="3364992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A41"/>
                </a:solidFill>
                <a:latin typeface="Times New Roman"/>
              </a:rPr>
              <a:t>Python · 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3730752"/>
            <a:ext cx="3008376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Times New Roman"/>
              </a:rPr>
              <a:t>ML-сервис, реализующий каскад L0–L4; 4 endpoint, объяснение через Shapley.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4617720"/>
            <a:ext cx="3337560" cy="1280160"/>
          </a:xfrm>
          <a:prstGeom prst="rect">
            <a:avLst/>
          </a:prstGeom>
          <a:solidFill>
            <a:srgbClr val="E7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66760" y="4617720"/>
            <a:ext cx="73152" cy="128016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4782312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A41"/>
                </a:solidFill>
                <a:latin typeface="Times New Roman"/>
              </a:rPr>
              <a:t>Web-фронтенд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5148072"/>
            <a:ext cx="3008376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Times New Roman"/>
              </a:rPr>
              <a:t>Статический HTML/CSS/JS, форма ввода и отметка слоя-источника на каждом значении.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172200"/>
            <a:ext cx="11155680" cy="4114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236208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Открытый исходный код, ноутбук и артефакты:    github.com/Qworl/diploma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Достигнутые результаты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65392"/>
            <a:ext cx="1170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B2A41"/>
                </a:solidFill>
                <a:latin typeface="Times New Roman"/>
              </a:rPr>
              <a:t>17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Все числовые значения подтверждены воспроизводимыми артефактами проверочной выборки.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155678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19"/>
                <a:gridCol w="2788919"/>
                <a:gridCol w="3253740"/>
                <a:gridCol w="2324100"/>
              </a:tblGrid>
              <a:tr h="739140">
                <a:tc>
                  <a:txBody>
                    <a:bodyPr wrap="square" lIns="88900" rIns="88900" tIns="50800" bIns="50800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Показатель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Было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Стало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Эффект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</a:tr>
              <a:tr h="739140"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Точность обогащения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100 % ручной труд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каскад 91,5 % автоматически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+ 91,5 п. п.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Доля обращений к LLM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100 % ячеек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8,6 % ячеек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сокращена в 12 раз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739140"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Открытая модель (on-premise)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прямой gpt-oss-120b — 69,3 %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каскад + gpt-oss — 90,5 %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+ 21,2 п. п.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Ручная верификация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≈ 100 % ячеек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5–10 % ячеек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сокращена в 10–20 раз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739140"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Независимость от вендора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привязка к одному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пять моделей с близкой точностью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rIns="88900" tIns="50800" bIns="50800"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5 /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Готовность к внедрению и перспективы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65392"/>
            <a:ext cx="1170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B2A41"/>
                </a:solidFill>
                <a:latin typeface="Times New Roman"/>
              </a:rPr>
              <a:t>18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Архитектура доведена до уровня прототипа PIM-обогатителя. Разделение на три независимых компонента упрощает интеграцию в производственные конвейеры товарных каталогов.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3637178" cy="169164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77440"/>
            <a:ext cx="3637178" cy="64008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336285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6EA5"/>
                </a:solidFill>
                <a:latin typeface="Times New Roman"/>
              </a:rPr>
              <a:t>ПРОТОТИП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07792"/>
            <a:ext cx="33628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Times New Roman"/>
              </a:rPr>
              <a:t>Программный комплекс работает локально на CPU; ≈ 15–20 с прогрев SBERT; десятки миллисекунд на товар.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1538" y="2377440"/>
            <a:ext cx="3637178" cy="169164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1538" y="2377440"/>
            <a:ext cx="3637178" cy="64008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4418" y="2560320"/>
            <a:ext cx="336285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6EA5"/>
                </a:solidFill>
                <a:latin typeface="Times New Roman"/>
              </a:rPr>
              <a:t>ЦЕЛЕВЫЕ РОЛИ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4418" y="2907792"/>
            <a:ext cx="33628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Times New Roman"/>
              </a:rPr>
              <a:t>Контент-менеджер · системный аналитик · инженер машинного обучения (см. §4.1 ВКР).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60156" y="2377440"/>
            <a:ext cx="3637178" cy="169164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60156" y="2377440"/>
            <a:ext cx="3637178" cy="64008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3036" y="2560320"/>
            <a:ext cx="336285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A02334"/>
                </a:solidFill>
                <a:latin typeface="Times New Roman"/>
              </a:rPr>
              <a:t>ON-PREMISE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3036" y="2907792"/>
            <a:ext cx="33628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Times New Roman"/>
              </a:rPr>
              <a:t>Сценарий полной локальности на открытой gpt-oss-120b: данные не покидают периметр организации.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348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Перспективы развития темы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46320"/>
            <a:ext cx="1115568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—  Расширение на не-продовольственные категории (электроника, косметика — заделы есть в §5.5 заключения).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—  Привязка эталона к внешним регуляторным реестрам (PDO/PGI) для устранения зависимости от тегов OFF.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Times New Roman"/>
              </a:rPr>
              <a:t>—  Интеграция с PIM-системами семейства Akeneo через стабильный REST-контракт.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Заключение — цель работы достигнута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65392"/>
            <a:ext cx="1170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B2A41"/>
                </a:solidFill>
                <a:latin typeface="Times New Roman"/>
              </a:rPr>
              <a:t>19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4416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35331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Спроектирована и реализована гибридная каскадная архитектура из пяти слоёв с фильтрацией по калиброванной уверенности.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48839"/>
            <a:ext cx="502920" cy="502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12847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21991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Построена brand-disjoint эталонная выборка на трёх категориях с тройным контролем источника разметки.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17520"/>
            <a:ext cx="502920" cy="502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81527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09067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Каскад достигает 91,5 % точности, вызывая большую языковую модель лишь на 8,6 % ячеек — парето-доминирование над прямым вызовом LLM.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86200"/>
            <a:ext cx="502920" cy="502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5020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5935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Подтверждена работа на открытой модели: + 21,2 п. п. над прямым gpt-oss-120b при потере всего 0,9 п. п. к коммерческой.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754880"/>
            <a:ext cx="502920" cy="502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81888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82803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Times New Roman"/>
              </a:rPr>
              <a:t>Создан демонстрационный комплекс с тремя сценариями развёртывания и выборочной верификацией оператором.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852160"/>
            <a:ext cx="11155680" cy="594360"/>
          </a:xfrm>
          <a:prstGeom prst="rect">
            <a:avLst/>
          </a:prstGeom>
          <a:solidFill>
            <a:srgbClr val="E7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852160"/>
            <a:ext cx="73152" cy="594360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9893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Практический результат — производственно-применимая система с контролируемой стоимостью и независимостью от вендора LLM.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0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800" b="1" i="0">
                <a:solidFill>
                  <a:srgbClr val="1B2A41"/>
                </a:solidFill>
                <a:latin typeface="Times New Roman"/>
              </a:rPr>
              <a:t>Спасибо за внимание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5C6B7A"/>
                </a:solidFill>
                <a:latin typeface="Times New Roman"/>
              </a:rPr>
              <a:t>Готов ответить на вопросы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033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Ключевые источники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60520"/>
            <a:ext cx="111556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1.  Бакаев М. А. Системы управления товарной информацией: обзор архитектур PIM-платформ // Программная инженерия. 2023.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2.  Reimers N., Gurevych I. Making Monolingual Sentence Embeddings Multilingual using Knowledge Distillation. EMNLP, 2020.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3.  Chen T., Guestrin C. XGBoost: A Scalable Tree Boosting System // KDD ’16. ACM, 2016. P. 785–794.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4.  Pearl J. Probabilistic Reasoning in Intelligent Systems. Morgan Kaufmann, 1988.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5.  Ratner A. et al. Snorkel: Rapid Training Data Creation with Weak Supervision // VLDB Endowment. 2017.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МАИ · кафедра 806 · М. А. Фролов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